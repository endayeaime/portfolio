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7" r:id="rId4"/>
    <p:sldId id="258" r:id="rId5"/>
    <p:sldId id="285" r:id="rId6"/>
    <p:sldId id="260" r:id="rId7"/>
    <p:sldId id="292" r:id="rId8"/>
    <p:sldId id="288" r:id="rId9"/>
    <p:sldId id="289" r:id="rId10"/>
    <p:sldId id="290" r:id="rId11"/>
    <p:sldId id="261" r:id="rId12"/>
    <p:sldId id="297" r:id="rId13"/>
    <p:sldId id="294" r:id="rId14"/>
    <p:sldId id="263" r:id="rId15"/>
    <p:sldId id="301" r:id="rId16"/>
    <p:sldId id="298" r:id="rId17"/>
    <p:sldId id="299" r:id="rId18"/>
    <p:sldId id="264" r:id="rId19"/>
    <p:sldId id="302" r:id="rId20"/>
    <p:sldId id="303" r:id="rId21"/>
    <p:sldId id="265" r:id="rId22"/>
    <p:sldId id="304" r:id="rId23"/>
    <p:sldId id="305" r:id="rId24"/>
    <p:sldId id="306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03"/>
  </p:normalViewPr>
  <p:slideViewPr>
    <p:cSldViewPr snapToGrid="0">
      <p:cViewPr varScale="1">
        <p:scale>
          <a:sx n="126" d="100"/>
          <a:sy n="126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233B75-5889-3F74-349B-5D855C354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FD0D62F-6337-E51E-4B8C-66FCDAF8B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EE8264-22A9-23C9-C55F-7ED646AA4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068-4347-CC46-A343-B65BB7520018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D31E34-9775-D5A6-DA95-0E76417A5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C6E2F3-49E2-7B1F-D49F-952077E12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2F7C-06B6-9D43-A009-E221C66007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707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14C055-7E5B-BEA9-A3A7-3C58716BE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4C218F-ED96-95AE-860A-E918F9885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3523FF-F5EB-D814-E8B7-9E03CFF43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068-4347-CC46-A343-B65BB7520018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115187-33A7-7A2E-07EF-4E39C9CBE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2684EC-41F2-3F44-CFF2-952596B57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2F7C-06B6-9D43-A009-E221C66007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749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3E3359-F327-5F89-1B8F-3824FDD62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7CFE28-D3B6-35FD-D7EE-5D876CDE3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369091-D6EA-F1A6-D0D9-4A27ED6FB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068-4347-CC46-A343-B65BB7520018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9D18E2-4907-54C3-873B-D2DD4D3E9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623AB4-53D4-EC9A-F7EB-B5E22634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2F7C-06B6-9D43-A009-E221C66007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328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43F22F-F4FD-9DE1-6379-D23FF2978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C14BA9-4C97-388B-3024-8D9CF0C599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42FCE75-721D-BB17-B895-84355920F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F54F1B6-8233-D4B4-84E0-19D5642BD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068-4347-CC46-A343-B65BB7520018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8D3FB2C-9C8D-886C-6271-83E9DF310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95B2B5A-80A3-38EC-EBA5-1E6B74C01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2F7C-06B6-9D43-A009-E221C66007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598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34303B-56AA-9B77-54B1-A9873BD59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54C87B-7F2D-4FA7-E5E3-5FBAF419A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7A86CF8-8FAF-B46A-8F1D-8EC4E7189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4508086-F72D-990B-EC6D-5948B31458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9A95DBD-2E61-5275-5F85-7DF3817478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889CFF0-92DA-119C-3069-CD88D6D1E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068-4347-CC46-A343-B65BB7520018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3F0975E-1A4D-2B62-05FB-E26152C73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E1210A2-E68B-CBD7-9944-4799D1614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2F7C-06B6-9D43-A009-E221C66007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394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FA69E-4039-AB4D-421E-BFAD6A513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B45875B-5E71-F575-3CD0-E82FE4959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068-4347-CC46-A343-B65BB7520018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22E107B-C9E4-6105-D8FE-CD796A489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651AA1F-9BA6-A3D6-9529-C9194D076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2F7C-06B6-9D43-A009-E221C66007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8392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0ACD70F-5EB0-10B6-ECA8-8F15A6FA9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068-4347-CC46-A343-B65BB7520018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0088713-14CE-6470-CFD1-68B121B4B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0BC226-D3BE-BCC2-2BBF-0F2C795D4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2F7C-06B6-9D43-A009-E221C66007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066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FCF559-AFCD-84AE-D2BD-EBC702B65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D233A4-D14A-1CA6-2232-6AAC9EBA3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56FE842-B93B-A07D-EDB4-E6E3AE95A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5FF17A3-6DEE-DDD0-0558-4FD1FDCE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068-4347-CC46-A343-B65BB7520018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4A8D326-8487-73F8-C9BD-FABB117E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E809D76-0AF3-AE71-CABF-D63935E1D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2F7C-06B6-9D43-A009-E221C66007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2715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5A1EB7-8B98-3AF1-FA90-E597A92DC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C7197CB-5076-7D02-ED0B-A47AB65789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7B85690-4FE4-42C1-98AF-5D67992DF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C6A3E-5F3C-279B-A936-FA6B1629A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068-4347-CC46-A343-B65BB7520018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C55F99A-7948-BAD2-7EFC-346EE5CF7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9D8680D-CE05-0D24-31CC-C2E20C8E5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2F7C-06B6-9D43-A009-E221C66007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554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BE99D0-8391-DB39-A889-6120B1888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FCA7159-90AB-8073-7E2A-256EE6845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759386-7B70-7D74-138A-E43097314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068-4347-CC46-A343-B65BB7520018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713C86-9AC7-1A19-B8E2-59803A9AC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018714-F406-E903-2E86-0DA185F4F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2F7C-06B6-9D43-A009-E221C66007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2837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39BE7AE-561B-632C-008F-283BE4BE3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3FF1272-D9AD-9F2D-E1F1-FA2401D4C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B43F35-A033-2491-DACA-795A81749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068-4347-CC46-A343-B65BB7520018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3A2798-6DB3-BDBD-54FE-3E58AD945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FE4A10-1764-350B-2244-84E42722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2F7C-06B6-9D43-A009-E221C66007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2618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F8DC647-09CC-7618-0C0E-FEC8FF4B3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550FB6D-F1FC-4CF6-4F08-2A53BE740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A20A9C-65B3-D834-9995-FA4ABF6E1C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02068-4347-CC46-A343-B65BB7520018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48496C-322F-D382-6F76-CD8350ADFD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C5063D-7050-8E80-B62C-EF8DA5D21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62F7C-06B6-9D43-A009-E221C66007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6754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58B2828B-27F5-B856-BE77-3B20A0FBD000}"/>
              </a:ext>
            </a:extLst>
          </p:cNvPr>
          <p:cNvSpPr txBox="1"/>
          <p:nvPr/>
        </p:nvSpPr>
        <p:spPr>
          <a:xfrm>
            <a:off x="0" y="1711370"/>
            <a:ext cx="1169894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400" b="1" dirty="0" err="1"/>
              <a:t>Chatbot</a:t>
            </a:r>
            <a:r>
              <a:rPr lang="fr-FR" sz="4400" b="1" dirty="0"/>
              <a:t> intelligent de recommandation d'événements culturels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C3433A9-0EA0-412C-D345-82A3A3FCF060}"/>
              </a:ext>
            </a:extLst>
          </p:cNvPr>
          <p:cNvSpPr txBox="1"/>
          <p:nvPr/>
        </p:nvSpPr>
        <p:spPr>
          <a:xfrm>
            <a:off x="0" y="3700081"/>
            <a:ext cx="11887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Mise en place d'une architecture RAG avec Mistral AI, FAISS et </a:t>
            </a:r>
            <a:r>
              <a:rPr lang="fr-FR" sz="2800" dirty="0" err="1"/>
              <a:t>LangChain</a:t>
            </a:r>
            <a:r>
              <a:rPr lang="fr-FR" sz="2800" dirty="0"/>
              <a:t> pour la recommandation d'événements culturels</a:t>
            </a:r>
          </a:p>
        </p:txBody>
      </p:sp>
    </p:spTree>
    <p:extLst>
      <p:ext uri="{BB962C8B-B14F-4D97-AF65-F5344CB8AC3E}">
        <p14:creationId xmlns:p14="http://schemas.microsoft.com/office/powerpoint/2010/main" val="3912981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58D743-F73E-7950-BB2F-BA2F4EA8A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1517B331-C2C0-FE23-645B-2F7748BFD735}"/>
              </a:ext>
            </a:extLst>
          </p:cNvPr>
          <p:cNvSpPr txBox="1"/>
          <p:nvPr/>
        </p:nvSpPr>
        <p:spPr>
          <a:xfrm>
            <a:off x="5250234" y="-134471"/>
            <a:ext cx="16915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Sommaire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D3462A6-5F72-7BBD-1B41-DEF05B92586E}"/>
              </a:ext>
            </a:extLst>
          </p:cNvPr>
          <p:cNvSpPr txBox="1"/>
          <p:nvPr/>
        </p:nvSpPr>
        <p:spPr>
          <a:xfrm>
            <a:off x="970987" y="388749"/>
            <a:ext cx="1025002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b="1" dirty="0"/>
              <a:t>1. Introduction</a:t>
            </a:r>
          </a:p>
          <a:p>
            <a:pPr algn="ctr">
              <a:buNone/>
            </a:pPr>
            <a:r>
              <a:rPr lang="fr-FR" dirty="0"/>
              <a:t>1.1 Contexte du projet, 1.2 Problématique, 1.3 Objectifs</a:t>
            </a:r>
          </a:p>
          <a:p>
            <a:pPr algn="ctr">
              <a:buNone/>
            </a:pPr>
            <a:endParaRPr lang="fr-FR" dirty="0"/>
          </a:p>
          <a:p>
            <a:pPr algn="ctr">
              <a:buNone/>
            </a:pPr>
            <a:r>
              <a:rPr lang="fr-FR" b="1" dirty="0"/>
              <a:t>2. Compréhension du système RAG</a:t>
            </a:r>
          </a:p>
          <a:p>
            <a:pPr algn="ctr">
              <a:buNone/>
            </a:pPr>
            <a:r>
              <a:rPr lang="fr-FR" dirty="0"/>
              <a:t>2.1 Présentation du RAG, 2.2 Présentation de Mistral AI</a:t>
            </a:r>
          </a:p>
          <a:p>
            <a:pPr algn="ctr">
              <a:buNone/>
            </a:pPr>
            <a:r>
              <a:rPr lang="fr-FR" dirty="0"/>
              <a:t>2.3 Présentation de FAISS, 2.4 Présentation de </a:t>
            </a:r>
            <a:r>
              <a:rPr lang="fr-FR" dirty="0" err="1"/>
              <a:t>LangChain</a:t>
            </a:r>
            <a:r>
              <a:rPr lang="fr-FR" dirty="0"/>
              <a:t>, 2.5 Architecture globale du système</a:t>
            </a:r>
          </a:p>
          <a:p>
            <a:pPr algn="ctr">
              <a:buNone/>
            </a:pPr>
            <a:endParaRPr lang="fr-FR" dirty="0"/>
          </a:p>
          <a:p>
            <a:pPr algn="ctr">
              <a:buNone/>
            </a:pPr>
            <a:r>
              <a:rPr lang="fr-FR" b="1" dirty="0"/>
              <a:t>3. Préparation des données</a:t>
            </a:r>
          </a:p>
          <a:p>
            <a:pPr algn="ctr">
              <a:buNone/>
            </a:pPr>
            <a:r>
              <a:rPr lang="fr-FR" dirty="0"/>
              <a:t>3.1 Collecte des événements culturels, 3.2 Nettoyage et prétraitement des données</a:t>
            </a:r>
          </a:p>
          <a:p>
            <a:pPr algn="ctr">
              <a:buNone/>
            </a:pPr>
            <a:r>
              <a:rPr lang="fr-FR" dirty="0"/>
              <a:t>3.3 Génération des </a:t>
            </a:r>
            <a:r>
              <a:rPr lang="fr-FR" dirty="0" err="1"/>
              <a:t>embeddings</a:t>
            </a:r>
            <a:r>
              <a:rPr lang="fr-FR" dirty="0"/>
              <a:t>, 3.4 </a:t>
            </a:r>
          </a:p>
          <a:p>
            <a:pPr algn="ctr">
              <a:buNone/>
            </a:pPr>
            <a:endParaRPr lang="fr-FR" dirty="0"/>
          </a:p>
          <a:p>
            <a:pPr algn="ctr">
              <a:buNone/>
            </a:pPr>
            <a:r>
              <a:rPr lang="fr-FR" b="1" dirty="0"/>
              <a:t>4. Construction du </a:t>
            </a:r>
            <a:r>
              <a:rPr lang="fr-FR" b="1" dirty="0" err="1"/>
              <a:t>chatbot</a:t>
            </a:r>
            <a:endParaRPr lang="fr-FR" b="1" dirty="0"/>
          </a:p>
          <a:p>
            <a:pPr algn="ctr">
              <a:buNone/>
            </a:pPr>
            <a:r>
              <a:rPr lang="fr-FR" dirty="0"/>
              <a:t>4.1 Création de la base vectorielle, 4.2 Mise en place de la recherche sémantique</a:t>
            </a:r>
          </a:p>
          <a:p>
            <a:pPr algn="ctr">
              <a:buNone/>
            </a:pPr>
            <a:r>
              <a:rPr lang="fr-FR" dirty="0"/>
              <a:t>4.3 Génération des réponses avec Mistral, 4.4 Orchestration avec </a:t>
            </a:r>
            <a:r>
              <a:rPr lang="fr-FR" dirty="0" err="1"/>
              <a:t>LangChain</a:t>
            </a:r>
            <a:r>
              <a:rPr lang="fr-FR" dirty="0"/>
              <a:t>, 4.5</a:t>
            </a:r>
          </a:p>
          <a:p>
            <a:pPr algn="ctr">
              <a:buNone/>
            </a:pPr>
            <a:endParaRPr lang="fr-FR" dirty="0"/>
          </a:p>
          <a:p>
            <a:pPr algn="ctr">
              <a:buNone/>
            </a:pPr>
            <a:r>
              <a:rPr lang="fr-FR" b="1" dirty="0"/>
              <a:t>5. Résultats obtenus</a:t>
            </a:r>
          </a:p>
          <a:p>
            <a:pPr algn="ctr">
              <a:buNone/>
            </a:pPr>
            <a:r>
              <a:rPr lang="fr-FR" dirty="0"/>
              <a:t>5.1 Tests du </a:t>
            </a:r>
            <a:r>
              <a:rPr lang="fr-FR" dirty="0" err="1"/>
              <a:t>chatbot</a:t>
            </a:r>
            <a:r>
              <a:rPr lang="fr-FR" dirty="0"/>
              <a:t>, 5.2 Exemples de recommandations</a:t>
            </a:r>
          </a:p>
          <a:p>
            <a:pPr algn="ctr">
              <a:buNone/>
            </a:pPr>
            <a:r>
              <a:rPr lang="fr-FR" dirty="0"/>
              <a:t>5.3 Architecture finale du système, 5.4 Évaluation des réponses</a:t>
            </a:r>
          </a:p>
          <a:p>
            <a:pPr algn="ctr">
              <a:buNone/>
            </a:pPr>
            <a:endParaRPr lang="fr-FR" dirty="0"/>
          </a:p>
          <a:p>
            <a:pPr algn="ctr">
              <a:buNone/>
            </a:pPr>
            <a:r>
              <a:rPr lang="fr-FR" b="1" dirty="0"/>
              <a:t>6. Conclusion</a:t>
            </a:r>
          </a:p>
          <a:p>
            <a:pPr algn="ctr">
              <a:buNone/>
            </a:pPr>
            <a:r>
              <a:rPr lang="fr-FR" dirty="0"/>
              <a:t>6.1 Bilan du projet, 6.2 Difficultés rencontrées</a:t>
            </a:r>
          </a:p>
          <a:p>
            <a:pPr algn="ctr">
              <a:buNone/>
            </a:pPr>
            <a:r>
              <a:rPr lang="fr-FR" dirty="0"/>
              <a:t>6.3 Améliorations possibles, 6.4 Réponse à la problématique</a:t>
            </a:r>
          </a:p>
        </p:txBody>
      </p:sp>
    </p:spTree>
    <p:extLst>
      <p:ext uri="{BB962C8B-B14F-4D97-AF65-F5344CB8AC3E}">
        <p14:creationId xmlns:p14="http://schemas.microsoft.com/office/powerpoint/2010/main" val="1251764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44978-6E46-1745-D210-75BE85DC1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54673991-FBDC-850F-ACC9-86F878C79EFB}"/>
              </a:ext>
            </a:extLst>
          </p:cNvPr>
          <p:cNvSpPr txBox="1"/>
          <p:nvPr/>
        </p:nvSpPr>
        <p:spPr>
          <a:xfrm>
            <a:off x="5065619" y="0"/>
            <a:ext cx="20607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Introduction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0F8C518-ABF4-6F32-67FA-5B2245F3850B}"/>
              </a:ext>
            </a:extLst>
          </p:cNvPr>
          <p:cNvSpPr txBox="1"/>
          <p:nvPr/>
        </p:nvSpPr>
        <p:spPr>
          <a:xfrm>
            <a:off x="117661" y="1788050"/>
            <a:ext cx="11702303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b="1" dirty="0"/>
              <a:t>Contexte du projet</a:t>
            </a:r>
          </a:p>
          <a:p>
            <a:pPr>
              <a:buNone/>
            </a:pPr>
            <a:endParaRPr lang="fr-FR" b="1" dirty="0"/>
          </a:p>
          <a:p>
            <a:pPr>
              <a:buNone/>
            </a:pPr>
            <a:r>
              <a:rPr lang="fr-FR" sz="2000" b="1" dirty="0"/>
              <a:t>Pourquoi ce projet ?</a:t>
            </a:r>
            <a:endParaRPr lang="fr-F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Grand volume d'événements culturels disponibles en ligne.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Difficulté pour les utilisateurs de trouver rapidement des événements pertinents.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Besoin d'un système intelligent capable de recommander des événements adaptés aux préférences des utilisateurs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7776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EE1F17-23C5-DF5B-304B-C64E2C3CD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5134DFC9-EA57-8698-182E-02E996D2F5CA}"/>
              </a:ext>
            </a:extLst>
          </p:cNvPr>
          <p:cNvSpPr txBox="1"/>
          <p:nvPr/>
        </p:nvSpPr>
        <p:spPr>
          <a:xfrm>
            <a:off x="5065619" y="0"/>
            <a:ext cx="20607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Introduction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17AF9E7-C406-CD3B-DF5E-20FD268DFCB9}"/>
              </a:ext>
            </a:extLst>
          </p:cNvPr>
          <p:cNvSpPr txBox="1"/>
          <p:nvPr/>
        </p:nvSpPr>
        <p:spPr>
          <a:xfrm>
            <a:off x="-1" y="2235831"/>
            <a:ext cx="1202167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b="1" dirty="0"/>
              <a:t>Problématique</a:t>
            </a:r>
          </a:p>
          <a:p>
            <a:pPr>
              <a:buNone/>
            </a:pPr>
            <a:endParaRPr lang="fr-FR" sz="2000" b="1" dirty="0"/>
          </a:p>
          <a:p>
            <a:pPr>
              <a:buNone/>
            </a:pPr>
            <a:r>
              <a:rPr lang="fr-FR" sz="2000" b="1" dirty="0"/>
              <a:t>Question à résoudre</a:t>
            </a:r>
            <a:endParaRPr lang="fr-FR" sz="2000" dirty="0"/>
          </a:p>
          <a:p>
            <a:pPr>
              <a:buNone/>
            </a:pPr>
            <a:r>
              <a:rPr lang="fr-FR" sz="2000" dirty="0"/>
              <a:t>Comment développer un </a:t>
            </a:r>
            <a:r>
              <a:rPr lang="fr-FR" sz="2000" dirty="0" err="1"/>
              <a:t>chatbot</a:t>
            </a:r>
            <a:r>
              <a:rPr lang="fr-FR" sz="2000" dirty="0"/>
              <a:t> intelligent capable de recommander des événements culturels pertinents à partir d'une base de données d'événements tout en fournissant des réponses naturelles et contextualisées ?</a:t>
            </a:r>
          </a:p>
        </p:txBody>
      </p:sp>
    </p:spTree>
    <p:extLst>
      <p:ext uri="{BB962C8B-B14F-4D97-AF65-F5344CB8AC3E}">
        <p14:creationId xmlns:p14="http://schemas.microsoft.com/office/powerpoint/2010/main" val="3642897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7C7C9-FAF3-D6C1-8309-ABDE60EE8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58979978-070F-6A2A-7409-7CDDEE2C6FC1}"/>
              </a:ext>
            </a:extLst>
          </p:cNvPr>
          <p:cNvSpPr txBox="1"/>
          <p:nvPr/>
        </p:nvSpPr>
        <p:spPr>
          <a:xfrm>
            <a:off x="5065619" y="0"/>
            <a:ext cx="20607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Introduction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431E91E-2491-CA9C-5C3E-39CAB7ED070A}"/>
              </a:ext>
            </a:extLst>
          </p:cNvPr>
          <p:cNvSpPr txBox="1"/>
          <p:nvPr/>
        </p:nvSpPr>
        <p:spPr>
          <a:xfrm>
            <a:off x="104214" y="1868732"/>
            <a:ext cx="1041138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Objectifs</a:t>
            </a:r>
          </a:p>
          <a:p>
            <a:pPr>
              <a:buNone/>
            </a:pPr>
            <a:endParaRPr lang="fr-FR" b="1" dirty="0"/>
          </a:p>
          <a:p>
            <a:pPr>
              <a:buNone/>
            </a:pPr>
            <a:r>
              <a:rPr lang="fr-FR" sz="2000" b="1" dirty="0"/>
              <a:t>Résultats attendus</a:t>
            </a:r>
            <a:endParaRPr lang="fr-F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Collecter et préparer les données d'événements culturels.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Indexer les événements dans une base vectorielle FAISS.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Mettre en place une architecture RAG.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Générer des réponses naturelles avec Mistral AI.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Fournir des recommandations personnalisées aux utilisateurs.</a:t>
            </a:r>
          </a:p>
        </p:txBody>
      </p:sp>
    </p:spTree>
    <p:extLst>
      <p:ext uri="{BB962C8B-B14F-4D97-AF65-F5344CB8AC3E}">
        <p14:creationId xmlns:p14="http://schemas.microsoft.com/office/powerpoint/2010/main" val="3322441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1F21FD-726C-B122-D37F-E52B4AE55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8935970-7E67-5779-29F6-A85BC7042E55}"/>
              </a:ext>
            </a:extLst>
          </p:cNvPr>
          <p:cNvSpPr txBox="1"/>
          <p:nvPr/>
        </p:nvSpPr>
        <p:spPr>
          <a:xfrm>
            <a:off x="3088621" y="0"/>
            <a:ext cx="60147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Compréhension du système RAG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C117C32-B011-A67C-3F97-BF9B603A0FE4}"/>
              </a:ext>
            </a:extLst>
          </p:cNvPr>
          <p:cNvSpPr txBox="1"/>
          <p:nvPr/>
        </p:nvSpPr>
        <p:spPr>
          <a:xfrm>
            <a:off x="104214" y="1533941"/>
            <a:ext cx="1163506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b="1" dirty="0"/>
              <a:t>Présentation du RAG</a:t>
            </a:r>
          </a:p>
          <a:p>
            <a:pPr>
              <a:buNone/>
            </a:pPr>
            <a:endParaRPr lang="fr-FR" sz="2000" b="1" dirty="0"/>
          </a:p>
          <a:p>
            <a:pPr>
              <a:buNone/>
            </a:pPr>
            <a:r>
              <a:rPr lang="fr-FR" sz="2000" b="1" dirty="0"/>
              <a:t>Définition</a:t>
            </a:r>
          </a:p>
          <a:p>
            <a:pPr>
              <a:buNone/>
            </a:pPr>
            <a:r>
              <a:rPr lang="fr-FR" sz="2000" dirty="0"/>
              <a:t>Le RAG (</a:t>
            </a:r>
            <a:r>
              <a:rPr lang="fr-FR" sz="2000" dirty="0" err="1"/>
              <a:t>Retrieval-Augmented</a:t>
            </a:r>
            <a:r>
              <a:rPr lang="fr-FR" sz="2000" dirty="0"/>
              <a:t> </a:t>
            </a:r>
            <a:r>
              <a:rPr lang="fr-FR" sz="2000" dirty="0" err="1"/>
              <a:t>Generation</a:t>
            </a:r>
            <a:r>
              <a:rPr lang="fr-FR" sz="2000" dirty="0"/>
              <a:t>) est une architecture qui combine la recherche d'informations et la génération de texte par un modèle de langage.</a:t>
            </a:r>
          </a:p>
          <a:p>
            <a:pPr>
              <a:buNone/>
            </a:pPr>
            <a:endParaRPr lang="fr-FR" sz="2000" dirty="0"/>
          </a:p>
          <a:p>
            <a:pPr>
              <a:buNone/>
            </a:pPr>
            <a:r>
              <a:rPr lang="fr-FR" sz="2000" b="1" dirty="0"/>
              <a:t>Fonctionnement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Recherche des informations pertinentes dans une base de connaissances.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Transmission des informations récupérées au modèle de langage.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Génération d'une réponse contextualisée. 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000" dirty="0"/>
          </a:p>
          <a:p>
            <a:pPr>
              <a:buNone/>
            </a:pPr>
            <a:r>
              <a:rPr lang="fr-FR" sz="2000" b="1" dirty="0"/>
              <a:t>Avantages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Réponses plus précises.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Réduction des hallucinations.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Utilisation de données actualisées. </a:t>
            </a:r>
          </a:p>
        </p:txBody>
      </p:sp>
    </p:spTree>
    <p:extLst>
      <p:ext uri="{BB962C8B-B14F-4D97-AF65-F5344CB8AC3E}">
        <p14:creationId xmlns:p14="http://schemas.microsoft.com/office/powerpoint/2010/main" val="432940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DA2C81-2641-115E-427F-FCCEA0F73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BFF37566-631F-5CB4-F03C-C83C29F1D4A1}"/>
              </a:ext>
            </a:extLst>
          </p:cNvPr>
          <p:cNvSpPr txBox="1"/>
          <p:nvPr/>
        </p:nvSpPr>
        <p:spPr>
          <a:xfrm>
            <a:off x="3088621" y="0"/>
            <a:ext cx="60147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Compréhension du système RAG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08CD42D-0269-5429-0540-BEC97F3731EF}"/>
              </a:ext>
            </a:extLst>
          </p:cNvPr>
          <p:cNvSpPr txBox="1"/>
          <p:nvPr/>
        </p:nvSpPr>
        <p:spPr>
          <a:xfrm>
            <a:off x="211790" y="1525858"/>
            <a:ext cx="1119131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b="1" dirty="0"/>
              <a:t>Présentation de Mistral AI</a:t>
            </a:r>
          </a:p>
          <a:p>
            <a:pPr>
              <a:buNone/>
            </a:pPr>
            <a:endParaRPr lang="fr-FR" sz="2000" b="1" dirty="0"/>
          </a:p>
          <a:p>
            <a:pPr>
              <a:buNone/>
            </a:pPr>
            <a:r>
              <a:rPr lang="fr-FR" sz="2000" b="1" dirty="0"/>
              <a:t>Rôle dans le projet</a:t>
            </a:r>
          </a:p>
          <a:p>
            <a:pPr>
              <a:buNone/>
            </a:pPr>
            <a:r>
              <a:rPr lang="fr-FR" sz="2000" dirty="0"/>
              <a:t>Mistral AI est utilisé pour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Générer les </a:t>
            </a:r>
            <a:r>
              <a:rPr lang="fr-FR" sz="2000" dirty="0" err="1"/>
              <a:t>embeddings</a:t>
            </a:r>
            <a:r>
              <a:rPr lang="fr-FR" sz="2000" dirty="0"/>
              <a:t> des événements.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Produire les réponses du </a:t>
            </a:r>
            <a:r>
              <a:rPr lang="fr-FR" sz="2000" dirty="0" err="1"/>
              <a:t>chatbot</a:t>
            </a:r>
            <a:r>
              <a:rPr lang="fr-FR" sz="20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000" dirty="0"/>
          </a:p>
          <a:p>
            <a:pPr>
              <a:buNone/>
            </a:pPr>
            <a:r>
              <a:rPr lang="fr-FR" sz="2000" b="1" dirty="0"/>
              <a:t>Caractéristiques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Modèle de langage performant.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Compréhension du langage naturel.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Génération de réponses contextualisées. 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000" dirty="0"/>
          </a:p>
          <a:p>
            <a:pPr>
              <a:buNone/>
            </a:pPr>
            <a:r>
              <a:rPr lang="fr-FR" sz="2000" b="1" dirty="0"/>
              <a:t>Résultat</a:t>
            </a:r>
          </a:p>
          <a:p>
            <a:pPr>
              <a:buNone/>
            </a:pPr>
            <a:r>
              <a:rPr lang="fr-FR" sz="2000" dirty="0"/>
              <a:t>Transformation des informations récupérées en réponses compréhensibles pour l'utilisateur.</a:t>
            </a:r>
          </a:p>
        </p:txBody>
      </p:sp>
    </p:spTree>
    <p:extLst>
      <p:ext uri="{BB962C8B-B14F-4D97-AF65-F5344CB8AC3E}">
        <p14:creationId xmlns:p14="http://schemas.microsoft.com/office/powerpoint/2010/main" val="351153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9D60CE-A207-79F7-F140-2A095B21F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D172B930-04E9-F0F4-0FD3-7688081016C6}"/>
              </a:ext>
            </a:extLst>
          </p:cNvPr>
          <p:cNvSpPr txBox="1"/>
          <p:nvPr/>
        </p:nvSpPr>
        <p:spPr>
          <a:xfrm>
            <a:off x="3088621" y="0"/>
            <a:ext cx="60147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Compréhension du système RAG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6396278-4E82-DD85-EAE2-FAD4F51F1145}"/>
              </a:ext>
            </a:extLst>
          </p:cNvPr>
          <p:cNvSpPr txBox="1"/>
          <p:nvPr/>
        </p:nvSpPr>
        <p:spPr>
          <a:xfrm>
            <a:off x="39501" y="1720840"/>
            <a:ext cx="977685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b="1" dirty="0"/>
              <a:t>Présentation de FAISS</a:t>
            </a:r>
          </a:p>
          <a:p>
            <a:pPr>
              <a:buNone/>
            </a:pPr>
            <a:endParaRPr lang="fr-FR" sz="2000" b="1" dirty="0"/>
          </a:p>
          <a:p>
            <a:pPr>
              <a:buNone/>
            </a:pPr>
            <a:r>
              <a:rPr lang="fr-FR" sz="2000" b="1" dirty="0"/>
              <a:t>Définition</a:t>
            </a:r>
          </a:p>
          <a:p>
            <a:pPr>
              <a:buNone/>
            </a:pPr>
            <a:r>
              <a:rPr lang="fr-FR" sz="2000" dirty="0"/>
              <a:t>FAISS est une bibliothèque spécialisée dans la recherche de similarité vectorielle.</a:t>
            </a:r>
          </a:p>
          <a:p>
            <a:pPr>
              <a:buNone/>
            </a:pPr>
            <a:endParaRPr lang="fr-FR" sz="2000" dirty="0"/>
          </a:p>
          <a:p>
            <a:pPr>
              <a:buNone/>
            </a:pPr>
            <a:r>
              <a:rPr lang="fr-FR" sz="2000" b="1" dirty="0"/>
              <a:t>Rôle dans le projet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Stockage des </a:t>
            </a:r>
            <a:r>
              <a:rPr lang="fr-FR" sz="2000" dirty="0" err="1"/>
              <a:t>embeddings</a:t>
            </a:r>
            <a:r>
              <a:rPr lang="fr-FR" sz="20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Recherche des événements les plus proches de la question utilisateur. 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000" dirty="0"/>
          </a:p>
          <a:p>
            <a:pPr>
              <a:buNone/>
            </a:pPr>
            <a:r>
              <a:rPr lang="fr-FR" sz="2000" b="1" dirty="0"/>
              <a:t>Avantages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Recherche rapide.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Gestion de grands volumes de données.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Optimisation des performances.</a:t>
            </a:r>
          </a:p>
        </p:txBody>
      </p:sp>
    </p:spTree>
    <p:extLst>
      <p:ext uri="{BB962C8B-B14F-4D97-AF65-F5344CB8AC3E}">
        <p14:creationId xmlns:p14="http://schemas.microsoft.com/office/powerpoint/2010/main" val="1583275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8CE47-B88F-A2DD-54CC-6A184570F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DB397301-5C4E-03C8-5C21-7D187CD8981A}"/>
              </a:ext>
            </a:extLst>
          </p:cNvPr>
          <p:cNvSpPr txBox="1"/>
          <p:nvPr/>
        </p:nvSpPr>
        <p:spPr>
          <a:xfrm>
            <a:off x="3088621" y="0"/>
            <a:ext cx="60147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Compréhension du système RAG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BD8377A-B9ED-8AD2-19FD-96AE0ED5B476}"/>
              </a:ext>
            </a:extLst>
          </p:cNvPr>
          <p:cNvSpPr txBox="1"/>
          <p:nvPr/>
        </p:nvSpPr>
        <p:spPr>
          <a:xfrm>
            <a:off x="144557" y="1324152"/>
            <a:ext cx="1160817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b="1" dirty="0"/>
              <a:t>Présentation de </a:t>
            </a:r>
            <a:r>
              <a:rPr lang="fr-FR" sz="2000" b="1" dirty="0" err="1"/>
              <a:t>LangChain</a:t>
            </a:r>
            <a:endParaRPr lang="fr-FR" sz="2000" b="1" dirty="0"/>
          </a:p>
          <a:p>
            <a:pPr>
              <a:buNone/>
            </a:pPr>
            <a:endParaRPr lang="fr-FR" sz="2000" b="1" dirty="0"/>
          </a:p>
          <a:p>
            <a:pPr>
              <a:buNone/>
            </a:pPr>
            <a:r>
              <a:rPr lang="fr-FR" sz="2000" b="1" dirty="0"/>
              <a:t>Définition</a:t>
            </a:r>
          </a:p>
          <a:p>
            <a:pPr>
              <a:buNone/>
            </a:pPr>
            <a:r>
              <a:rPr lang="fr-FR" sz="2000" dirty="0" err="1"/>
              <a:t>LangChain</a:t>
            </a:r>
            <a:r>
              <a:rPr lang="fr-FR" sz="2000" dirty="0"/>
              <a:t> est un </a:t>
            </a:r>
            <a:r>
              <a:rPr lang="fr-FR" sz="2000" dirty="0" err="1"/>
              <a:t>framework</a:t>
            </a:r>
            <a:r>
              <a:rPr lang="fr-FR" sz="2000" dirty="0"/>
              <a:t> permettant d'orchestrer les interactions entre les différents composants d'un système RAG.</a:t>
            </a:r>
          </a:p>
          <a:p>
            <a:pPr>
              <a:buNone/>
            </a:pPr>
            <a:endParaRPr lang="fr-FR" sz="2000" dirty="0"/>
          </a:p>
          <a:p>
            <a:pPr>
              <a:buNone/>
            </a:pPr>
            <a:r>
              <a:rPr lang="fr-FR" sz="2000" b="1" dirty="0"/>
              <a:t>Rôle dans le projet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Connexion entre FAISS et Mistral.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Gestion du pipeline de recherche.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Construction du </a:t>
            </a:r>
            <a:r>
              <a:rPr lang="fr-FR" sz="2000" dirty="0" err="1"/>
              <a:t>chatbot</a:t>
            </a:r>
            <a:r>
              <a:rPr lang="fr-FR" sz="20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000" dirty="0"/>
          </a:p>
          <a:p>
            <a:pPr>
              <a:buNone/>
            </a:pPr>
            <a:r>
              <a:rPr lang="fr-FR" sz="2000" b="1" dirty="0"/>
              <a:t>Avantages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Simplification du développement.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Modularité.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Intégration des modèles IA. </a:t>
            </a:r>
          </a:p>
        </p:txBody>
      </p:sp>
    </p:spTree>
    <p:extLst>
      <p:ext uri="{BB962C8B-B14F-4D97-AF65-F5344CB8AC3E}">
        <p14:creationId xmlns:p14="http://schemas.microsoft.com/office/powerpoint/2010/main" val="2507480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0AD6B-E87E-88FF-FE0F-D7F08DA96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7EABA8A-8D68-6698-264A-6218741CBE03}"/>
              </a:ext>
            </a:extLst>
          </p:cNvPr>
          <p:cNvSpPr txBox="1"/>
          <p:nvPr/>
        </p:nvSpPr>
        <p:spPr>
          <a:xfrm>
            <a:off x="3088621" y="0"/>
            <a:ext cx="60147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Compréhension du système RAG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702D585-1E03-8EB8-A6AC-9F0ED39EDB1F}"/>
              </a:ext>
            </a:extLst>
          </p:cNvPr>
          <p:cNvSpPr txBox="1"/>
          <p:nvPr/>
        </p:nvSpPr>
        <p:spPr>
          <a:xfrm>
            <a:off x="147078" y="523220"/>
            <a:ext cx="609824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Architecture globale du système</a:t>
            </a:r>
          </a:p>
          <a:p>
            <a:pPr>
              <a:buNone/>
            </a:pPr>
            <a:endParaRPr lang="fr-FR" b="1" dirty="0"/>
          </a:p>
          <a:p>
            <a:pPr>
              <a:buNone/>
            </a:pPr>
            <a:r>
              <a:rPr lang="fr-FR" b="1" dirty="0"/>
              <a:t>Pipeline RAG</a:t>
            </a:r>
          </a:p>
          <a:p>
            <a:pPr>
              <a:buNone/>
            </a:pPr>
            <a:r>
              <a:rPr lang="fr-FR" dirty="0"/>
              <a:t>Utilisateur</a:t>
            </a:r>
          </a:p>
          <a:p>
            <a:pPr>
              <a:buNone/>
            </a:pPr>
            <a:r>
              <a:rPr lang="fr-FR" dirty="0"/>
              <a:t>⬇</a:t>
            </a:r>
          </a:p>
          <a:p>
            <a:pPr>
              <a:buNone/>
            </a:pPr>
            <a:r>
              <a:rPr lang="fr-FR" dirty="0"/>
              <a:t>Question</a:t>
            </a:r>
          </a:p>
          <a:p>
            <a:pPr>
              <a:buNone/>
            </a:pPr>
            <a:r>
              <a:rPr lang="fr-FR" dirty="0"/>
              <a:t>⬇</a:t>
            </a:r>
          </a:p>
          <a:p>
            <a:pPr>
              <a:buNone/>
            </a:pPr>
            <a:r>
              <a:rPr lang="fr-FR" dirty="0" err="1"/>
              <a:t>Embedding</a:t>
            </a:r>
            <a:r>
              <a:rPr lang="fr-FR" dirty="0"/>
              <a:t> de la question</a:t>
            </a:r>
          </a:p>
          <a:p>
            <a:pPr>
              <a:buNone/>
            </a:pPr>
            <a:r>
              <a:rPr lang="fr-FR" dirty="0"/>
              <a:t>⬇</a:t>
            </a:r>
          </a:p>
          <a:p>
            <a:pPr>
              <a:buNone/>
            </a:pPr>
            <a:r>
              <a:rPr lang="fr-FR" dirty="0"/>
              <a:t>Recherche dans FAISS</a:t>
            </a:r>
          </a:p>
          <a:p>
            <a:pPr>
              <a:buNone/>
            </a:pPr>
            <a:r>
              <a:rPr lang="fr-FR" dirty="0"/>
              <a:t>⬇</a:t>
            </a:r>
          </a:p>
          <a:p>
            <a:pPr>
              <a:buNone/>
            </a:pPr>
            <a:r>
              <a:rPr lang="fr-FR" dirty="0"/>
              <a:t>Événements pertinents récupérés</a:t>
            </a:r>
          </a:p>
          <a:p>
            <a:pPr>
              <a:buNone/>
            </a:pPr>
            <a:r>
              <a:rPr lang="fr-FR" dirty="0"/>
              <a:t>⬇</a:t>
            </a:r>
          </a:p>
          <a:p>
            <a:pPr>
              <a:buNone/>
            </a:pPr>
            <a:r>
              <a:rPr lang="fr-FR" dirty="0"/>
              <a:t>Mistral AI</a:t>
            </a:r>
          </a:p>
          <a:p>
            <a:pPr>
              <a:buNone/>
            </a:pPr>
            <a:r>
              <a:rPr lang="fr-FR" dirty="0"/>
              <a:t>⬇</a:t>
            </a:r>
          </a:p>
          <a:p>
            <a:pPr>
              <a:buNone/>
            </a:pPr>
            <a:r>
              <a:rPr lang="fr-FR" dirty="0"/>
              <a:t>Réponse générée</a:t>
            </a:r>
          </a:p>
          <a:p>
            <a:pPr>
              <a:buNone/>
            </a:pPr>
            <a:r>
              <a:rPr lang="fr-FR" dirty="0"/>
              <a:t>⬇</a:t>
            </a:r>
          </a:p>
          <a:p>
            <a:pPr>
              <a:buNone/>
            </a:pPr>
            <a:r>
              <a:rPr lang="fr-FR" dirty="0"/>
              <a:t>Utilisateur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b="1" dirty="0"/>
              <a:t>Objectif</a:t>
            </a:r>
          </a:p>
          <a:p>
            <a:pPr>
              <a:buNone/>
            </a:pPr>
            <a:r>
              <a:rPr lang="fr-FR" dirty="0"/>
              <a:t>Combiner la recherche sémantique et l'intelligence artificielle pour fournir des recommandations pertinentes et naturelles.</a:t>
            </a:r>
          </a:p>
        </p:txBody>
      </p:sp>
    </p:spTree>
    <p:extLst>
      <p:ext uri="{BB962C8B-B14F-4D97-AF65-F5344CB8AC3E}">
        <p14:creationId xmlns:p14="http://schemas.microsoft.com/office/powerpoint/2010/main" val="1983781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08BE80-88A3-0517-761F-487D3F4EE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153E377D-324B-5C41-1A2B-7FAA0C81894C}"/>
              </a:ext>
            </a:extLst>
          </p:cNvPr>
          <p:cNvSpPr txBox="1"/>
          <p:nvPr/>
        </p:nvSpPr>
        <p:spPr>
          <a:xfrm>
            <a:off x="4104155" y="0"/>
            <a:ext cx="39836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Préparation des données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D451BB5-58D5-093C-A5B1-5975889C0C05}"/>
              </a:ext>
            </a:extLst>
          </p:cNvPr>
          <p:cNvSpPr txBox="1"/>
          <p:nvPr/>
        </p:nvSpPr>
        <p:spPr>
          <a:xfrm>
            <a:off x="117661" y="1028343"/>
            <a:ext cx="1049206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Collecte des événements culturels</a:t>
            </a:r>
          </a:p>
          <a:p>
            <a:pPr>
              <a:buNone/>
            </a:pPr>
            <a:endParaRPr lang="fr-FR" b="1" dirty="0"/>
          </a:p>
          <a:p>
            <a:pPr>
              <a:buNone/>
            </a:pPr>
            <a:r>
              <a:rPr lang="fr-FR" b="1" dirty="0"/>
              <a:t>Source des données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API </a:t>
            </a:r>
            <a:r>
              <a:rPr lang="fr-FR" dirty="0" err="1"/>
              <a:t>OpenAgenda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Récupération de 1000 agendas culturels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Extraction automatique des événements 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None/>
            </a:pPr>
            <a:r>
              <a:rPr lang="fr-FR" b="1" dirty="0"/>
              <a:t>Informations collectées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Titre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Description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Lieu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Ville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Coordonnées GPS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Type d'événement 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None/>
            </a:pPr>
            <a:r>
              <a:rPr lang="fr-FR" b="1" dirty="0"/>
              <a:t>Résultat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208 010 événements collectés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Sauvegarde dans </a:t>
            </a:r>
            <a:r>
              <a:rPr lang="fr-FR" dirty="0" err="1">
                <a:latin typeface="Courier New" panose="02070309020205020404" pitchFamily="49" charset="0"/>
              </a:rPr>
              <a:t>evenements_openagenda_france_brut.csv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9562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877377-0CCB-A810-5470-8FBDC2E67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FFD48C6E-8EA8-5059-69EC-16E632B5E7B5}"/>
              </a:ext>
            </a:extLst>
          </p:cNvPr>
          <p:cNvSpPr txBox="1"/>
          <p:nvPr/>
        </p:nvSpPr>
        <p:spPr>
          <a:xfrm>
            <a:off x="4104155" y="0"/>
            <a:ext cx="39836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Préparation des données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1A082E-B796-0518-B938-63F6E222C19E}"/>
              </a:ext>
            </a:extLst>
          </p:cNvPr>
          <p:cNvSpPr txBox="1"/>
          <p:nvPr/>
        </p:nvSpPr>
        <p:spPr>
          <a:xfrm>
            <a:off x="144555" y="940885"/>
            <a:ext cx="830019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b="1" dirty="0"/>
              <a:t>Nettoyage et prétraitement des données</a:t>
            </a:r>
          </a:p>
          <a:p>
            <a:pPr>
              <a:buNone/>
            </a:pPr>
            <a:endParaRPr lang="fr-FR" sz="2000" b="1" dirty="0"/>
          </a:p>
          <a:p>
            <a:pPr>
              <a:buNone/>
            </a:pPr>
            <a:r>
              <a:rPr lang="fr-FR" sz="2000" b="1" dirty="0"/>
              <a:t>Traitements réalisés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Suppression des colonnes inutiles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Gestion des valeurs manquantes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Suppression des doublons (</a:t>
            </a:r>
            <a:r>
              <a:rPr lang="fr-FR" sz="2000" dirty="0" err="1">
                <a:latin typeface="Courier New" panose="02070309020205020404" pitchFamily="49" charset="0"/>
              </a:rPr>
              <a:t>event_uid</a:t>
            </a:r>
            <a:r>
              <a:rPr lang="fr-FR" sz="2000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Conversion des dates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Vérification des champs texte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C818067-CEAC-2FFF-A868-4EBFBF0664E0}"/>
              </a:ext>
            </a:extLst>
          </p:cNvPr>
          <p:cNvSpPr txBox="1"/>
          <p:nvPr/>
        </p:nvSpPr>
        <p:spPr>
          <a:xfrm>
            <a:off x="144555" y="3728429"/>
            <a:ext cx="6098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Résultats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68DB7AE6-5E52-11F4-D601-9EC2D61ED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203586"/>
              </p:ext>
            </p:extLst>
          </p:nvPr>
        </p:nvGraphicFramePr>
        <p:xfrm>
          <a:off x="144555" y="4361538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97190289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534293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Étape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Nombre d'événements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759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Collecte initiale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208 010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957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Après suppression des valeurs manquantes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206 400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009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Après suppression des doublons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20 628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463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Après filtrage temporel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10 406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051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9645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A0AEDE-7895-4ACF-DFA0-361CD4A2D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4F9A2C8-4544-D611-BA38-AA431CD54E50}"/>
              </a:ext>
            </a:extLst>
          </p:cNvPr>
          <p:cNvSpPr txBox="1"/>
          <p:nvPr/>
        </p:nvSpPr>
        <p:spPr>
          <a:xfrm>
            <a:off x="4104155" y="0"/>
            <a:ext cx="39836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Préparation des données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65EC9DD-4DBE-A8AE-A413-58246465B877}"/>
              </a:ext>
            </a:extLst>
          </p:cNvPr>
          <p:cNvSpPr txBox="1"/>
          <p:nvPr/>
        </p:nvSpPr>
        <p:spPr>
          <a:xfrm>
            <a:off x="158002" y="1859339"/>
            <a:ext cx="847500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b="1" dirty="0"/>
              <a:t>Génération des </a:t>
            </a:r>
            <a:r>
              <a:rPr lang="fr-FR" sz="2000" b="1" dirty="0" err="1"/>
              <a:t>embeddings</a:t>
            </a:r>
            <a:endParaRPr lang="fr-FR" sz="2000" b="1" dirty="0"/>
          </a:p>
          <a:p>
            <a:pPr>
              <a:buNone/>
            </a:pPr>
            <a:endParaRPr lang="fr-FR" sz="2000" dirty="0"/>
          </a:p>
          <a:p>
            <a:pPr>
              <a:buNone/>
            </a:pPr>
            <a:r>
              <a:rPr lang="fr-FR" sz="2000" b="1" dirty="0"/>
              <a:t>Objectif</a:t>
            </a:r>
          </a:p>
          <a:p>
            <a:pPr>
              <a:buNone/>
            </a:pPr>
            <a:r>
              <a:rPr lang="fr-FR" sz="2000" dirty="0"/>
              <a:t>Transformer chaque événement en représentation vectorielle.</a:t>
            </a:r>
          </a:p>
          <a:p>
            <a:pPr>
              <a:buNone/>
            </a:pPr>
            <a:endParaRPr lang="fr-FR" sz="2000" b="1" dirty="0"/>
          </a:p>
          <a:p>
            <a:pPr>
              <a:buNone/>
            </a:pPr>
            <a:r>
              <a:rPr lang="fr-FR" sz="2000" b="1" dirty="0"/>
              <a:t>Méthode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Fusion du titre et de la description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Utilisation du modèle </a:t>
            </a:r>
            <a:r>
              <a:rPr lang="fr-FR" sz="2000" dirty="0">
                <a:latin typeface="Courier New" panose="02070309020205020404" pitchFamily="49" charset="0"/>
              </a:rPr>
              <a:t>mistral-</a:t>
            </a:r>
            <a:r>
              <a:rPr lang="fr-FR" sz="2000" dirty="0" err="1">
                <a:latin typeface="Courier New" panose="02070309020205020404" pitchFamily="49" charset="0"/>
              </a:rPr>
              <a:t>embed</a:t>
            </a:r>
            <a:r>
              <a:rPr lang="fr-FR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Traitement par lots de 32 événements 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000" dirty="0"/>
          </a:p>
          <a:p>
            <a:pPr>
              <a:buNone/>
            </a:pPr>
            <a:r>
              <a:rPr lang="fr-FR" sz="2000" b="1" dirty="0"/>
              <a:t>Résultat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Création d'un vecteur pour chaque événement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Sauvegarde dans </a:t>
            </a:r>
            <a:r>
              <a:rPr lang="fr-FR" sz="2000" dirty="0" err="1">
                <a:latin typeface="Courier New" panose="02070309020205020404" pitchFamily="49" charset="0"/>
              </a:rPr>
              <a:t>evenements_openagenda_embeddings.pkl</a:t>
            </a:r>
            <a:r>
              <a:rPr lang="fr-FR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7915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B371DD-B46F-51B0-5644-B0D521D79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B6D03D0-4A64-5B39-1636-36B39F5F42D5}"/>
              </a:ext>
            </a:extLst>
          </p:cNvPr>
          <p:cNvSpPr txBox="1"/>
          <p:nvPr/>
        </p:nvSpPr>
        <p:spPr>
          <a:xfrm>
            <a:off x="4171390" y="0"/>
            <a:ext cx="3849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Construction du </a:t>
            </a:r>
            <a:r>
              <a:rPr lang="fr-FR" sz="2800" b="1" dirty="0" err="1"/>
              <a:t>chatbot</a:t>
            </a:r>
            <a:endParaRPr lang="fr-FR" sz="2800" b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7901BFC-DA66-9321-0484-532CC273159C}"/>
              </a:ext>
            </a:extLst>
          </p:cNvPr>
          <p:cNvSpPr txBox="1"/>
          <p:nvPr/>
        </p:nvSpPr>
        <p:spPr>
          <a:xfrm>
            <a:off x="104215" y="1720840"/>
            <a:ext cx="988695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b="1" dirty="0"/>
              <a:t>Création de la base vectorielle FAISS</a:t>
            </a:r>
          </a:p>
          <a:p>
            <a:pPr>
              <a:buNone/>
            </a:pPr>
            <a:endParaRPr lang="fr-FR" sz="2000" b="1" dirty="0"/>
          </a:p>
          <a:p>
            <a:pPr>
              <a:buNone/>
            </a:pPr>
            <a:r>
              <a:rPr lang="fr-FR" sz="2000" b="1" dirty="0"/>
              <a:t>Objectif</a:t>
            </a:r>
          </a:p>
          <a:p>
            <a:pPr>
              <a:buNone/>
            </a:pPr>
            <a:r>
              <a:rPr lang="fr-FR" sz="2000" dirty="0"/>
              <a:t>Indexer les </a:t>
            </a:r>
            <a:r>
              <a:rPr lang="fr-FR" sz="2000" dirty="0" err="1"/>
              <a:t>embeddings</a:t>
            </a:r>
            <a:r>
              <a:rPr lang="fr-FR" sz="2000" dirty="0"/>
              <a:t> pour permettre une recherche sémantique rapide.</a:t>
            </a:r>
          </a:p>
          <a:p>
            <a:pPr>
              <a:buNone/>
            </a:pPr>
            <a:endParaRPr lang="fr-FR" sz="2000" dirty="0"/>
          </a:p>
          <a:p>
            <a:pPr>
              <a:buNone/>
            </a:pPr>
            <a:r>
              <a:rPr lang="fr-FR" sz="2000" b="1" dirty="0"/>
              <a:t>Étapes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Chargement des </a:t>
            </a:r>
            <a:r>
              <a:rPr lang="fr-FR" sz="2000" dirty="0" err="1"/>
              <a:t>embeddings</a:t>
            </a:r>
            <a:r>
              <a:rPr lang="fr-FR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Création d'un index FAISS (</a:t>
            </a:r>
            <a:r>
              <a:rPr lang="fr-FR" sz="2000" dirty="0">
                <a:latin typeface="Courier New" panose="02070309020205020404" pitchFamily="49" charset="0"/>
              </a:rPr>
              <a:t>IndexFlatL2</a:t>
            </a:r>
            <a:r>
              <a:rPr lang="fr-FR" sz="2000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Ajout des vecteurs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Sauvegarde de l'index 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000" dirty="0"/>
          </a:p>
          <a:p>
            <a:pPr>
              <a:buNone/>
            </a:pPr>
            <a:r>
              <a:rPr lang="fr-FR" sz="2000" b="1" dirty="0"/>
              <a:t>Résultat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Index FAISS créé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Métadonnées sauvegardées dans </a:t>
            </a:r>
            <a:r>
              <a:rPr lang="fr-FR" sz="2000" dirty="0" err="1">
                <a:latin typeface="Courier New" panose="02070309020205020404" pitchFamily="49" charset="0"/>
              </a:rPr>
              <a:t>metadata.pkl</a:t>
            </a:r>
            <a:r>
              <a:rPr lang="fr-FR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5707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A39C2B-B5E4-9350-2084-1F043B7BD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7CEA0C86-0FB6-CA0E-B235-B817FC5447CD}"/>
              </a:ext>
            </a:extLst>
          </p:cNvPr>
          <p:cNvSpPr txBox="1"/>
          <p:nvPr/>
        </p:nvSpPr>
        <p:spPr>
          <a:xfrm>
            <a:off x="4171390" y="0"/>
            <a:ext cx="3849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Construction du </a:t>
            </a:r>
            <a:r>
              <a:rPr lang="fr-FR" sz="2800" b="1" dirty="0" err="1"/>
              <a:t>chatbot</a:t>
            </a:r>
            <a:endParaRPr lang="fr-FR" sz="28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12EF229-4AD2-C782-A080-4796FF9E71EA}"/>
              </a:ext>
            </a:extLst>
          </p:cNvPr>
          <p:cNvSpPr txBox="1"/>
          <p:nvPr/>
        </p:nvSpPr>
        <p:spPr>
          <a:xfrm>
            <a:off x="104215" y="1859339"/>
            <a:ext cx="1096271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b="1" dirty="0"/>
              <a:t>Mise en place de la recherche sémantique</a:t>
            </a:r>
          </a:p>
          <a:p>
            <a:pPr>
              <a:buNone/>
            </a:pPr>
            <a:endParaRPr lang="fr-FR" sz="2000" b="1" dirty="0"/>
          </a:p>
          <a:p>
            <a:pPr>
              <a:buNone/>
            </a:pPr>
            <a:r>
              <a:rPr lang="fr-FR" sz="2000" b="1" dirty="0"/>
              <a:t>Fonctionnement</a:t>
            </a:r>
          </a:p>
          <a:p>
            <a:pPr>
              <a:buFont typeface="+mj-lt"/>
              <a:buAutoNum type="arabicPeriod"/>
            </a:pPr>
            <a:r>
              <a:rPr lang="fr-FR" sz="2000" dirty="0"/>
              <a:t>L'utilisateur pose une question </a:t>
            </a:r>
          </a:p>
          <a:p>
            <a:pPr>
              <a:buFont typeface="+mj-lt"/>
              <a:buAutoNum type="arabicPeriod"/>
            </a:pPr>
            <a:r>
              <a:rPr lang="fr-FR" sz="2000" dirty="0"/>
              <a:t>La question est transformée en </a:t>
            </a:r>
            <a:r>
              <a:rPr lang="fr-FR" sz="2000" dirty="0" err="1"/>
              <a:t>embedding</a:t>
            </a:r>
            <a:r>
              <a:rPr lang="fr-FR" sz="2000" dirty="0"/>
              <a:t> </a:t>
            </a:r>
          </a:p>
          <a:p>
            <a:pPr>
              <a:buFont typeface="+mj-lt"/>
              <a:buAutoNum type="arabicPeriod"/>
            </a:pPr>
            <a:r>
              <a:rPr lang="fr-FR" sz="2000" dirty="0"/>
              <a:t>Recherche des k événements les plus proches </a:t>
            </a:r>
          </a:p>
          <a:p>
            <a:pPr>
              <a:buFont typeface="+mj-lt"/>
              <a:buAutoNum type="arabicPeriod"/>
            </a:pPr>
            <a:r>
              <a:rPr lang="fr-FR" sz="2000" dirty="0"/>
              <a:t>Retour des événements pertinents </a:t>
            </a:r>
          </a:p>
          <a:p>
            <a:pPr>
              <a:buFont typeface="+mj-lt"/>
              <a:buAutoNum type="arabicPeriod"/>
            </a:pPr>
            <a:endParaRPr lang="fr-FR" sz="2000" dirty="0"/>
          </a:p>
          <a:p>
            <a:pPr>
              <a:buNone/>
            </a:pPr>
            <a:r>
              <a:rPr lang="fr-FR" sz="2000" b="1" dirty="0"/>
              <a:t>Exemple</a:t>
            </a:r>
          </a:p>
          <a:p>
            <a:pPr>
              <a:buNone/>
            </a:pPr>
            <a:r>
              <a:rPr lang="fr-FR" sz="2000" dirty="0"/>
              <a:t>Question :</a:t>
            </a:r>
          </a:p>
          <a:p>
            <a:pPr>
              <a:buNone/>
            </a:pPr>
            <a:r>
              <a:rPr lang="fr-FR" sz="2000" dirty="0"/>
              <a:t>Concert gratuit à Paris</a:t>
            </a:r>
          </a:p>
          <a:p>
            <a:pPr>
              <a:buNone/>
            </a:pPr>
            <a:r>
              <a:rPr lang="fr-FR" sz="2000" dirty="0"/>
              <a:t>Résultat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Top 5 événements les plus similaires récupérés par FAISS</a:t>
            </a:r>
          </a:p>
        </p:txBody>
      </p:sp>
    </p:spTree>
    <p:extLst>
      <p:ext uri="{BB962C8B-B14F-4D97-AF65-F5344CB8AC3E}">
        <p14:creationId xmlns:p14="http://schemas.microsoft.com/office/powerpoint/2010/main" val="3262254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A84644-B29D-511B-D2EC-D47C8E9EE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5D4062A-229C-2C48-9AC5-3B6A318B6164}"/>
              </a:ext>
            </a:extLst>
          </p:cNvPr>
          <p:cNvSpPr txBox="1"/>
          <p:nvPr/>
        </p:nvSpPr>
        <p:spPr>
          <a:xfrm>
            <a:off x="4171390" y="0"/>
            <a:ext cx="3849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Construction du </a:t>
            </a:r>
            <a:r>
              <a:rPr lang="fr-FR" sz="2800" b="1" dirty="0" err="1"/>
              <a:t>chatbot</a:t>
            </a:r>
            <a:endParaRPr lang="fr-FR" sz="28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B7F5AFC-4576-837C-E87A-9E9E7970C496}"/>
              </a:ext>
            </a:extLst>
          </p:cNvPr>
          <p:cNvSpPr txBox="1"/>
          <p:nvPr/>
        </p:nvSpPr>
        <p:spPr>
          <a:xfrm>
            <a:off x="104215" y="1720840"/>
            <a:ext cx="1162161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b="1" dirty="0"/>
              <a:t>Génération des réponses avec Mistral</a:t>
            </a:r>
          </a:p>
          <a:p>
            <a:pPr>
              <a:buNone/>
            </a:pPr>
            <a:endParaRPr lang="fr-FR" sz="2000" b="1" dirty="0"/>
          </a:p>
          <a:p>
            <a:pPr>
              <a:buNone/>
            </a:pPr>
            <a:r>
              <a:rPr lang="fr-FR" sz="2000" b="1" dirty="0"/>
              <a:t>Rôle de Mistral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Compréhension de la question utilisateur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Analyse des événements retrouvés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Génération d'une réponse naturelle 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000" dirty="0"/>
          </a:p>
          <a:p>
            <a:pPr>
              <a:buNone/>
            </a:pPr>
            <a:r>
              <a:rPr lang="fr-FR" sz="2000" b="1" dirty="0"/>
              <a:t>Exemple</a:t>
            </a:r>
          </a:p>
          <a:p>
            <a:pPr>
              <a:buNone/>
            </a:pPr>
            <a:r>
              <a:rPr lang="fr-FR" sz="2000" dirty="0"/>
              <a:t>Question :</a:t>
            </a:r>
          </a:p>
          <a:p>
            <a:pPr>
              <a:buNone/>
            </a:pPr>
            <a:r>
              <a:rPr lang="fr-FR" sz="2000" dirty="0"/>
              <a:t>Quels concerts gratuits puis-je voir à Paris ?</a:t>
            </a:r>
          </a:p>
          <a:p>
            <a:pPr>
              <a:buNone/>
            </a:pPr>
            <a:r>
              <a:rPr lang="fr-FR" sz="2000" dirty="0"/>
              <a:t>Réponse :</a:t>
            </a:r>
          </a:p>
          <a:p>
            <a:pPr>
              <a:buNone/>
            </a:pPr>
            <a:r>
              <a:rPr lang="fr-FR" sz="2000" dirty="0"/>
              <a:t>Liste des événements recommandés avec leurs informations principales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8501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E86FB8-F703-2FF3-D01C-B57AD4C10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E5A6954D-B427-C793-AE67-633155062AD3}"/>
              </a:ext>
            </a:extLst>
          </p:cNvPr>
          <p:cNvSpPr txBox="1"/>
          <p:nvPr/>
        </p:nvSpPr>
        <p:spPr>
          <a:xfrm>
            <a:off x="4171390" y="0"/>
            <a:ext cx="3849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Construction du </a:t>
            </a:r>
            <a:r>
              <a:rPr lang="fr-FR" sz="2800" b="1" dirty="0" err="1"/>
              <a:t>chatbot</a:t>
            </a:r>
            <a:endParaRPr lang="fr-FR" sz="28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CA96E90-7E72-E61C-FC69-74F0BFD531C5}"/>
              </a:ext>
            </a:extLst>
          </p:cNvPr>
          <p:cNvSpPr txBox="1"/>
          <p:nvPr/>
        </p:nvSpPr>
        <p:spPr>
          <a:xfrm>
            <a:off x="0" y="2136338"/>
            <a:ext cx="917089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b="1" dirty="0"/>
              <a:t>Orchestration avec </a:t>
            </a:r>
            <a:r>
              <a:rPr lang="fr-FR" sz="2000" b="1" dirty="0" err="1"/>
              <a:t>LangChain</a:t>
            </a:r>
            <a:endParaRPr lang="fr-FR" sz="2000" b="1" dirty="0"/>
          </a:p>
          <a:p>
            <a:pPr>
              <a:buNone/>
            </a:pPr>
            <a:endParaRPr lang="fr-FR" sz="2000" b="1" dirty="0"/>
          </a:p>
          <a:p>
            <a:pPr>
              <a:buNone/>
            </a:pPr>
            <a:r>
              <a:rPr lang="fr-FR" sz="2000" b="1" dirty="0"/>
              <a:t>Rôle de </a:t>
            </a:r>
            <a:r>
              <a:rPr lang="fr-FR" sz="2000" b="1" dirty="0" err="1"/>
              <a:t>LangChain</a:t>
            </a:r>
            <a:endParaRPr lang="fr-FR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Connexion entre FAISS et Mistral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Gestion du pipeline RAG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Transmission du contexte au LLM 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000" dirty="0"/>
          </a:p>
          <a:p>
            <a:pPr>
              <a:buNone/>
            </a:pPr>
            <a:r>
              <a:rPr lang="fr-FR" sz="2000" b="1" dirty="0"/>
              <a:t>Avantages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Modularité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Simplification du développement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Intégration des composants IA </a:t>
            </a:r>
          </a:p>
        </p:txBody>
      </p:sp>
    </p:spTree>
    <p:extLst>
      <p:ext uri="{BB962C8B-B14F-4D97-AF65-F5344CB8AC3E}">
        <p14:creationId xmlns:p14="http://schemas.microsoft.com/office/powerpoint/2010/main" val="713382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6F2A1D-D279-95DB-BB14-E26FC8F64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7F4574AE-1B9B-C09F-5B19-EDA6B5CCC283}"/>
              </a:ext>
            </a:extLst>
          </p:cNvPr>
          <p:cNvSpPr txBox="1"/>
          <p:nvPr/>
        </p:nvSpPr>
        <p:spPr>
          <a:xfrm>
            <a:off x="5240992" y="97722"/>
            <a:ext cx="6098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Tests du </a:t>
            </a:r>
            <a:r>
              <a:rPr lang="fr-FR" sz="2800" b="1" dirty="0" err="1"/>
              <a:t>chatbot</a:t>
            </a:r>
            <a:endParaRPr lang="fr-FR" sz="2800" b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6CA8C57-7E8F-9468-35C2-7E70E18E07EE}"/>
              </a:ext>
            </a:extLst>
          </p:cNvPr>
          <p:cNvSpPr txBox="1"/>
          <p:nvPr/>
        </p:nvSpPr>
        <p:spPr>
          <a:xfrm>
            <a:off x="158003" y="786296"/>
            <a:ext cx="593799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Tests du </a:t>
            </a:r>
            <a:r>
              <a:rPr lang="fr-FR" b="1" dirty="0" err="1"/>
              <a:t>chatbot</a:t>
            </a:r>
            <a:endParaRPr lang="fr-FR" b="1" dirty="0"/>
          </a:p>
          <a:p>
            <a:pPr>
              <a:buNone/>
            </a:pPr>
            <a:endParaRPr lang="fr-FR" b="1" dirty="0"/>
          </a:p>
          <a:p>
            <a:pPr>
              <a:buNone/>
            </a:pPr>
            <a:r>
              <a:rPr lang="fr-FR" b="1" dirty="0"/>
              <a:t>Tests réalisés</a:t>
            </a:r>
          </a:p>
          <a:p>
            <a:pPr>
              <a:buNone/>
            </a:pPr>
            <a:endParaRPr lang="fr-FR" b="1" dirty="0"/>
          </a:p>
          <a:p>
            <a:pPr>
              <a:buNone/>
            </a:pPr>
            <a:r>
              <a:rPr lang="fr-FR" b="1" dirty="0"/>
              <a:t>Recherche sémantique avec FAISS</a:t>
            </a:r>
            <a:endParaRPr lang="fr-FR" dirty="0"/>
          </a:p>
          <a:p>
            <a:pPr>
              <a:buNone/>
            </a:pPr>
            <a:r>
              <a:rPr lang="fr-FR" dirty="0"/>
              <a:t>Question :</a:t>
            </a:r>
          </a:p>
          <a:p>
            <a:pPr>
              <a:buNone/>
            </a:pPr>
            <a:r>
              <a:rPr lang="fr-FR" dirty="0"/>
              <a:t>Concert gratuit à Paris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b="1" dirty="0"/>
              <a:t>Résultat</a:t>
            </a:r>
          </a:p>
          <a:p>
            <a:pPr>
              <a:buNone/>
            </a:pPr>
            <a:r>
              <a:rPr lang="fr-FR" dirty="0"/>
              <a:t>FAISS retrouve automatiquement les événements les plus similaires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Concerts gratuits : La parade &amp; </a:t>
            </a:r>
            <a:r>
              <a:rPr lang="fr-FR" dirty="0" err="1"/>
              <a:t>Laelou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Concert Fraternité l'Écoute de la rue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Concert – Mille Chœurs pour un Regard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Concert des Lauréats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Concert 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None/>
            </a:pPr>
            <a:r>
              <a:rPr lang="fr-FR" b="1" dirty="0"/>
              <a:t>Validation</a:t>
            </a:r>
          </a:p>
          <a:p>
            <a:pPr>
              <a:buNone/>
            </a:pPr>
            <a:r>
              <a:rPr lang="fr-FR" dirty="0"/>
              <a:t>Recherche fonctionnelle</a:t>
            </a:r>
          </a:p>
          <a:p>
            <a:pPr>
              <a:buNone/>
            </a:pPr>
            <a:r>
              <a:rPr lang="fr-FR" dirty="0"/>
              <a:t>Événements pertinents retrouvés</a:t>
            </a:r>
          </a:p>
          <a:p>
            <a:pPr>
              <a:buNone/>
            </a:pPr>
            <a:r>
              <a:rPr lang="fr-FR" dirty="0"/>
              <a:t>Top 5 résultats retournés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5E5B60E-443E-DAA0-3569-DDA11ACFA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223" y="620942"/>
            <a:ext cx="5642535" cy="416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848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E106F9-050D-37B3-BD67-8A854393C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5CDB0F1-E4A7-C849-80B8-BE8FD8DEC7DA}"/>
              </a:ext>
            </a:extLst>
          </p:cNvPr>
          <p:cNvSpPr txBox="1"/>
          <p:nvPr/>
        </p:nvSpPr>
        <p:spPr>
          <a:xfrm>
            <a:off x="5240992" y="97722"/>
            <a:ext cx="6098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Tests du </a:t>
            </a:r>
            <a:r>
              <a:rPr lang="fr-FR" sz="2800" b="1" dirty="0" err="1"/>
              <a:t>chatbot</a:t>
            </a:r>
            <a:endParaRPr lang="fr-FR" sz="28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803761E-2DF2-A232-2FD0-403BD9ED8509}"/>
              </a:ext>
            </a:extLst>
          </p:cNvPr>
          <p:cNvSpPr txBox="1"/>
          <p:nvPr/>
        </p:nvSpPr>
        <p:spPr>
          <a:xfrm>
            <a:off x="158003" y="620942"/>
            <a:ext cx="5082989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Exemples de recommandations</a:t>
            </a:r>
          </a:p>
          <a:p>
            <a:pPr>
              <a:buNone/>
            </a:pPr>
            <a:endParaRPr lang="fr-FR" b="1" dirty="0"/>
          </a:p>
          <a:p>
            <a:pPr>
              <a:buNone/>
            </a:pPr>
            <a:r>
              <a:rPr lang="fr-FR" b="1" dirty="0"/>
              <a:t>Question utilisateur</a:t>
            </a:r>
          </a:p>
          <a:p>
            <a:pPr>
              <a:buNone/>
            </a:pPr>
            <a:r>
              <a:rPr lang="fr-FR" dirty="0"/>
              <a:t>Donne-moi des événements pour enfants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b="1" dirty="0"/>
              <a:t>Réponse générée par l'IA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 Jardin des Mômes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Café des Enfants du Printemps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Café des enfants avec la Cie les Enfants Sérieux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Café des enfants de l'automne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Café des enfants avec Festival Temps de Cirques 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None/>
            </a:pPr>
            <a:r>
              <a:rPr lang="fr-FR" b="1" dirty="0"/>
              <a:t>Informations fournies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Lieu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Description 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None/>
            </a:pPr>
            <a:r>
              <a:rPr lang="fr-FR" b="1" dirty="0"/>
              <a:t>Validation</a:t>
            </a:r>
          </a:p>
          <a:p>
            <a:pPr>
              <a:buNone/>
            </a:pPr>
            <a:r>
              <a:rPr lang="fr-FR" dirty="0"/>
              <a:t>Réponse naturelle</a:t>
            </a:r>
          </a:p>
          <a:p>
            <a:pPr>
              <a:buNone/>
            </a:pPr>
            <a:r>
              <a:rPr lang="fr-FR" dirty="0"/>
              <a:t>Réponse contextualisée</a:t>
            </a:r>
          </a:p>
          <a:p>
            <a:pPr>
              <a:buNone/>
            </a:pPr>
            <a:r>
              <a:rPr lang="fr-FR" dirty="0"/>
              <a:t>Recommandations adaptées à la demande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44FADDA-B761-85DF-DA10-B43C717FD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187" y="716458"/>
            <a:ext cx="6314141" cy="407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025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0C341E-E7FA-2EE6-974B-04A70B97C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CB4CEEF-6902-3859-28D7-E207EECEE8C6}"/>
              </a:ext>
            </a:extLst>
          </p:cNvPr>
          <p:cNvSpPr txBox="1"/>
          <p:nvPr/>
        </p:nvSpPr>
        <p:spPr>
          <a:xfrm>
            <a:off x="5240992" y="97722"/>
            <a:ext cx="6098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Tests du </a:t>
            </a:r>
            <a:r>
              <a:rPr lang="fr-FR" sz="2800" b="1" dirty="0" err="1"/>
              <a:t>chatbot</a:t>
            </a:r>
            <a:endParaRPr lang="fr-FR" sz="28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9FE801E-AC7C-565F-258D-DDB470D562A0}"/>
              </a:ext>
            </a:extLst>
          </p:cNvPr>
          <p:cNvSpPr txBox="1"/>
          <p:nvPr/>
        </p:nvSpPr>
        <p:spPr>
          <a:xfrm>
            <a:off x="131108" y="1859339"/>
            <a:ext cx="889186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Évaluation des réponses</a:t>
            </a:r>
          </a:p>
          <a:p>
            <a:pPr>
              <a:buNone/>
            </a:pPr>
            <a:endParaRPr lang="fr-FR" b="1" dirty="0"/>
          </a:p>
          <a:p>
            <a:pPr>
              <a:buNone/>
            </a:pPr>
            <a:r>
              <a:rPr lang="fr-FR" b="1" dirty="0"/>
              <a:t>Critères évalués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Pertinence des événements retrouvés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Cohérence des recommandations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Qualité des réponses générées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Compréhension des intentions utilisateur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</a:t>
            </a:r>
          </a:p>
          <a:p>
            <a:pPr>
              <a:buNone/>
            </a:pPr>
            <a:r>
              <a:rPr lang="fr-FR" b="1" dirty="0"/>
              <a:t>Résultats obtenus</a:t>
            </a:r>
          </a:p>
          <a:p>
            <a:pPr>
              <a:buNone/>
            </a:pPr>
            <a:r>
              <a:rPr lang="fr-FR" dirty="0"/>
              <a:t>Recherche sémantique efficace</a:t>
            </a:r>
          </a:p>
          <a:p>
            <a:pPr>
              <a:buNone/>
            </a:pPr>
            <a:r>
              <a:rPr lang="fr-FR" dirty="0"/>
              <a:t>Réponses générées cohérentes</a:t>
            </a:r>
          </a:p>
          <a:p>
            <a:pPr>
              <a:buNone/>
            </a:pPr>
            <a:r>
              <a:rPr lang="fr-FR" dirty="0"/>
              <a:t>Recommandations personnalisées</a:t>
            </a:r>
          </a:p>
          <a:p>
            <a:pPr>
              <a:buNone/>
            </a:pPr>
            <a:r>
              <a:rPr lang="fr-FR" dirty="0"/>
              <a:t>Fonctionnement complet du système RAG</a:t>
            </a:r>
          </a:p>
        </p:txBody>
      </p:sp>
    </p:spTree>
    <p:extLst>
      <p:ext uri="{BB962C8B-B14F-4D97-AF65-F5344CB8AC3E}">
        <p14:creationId xmlns:p14="http://schemas.microsoft.com/office/powerpoint/2010/main" val="3688545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C3ADBA-03C9-F913-6208-C66A27B17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79FF08E2-8906-4DA6-DD35-E3EACE84CA6D}"/>
              </a:ext>
            </a:extLst>
          </p:cNvPr>
          <p:cNvSpPr txBox="1"/>
          <p:nvPr/>
        </p:nvSpPr>
        <p:spPr>
          <a:xfrm>
            <a:off x="5146040" y="-81280"/>
            <a:ext cx="189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Conclusion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CACBA7F-2338-DA23-A968-3BC14CC7C9DE}"/>
              </a:ext>
            </a:extLst>
          </p:cNvPr>
          <p:cNvSpPr txBox="1"/>
          <p:nvPr/>
        </p:nvSpPr>
        <p:spPr>
          <a:xfrm>
            <a:off x="121920" y="1997839"/>
            <a:ext cx="117043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b="1" dirty="0"/>
              <a:t>Bilan du projet</a:t>
            </a:r>
          </a:p>
          <a:p>
            <a:pPr>
              <a:buNone/>
            </a:pPr>
            <a:endParaRPr lang="fr-FR" sz="2000" b="1" dirty="0"/>
          </a:p>
          <a:p>
            <a:pPr>
              <a:buNone/>
            </a:pPr>
            <a:r>
              <a:rPr lang="fr-FR" sz="2000" b="1" dirty="0"/>
              <a:t>Réalisations principales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Collecte de plus de 200 000 événements via l’API </a:t>
            </a:r>
            <a:r>
              <a:rPr lang="fr-FR" sz="2000" dirty="0" err="1"/>
              <a:t>OpenAgenda</a:t>
            </a:r>
            <a:r>
              <a:rPr lang="fr-FR" sz="20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Nettoyage et préparation des données.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Génération des </a:t>
            </a:r>
            <a:r>
              <a:rPr lang="fr-FR" sz="2000" dirty="0" err="1"/>
              <a:t>embeddings</a:t>
            </a:r>
            <a:r>
              <a:rPr lang="fr-FR" sz="2000" dirty="0"/>
              <a:t> avec Mistral AI.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Création d’une base vectorielle FAISS.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Développement d’un </a:t>
            </a:r>
            <a:r>
              <a:rPr lang="fr-FR" sz="2000" dirty="0" err="1"/>
              <a:t>chatbot</a:t>
            </a:r>
            <a:r>
              <a:rPr lang="fr-FR" sz="2000" dirty="0"/>
              <a:t> RAG avec </a:t>
            </a:r>
            <a:r>
              <a:rPr lang="fr-FR" sz="2000" dirty="0" err="1"/>
              <a:t>LangChain</a:t>
            </a:r>
            <a:r>
              <a:rPr lang="fr-FR" sz="2000" dirty="0"/>
              <a:t> et Mistral. 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000" dirty="0"/>
          </a:p>
          <a:p>
            <a:pPr>
              <a:buNone/>
            </a:pPr>
            <a:r>
              <a:rPr lang="fr-FR" sz="2000" b="1" dirty="0"/>
              <a:t>Résultat</a:t>
            </a:r>
          </a:p>
          <a:p>
            <a:pPr>
              <a:buNone/>
            </a:pPr>
            <a:r>
              <a:rPr lang="fr-FR" sz="2000" dirty="0"/>
              <a:t>Mise en place d’un système capable de recommander des événements culturels de manière intelligente et contextualisée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3846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988CD4-8C54-2AF2-0752-CEDEFE8BF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6D2A28B-B72E-A481-559A-7DAB641F26FD}"/>
              </a:ext>
            </a:extLst>
          </p:cNvPr>
          <p:cNvSpPr txBox="1"/>
          <p:nvPr/>
        </p:nvSpPr>
        <p:spPr>
          <a:xfrm>
            <a:off x="5146040" y="-81280"/>
            <a:ext cx="189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Conclusion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876969A-8E69-CE8F-BBB5-69F2BDFD563E}"/>
              </a:ext>
            </a:extLst>
          </p:cNvPr>
          <p:cNvSpPr txBox="1"/>
          <p:nvPr/>
        </p:nvSpPr>
        <p:spPr>
          <a:xfrm>
            <a:off x="193040" y="1443841"/>
            <a:ext cx="82499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b="1" dirty="0"/>
              <a:t>Difficultés rencontrées</a:t>
            </a:r>
          </a:p>
          <a:p>
            <a:pPr>
              <a:buNone/>
            </a:pPr>
            <a:endParaRPr lang="fr-FR" sz="2000" b="1" dirty="0"/>
          </a:p>
          <a:p>
            <a:pPr>
              <a:buNone/>
            </a:pPr>
            <a:r>
              <a:rPr lang="fr-FR" sz="2000" b="1" dirty="0"/>
              <a:t>Difficultés techniques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Volume important de données à traiter.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Présence de doublons et de valeurs manquantes.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Compréhension du fonctionnement des </a:t>
            </a:r>
            <a:r>
              <a:rPr lang="fr-FR" sz="2000" dirty="0" err="1"/>
              <a:t>embeddings</a:t>
            </a:r>
            <a:r>
              <a:rPr lang="fr-FR" sz="20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Mise en place de la recherche sémantique avec FAISS.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Gestion des limites de requêtes de l’API Mistral. 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000" dirty="0"/>
          </a:p>
          <a:p>
            <a:pPr>
              <a:buNone/>
            </a:pPr>
            <a:r>
              <a:rPr lang="fr-FR" sz="2000" b="1" dirty="0"/>
              <a:t>Solutions apportées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Nettoyage rigoureux des données.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Suppression des doublons.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Filtrage des événements pertinents.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Traitement par lots des </a:t>
            </a:r>
            <a:r>
              <a:rPr lang="fr-FR" sz="2000" dirty="0" err="1"/>
              <a:t>embeddings</a:t>
            </a:r>
            <a:r>
              <a:rPr lang="fr-F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3558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747E05-93D8-3B6A-CF81-B131B583D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B25C994-09D2-BF35-8B92-FA2317FD7B8D}"/>
              </a:ext>
            </a:extLst>
          </p:cNvPr>
          <p:cNvSpPr txBox="1"/>
          <p:nvPr/>
        </p:nvSpPr>
        <p:spPr>
          <a:xfrm>
            <a:off x="5146040" y="-81280"/>
            <a:ext cx="189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Conclusion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ED882E2-BBD8-17C5-8072-2DE70555DDDD}"/>
              </a:ext>
            </a:extLst>
          </p:cNvPr>
          <p:cNvSpPr txBox="1"/>
          <p:nvPr/>
        </p:nvSpPr>
        <p:spPr>
          <a:xfrm>
            <a:off x="193040" y="2088218"/>
            <a:ext cx="818896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Améliorations possibles</a:t>
            </a:r>
          </a:p>
          <a:p>
            <a:pPr>
              <a:buNone/>
            </a:pPr>
            <a:endParaRPr lang="fr-FR" b="1" dirty="0"/>
          </a:p>
          <a:p>
            <a:pPr>
              <a:buNone/>
            </a:pPr>
            <a:r>
              <a:rPr lang="fr-FR" sz="2000" b="1" dirty="0"/>
              <a:t>Perspectives d'évolution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Développement d’une interface web interactive.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Ajout de filtres avancés (ville, date, catégorie).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Mise à jour automatique des événements.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Amélioration de la personnalisation des recommandations.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Déploiement du </a:t>
            </a:r>
            <a:r>
              <a:rPr lang="fr-FR" sz="2000" dirty="0" err="1"/>
              <a:t>chatbot</a:t>
            </a:r>
            <a:r>
              <a:rPr lang="fr-FR" sz="2000" dirty="0"/>
              <a:t> en production.</a:t>
            </a:r>
          </a:p>
        </p:txBody>
      </p:sp>
    </p:spTree>
    <p:extLst>
      <p:ext uri="{BB962C8B-B14F-4D97-AF65-F5344CB8AC3E}">
        <p14:creationId xmlns:p14="http://schemas.microsoft.com/office/powerpoint/2010/main" val="3298730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8ECEAF-D033-624A-E3BF-6844D252F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4673ABF-DF4E-2772-7735-D72EE37637EC}"/>
              </a:ext>
            </a:extLst>
          </p:cNvPr>
          <p:cNvSpPr txBox="1"/>
          <p:nvPr/>
        </p:nvSpPr>
        <p:spPr>
          <a:xfrm>
            <a:off x="5146040" y="-81280"/>
            <a:ext cx="189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Conclusion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EA1C8FA-20E0-2B7F-D423-7FC0AA62619E}"/>
              </a:ext>
            </a:extLst>
          </p:cNvPr>
          <p:cNvSpPr txBox="1"/>
          <p:nvPr/>
        </p:nvSpPr>
        <p:spPr>
          <a:xfrm>
            <a:off x="111760" y="1859339"/>
            <a:ext cx="118160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Réponse à la problématique</a:t>
            </a:r>
          </a:p>
          <a:p>
            <a:pPr>
              <a:buNone/>
            </a:pPr>
            <a:r>
              <a:rPr lang="fr-FR" b="1" dirty="0"/>
              <a:t>Problématique</a:t>
            </a:r>
          </a:p>
          <a:p>
            <a:pPr>
              <a:buNone/>
            </a:pPr>
            <a:r>
              <a:rPr lang="fr-FR" dirty="0"/>
              <a:t>Développer un </a:t>
            </a:r>
            <a:r>
              <a:rPr lang="fr-FR" dirty="0" err="1"/>
              <a:t>chatbot</a:t>
            </a:r>
            <a:r>
              <a:rPr lang="fr-FR" dirty="0"/>
              <a:t> intelligent capable de fournir des recommandations personnalisées basées sur les événements indexés et de générer des réponses augmentées à partir d'une base vectorielle.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b="1" dirty="0"/>
              <a:t>Réponse</a:t>
            </a:r>
          </a:p>
          <a:p>
            <a:pPr>
              <a:buNone/>
            </a:pPr>
            <a:r>
              <a:rPr lang="fr-FR" dirty="0"/>
              <a:t>L’architecture RAG mise en place combine </a:t>
            </a:r>
            <a:r>
              <a:rPr lang="fr-FR" dirty="0" err="1"/>
              <a:t>OpenAgenda</a:t>
            </a:r>
            <a:r>
              <a:rPr lang="fr-FR" dirty="0"/>
              <a:t>, Mistral AI, FAISS et </a:t>
            </a:r>
            <a:r>
              <a:rPr lang="fr-FR" dirty="0" err="1"/>
              <a:t>LangChain</a:t>
            </a:r>
            <a:r>
              <a:rPr lang="fr-FR" dirty="0"/>
              <a:t> pour retrouver les événements les plus pertinents et générer des réponses naturelles adaptées aux besoins des utilisateurs.</a:t>
            </a:r>
          </a:p>
        </p:txBody>
      </p:sp>
    </p:spTree>
    <p:extLst>
      <p:ext uri="{BB962C8B-B14F-4D97-AF65-F5344CB8AC3E}">
        <p14:creationId xmlns:p14="http://schemas.microsoft.com/office/powerpoint/2010/main" val="379332287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</TotalTime>
  <Words>1308</Words>
  <Application>Microsoft Macintosh PowerPoint</Application>
  <PresentationFormat>Grand écran</PresentationFormat>
  <Paragraphs>335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Aime ENDAYE MAZINA</dc:creator>
  <cp:lastModifiedBy>Aime ENDAYE MAZINA</cp:lastModifiedBy>
  <cp:revision>1</cp:revision>
  <dcterms:created xsi:type="dcterms:W3CDTF">2026-06-08T11:11:06Z</dcterms:created>
  <dcterms:modified xsi:type="dcterms:W3CDTF">2026-06-08T23:24:40Z</dcterms:modified>
</cp:coreProperties>
</file>