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sldIdLst>
    <p:sldId id="262" r:id="rId5"/>
    <p:sldId id="261" r:id="rId6"/>
    <p:sldId id="259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7" r:id="rId16"/>
    <p:sldId id="276" r:id="rId17"/>
    <p:sldId id="274" r:id="rId18"/>
    <p:sldId id="275" r:id="rId19"/>
    <p:sldId id="273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178"/>
    <p:restoredTop sz="94647"/>
  </p:normalViewPr>
  <p:slideViewPr>
    <p:cSldViewPr snapToGrid="0" snapToObjects="1">
      <p:cViewPr varScale="1">
        <p:scale>
          <a:sx n="87" d="100"/>
          <a:sy n="87" d="100"/>
        </p:scale>
        <p:origin x="200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2E28"/>
            </a:gs>
            <a:gs pos="50000">
              <a:srgbClr val="1E3830"/>
            </a:gs>
            <a:gs pos="100000">
              <a:srgbClr val="142420"/>
            </a:gs>
          </a:gsLst>
          <a:lin ang="3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  <p:sp>
        <p:nvSpPr>
          <p:cNvPr id="1001" name="AccentBar"/>
          <p:cNvSpPr/>
          <p:nvPr/>
        </p:nvSpPr>
        <p:spPr>
          <a:xfrm>
            <a:off x="0" y="6583050"/>
            <a:ext cx="12192000" cy="274320"/>
          </a:xfrm>
          <a:prstGeom prst="rect">
            <a:avLst/>
          </a:prstGeom>
          <a:gradFill>
            <a:gsLst>
              <a:gs pos="0">
                <a:srgbClr val="4CAF50"/>
              </a:gs>
              <a:gs pos="60000">
                <a:srgbClr val="26A69A"/>
              </a:gs>
              <a:gs pos="100000">
                <a:srgbClr val="00897B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02" name="CornerAccent"/>
          <p:cNvSpPr/>
          <p:nvPr/>
        </p:nvSpPr>
        <p:spPr>
          <a:xfrm flipH="1">
            <a:off x="10972800" y="0"/>
            <a:ext cx="1219200" cy="1219200"/>
          </a:xfrm>
          <a:prstGeom prst="rtTriangle">
            <a:avLst/>
          </a:prstGeom>
          <a:solidFill>
            <a:srgbClr val="4CAF50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03" name="TitleSeparator"/>
          <p:cNvSpPr/>
          <p:nvPr/>
        </p:nvSpPr>
        <p:spPr>
          <a:xfrm>
            <a:off x="457200" y="1600200"/>
            <a:ext cx="3657600" cy="18288"/>
          </a:xfrm>
          <a:prstGeom prst="rect">
            <a:avLst/>
          </a:prstGeom>
          <a:solidFill>
            <a:srgbClr val="4CAF50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4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4E8D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D4E8D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D4E8D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4E8D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4E8D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4E8D4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4E8D4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4E8D4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4E8D4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D4E8D4"/>
          </a:solidFill>
        </a:defRPr>
      </a:defPPr>
      <a:lvl1pPr marL="0" algn="l" defTabSz="914400" rtl="0" eaLnBrk="1" latinLnBrk="0" hangingPunct="1">
        <a:defRPr sz="1800" kern="1200">
          <a:solidFill>
            <a:srgbClr val="D4E8D4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D4E8D4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D4E8D4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D4E8D4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D4E8D4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D4E8D4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D4E8D4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D4E8D4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D4E8D4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7762BA-7DB6-B8F7-0B23-A2BFDA087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D493367-BD44-8C41-356B-F7B7B8BCCB96}"/>
              </a:ext>
            </a:extLst>
          </p:cNvPr>
          <p:cNvSpPr txBox="1"/>
          <p:nvPr/>
        </p:nvSpPr>
        <p:spPr>
          <a:xfrm>
            <a:off x="0" y="1673275"/>
            <a:ext cx="118872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4400" b="1" dirty="0"/>
              <a:t>Pipeline de données météorologiques pour la prévision énergétique :</a:t>
            </a:r>
            <a:endParaRPr lang="fr-FR" sz="4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4876CD9-BF5B-89DC-88DA-50EC0BF4AB69}"/>
              </a:ext>
            </a:extLst>
          </p:cNvPr>
          <p:cNvSpPr txBox="1"/>
          <p:nvPr/>
        </p:nvSpPr>
        <p:spPr>
          <a:xfrm>
            <a:off x="0" y="3269198"/>
            <a:ext cx="74980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Projet de Data Engineering</a:t>
            </a:r>
            <a:br>
              <a:rPr lang="fr-FR" sz="2800" dirty="0"/>
            </a:br>
            <a:r>
              <a:rPr lang="fr-FR" sz="2800" dirty="0"/>
              <a:t>Ingestion, transformation et fiabilisation des données et déploiement sur AWS</a:t>
            </a:r>
          </a:p>
        </p:txBody>
      </p:sp>
    </p:spTree>
    <p:extLst>
      <p:ext uri="{BB962C8B-B14F-4D97-AF65-F5344CB8AC3E}">
        <p14:creationId xmlns:p14="http://schemas.microsoft.com/office/powerpoint/2010/main" val="1996831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0AD7BE-01DD-F174-3B9C-B1A5CEDCA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B448CD0-5D5E-302F-B21B-3FFEE2A4B621}"/>
              </a:ext>
            </a:extLst>
          </p:cNvPr>
          <p:cNvSpPr txBox="1"/>
          <p:nvPr/>
        </p:nvSpPr>
        <p:spPr>
          <a:xfrm>
            <a:off x="1178560" y="1028343"/>
            <a:ext cx="831203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+mj-lt"/>
              <a:buAutoNum type="arabicPeriod"/>
            </a:pPr>
            <a:r>
              <a:rPr lang="fr-FR" b="1" dirty="0"/>
              <a:t>Introduction</a:t>
            </a:r>
            <a:br>
              <a:rPr lang="fr-FR" dirty="0"/>
            </a:br>
            <a:r>
              <a:rPr lang="fr-FR" dirty="0"/>
              <a:t>Contexte du projet, problématique et objectifs </a:t>
            </a:r>
          </a:p>
          <a:p>
            <a:pPr algn="ctr">
              <a:buFont typeface="+mj-lt"/>
              <a:buAutoNum type="arabicPeriod"/>
            </a:pPr>
            <a:endParaRPr lang="fr-FR" dirty="0"/>
          </a:p>
          <a:p>
            <a:pPr algn="ctr">
              <a:buFont typeface="+mj-lt"/>
              <a:buAutoNum type="arabicPeriod"/>
            </a:pPr>
            <a:r>
              <a:rPr lang="fr-FR" b="1" dirty="0"/>
              <a:t>Schéma de la base de données</a:t>
            </a:r>
            <a:br>
              <a:rPr lang="fr-FR" dirty="0"/>
            </a:br>
            <a:r>
              <a:rPr lang="fr-FR" dirty="0"/>
              <a:t>Modélisation des données, relations entre les tables et interrogation via SQL </a:t>
            </a:r>
          </a:p>
          <a:p>
            <a:pPr marL="342900" indent="-342900" algn="ctr">
              <a:buFont typeface="+mj-lt"/>
              <a:buAutoNum type="arabicPeriod"/>
            </a:pPr>
            <a:endParaRPr lang="fr-FR" dirty="0"/>
          </a:p>
          <a:p>
            <a:pPr marL="342900" indent="-342900" algn="ctr">
              <a:buFont typeface="+mj-lt"/>
              <a:buAutoNum type="arabicPeriod"/>
            </a:pPr>
            <a:r>
              <a:rPr lang="fr-FR" b="1" dirty="0"/>
              <a:t>Pipeline de données</a:t>
            </a:r>
            <a:br>
              <a:rPr lang="fr-FR" dirty="0"/>
            </a:br>
            <a:r>
              <a:rPr lang="fr-FR" dirty="0"/>
              <a:t>Collecte, stockage, transformation et tests des données </a:t>
            </a:r>
          </a:p>
          <a:p>
            <a:pPr algn="ctr">
              <a:buFont typeface="+mj-lt"/>
              <a:buAutoNum type="arabicPeriod"/>
            </a:pPr>
            <a:endParaRPr lang="fr-FR" dirty="0"/>
          </a:p>
          <a:p>
            <a:pPr algn="ctr">
              <a:buFont typeface="+mj-lt"/>
              <a:buAutoNum type="arabicPeriod"/>
            </a:pPr>
            <a:r>
              <a:rPr lang="fr-FR" b="1" dirty="0"/>
              <a:t>Architecture de la solution</a:t>
            </a:r>
            <a:br>
              <a:rPr lang="fr-FR" dirty="0"/>
            </a:br>
            <a:r>
              <a:rPr lang="fr-FR" dirty="0"/>
              <a:t>Environnement local et cloud (AWS) et flux de données </a:t>
            </a:r>
          </a:p>
          <a:p>
            <a:pPr algn="ctr">
              <a:buFont typeface="+mj-lt"/>
              <a:buAutoNum type="arabicPeriod"/>
            </a:pPr>
            <a:endParaRPr lang="fr-FR" dirty="0"/>
          </a:p>
          <a:p>
            <a:pPr algn="ctr">
              <a:buFont typeface="+mj-lt"/>
              <a:buAutoNum type="arabicPeriod"/>
            </a:pPr>
            <a:r>
              <a:rPr lang="fr-FR" b="1" dirty="0"/>
              <a:t>Qualité et accessibilité des données</a:t>
            </a:r>
            <a:br>
              <a:rPr lang="fr-FR" dirty="0"/>
            </a:br>
            <a:r>
              <a:rPr lang="fr-FR" dirty="0"/>
              <a:t>Tests DBT, fiabilité et accessibilité des données </a:t>
            </a:r>
          </a:p>
          <a:p>
            <a:pPr algn="ctr">
              <a:buFont typeface="+mj-lt"/>
              <a:buAutoNum type="arabicPeriod"/>
            </a:pPr>
            <a:endParaRPr lang="fr-FR" dirty="0"/>
          </a:p>
          <a:p>
            <a:pPr algn="ctr">
              <a:buFont typeface="+mj-lt"/>
              <a:buAutoNum type="arabicPeriod"/>
            </a:pPr>
            <a:r>
              <a:rPr lang="fr-FR" b="1" dirty="0"/>
              <a:t>Conclusion</a:t>
            </a:r>
            <a:br>
              <a:rPr lang="fr-FR" dirty="0"/>
            </a:br>
            <a:r>
              <a:rPr lang="fr-FR" dirty="0"/>
              <a:t>Résultats et perspectives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7152C7F-BC89-2071-9B3D-079680C230A6}"/>
              </a:ext>
            </a:extLst>
          </p:cNvPr>
          <p:cNvSpPr txBox="1"/>
          <p:nvPr/>
        </p:nvSpPr>
        <p:spPr>
          <a:xfrm>
            <a:off x="4430335" y="255148"/>
            <a:ext cx="18084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dirty="0"/>
              <a:t>SOMMAIRE :</a:t>
            </a:r>
          </a:p>
        </p:txBody>
      </p:sp>
    </p:spTree>
    <p:extLst>
      <p:ext uri="{BB962C8B-B14F-4D97-AF65-F5344CB8AC3E}">
        <p14:creationId xmlns:p14="http://schemas.microsoft.com/office/powerpoint/2010/main" val="3279091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34390ACA-2092-2379-3060-5330A82DFB50}"/>
              </a:ext>
            </a:extLst>
          </p:cNvPr>
          <p:cNvSpPr txBox="1"/>
          <p:nvPr/>
        </p:nvSpPr>
        <p:spPr>
          <a:xfrm>
            <a:off x="0" y="1633927"/>
            <a:ext cx="1021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Contexte :</a:t>
            </a:r>
          </a:p>
          <a:p>
            <a:pPr>
              <a:buNone/>
            </a:pPr>
            <a:r>
              <a:rPr lang="fr-FR" dirty="0"/>
              <a:t>• GreenCoop souhaite améliorer ses modèles de prévision de la demande énergétique</a:t>
            </a:r>
            <a:br>
              <a:rPr lang="fr-FR" dirty="0"/>
            </a:br>
            <a:r>
              <a:rPr lang="fr-FR" dirty="0"/>
              <a:t>• Intégration de nouvelles données météorologiques issues de différentes sources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AEFD9FC-564A-0641-D31D-8088E0384662}"/>
              </a:ext>
            </a:extLst>
          </p:cNvPr>
          <p:cNvSpPr txBox="1"/>
          <p:nvPr/>
        </p:nvSpPr>
        <p:spPr>
          <a:xfrm>
            <a:off x="0" y="3422073"/>
            <a:ext cx="9621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Problématique</a:t>
            </a:r>
          </a:p>
          <a:p>
            <a:pPr>
              <a:buNone/>
            </a:pPr>
            <a:r>
              <a:rPr lang="fr-FR" dirty="0"/>
              <a:t>Comment mettre en place un pipeline de données fiable, automatisé et scalable pour intégrer et exploiter des données météorologiques hétérogènes ?</a:t>
            </a:r>
          </a:p>
        </p:txBody>
      </p:sp>
    </p:spTree>
    <p:extLst>
      <p:ext uri="{BB962C8B-B14F-4D97-AF65-F5344CB8AC3E}">
        <p14:creationId xmlns:p14="http://schemas.microsoft.com/office/powerpoint/2010/main" val="133489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263BA0-A3E9-268A-428D-59CA1721C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1A54F384-8593-CD24-E12A-3791F24136ED}"/>
              </a:ext>
            </a:extLst>
          </p:cNvPr>
          <p:cNvSpPr txBox="1"/>
          <p:nvPr/>
        </p:nvSpPr>
        <p:spPr>
          <a:xfrm>
            <a:off x="101600" y="1851859"/>
            <a:ext cx="11785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/>
              <a:t>Objectifs</a:t>
            </a:r>
          </a:p>
          <a:p>
            <a:pPr>
              <a:buNone/>
            </a:pPr>
            <a:r>
              <a:rPr lang="fr-FR" sz="2400" dirty="0"/>
              <a:t>• Mettre en place un pipeline de collecte et d’intégration des données (</a:t>
            </a:r>
            <a:r>
              <a:rPr lang="fr-FR" sz="2400" dirty="0" err="1"/>
              <a:t>Airbyte</a:t>
            </a:r>
            <a:r>
              <a:rPr lang="fr-FR" sz="2400" dirty="0"/>
              <a:t>)</a:t>
            </a:r>
            <a:br>
              <a:rPr lang="fr-FR" sz="2400" dirty="0"/>
            </a:br>
            <a:r>
              <a:rPr lang="fr-FR" sz="2400" dirty="0"/>
              <a:t>• Structurer et transformer les données avec DBT</a:t>
            </a:r>
            <a:br>
              <a:rPr lang="fr-FR" sz="2400" dirty="0"/>
            </a:br>
            <a:r>
              <a:rPr lang="fr-FR" sz="2400" dirty="0"/>
              <a:t>• Garantir la qualité et la fiabilité des données (tests DBT)</a:t>
            </a:r>
            <a:br>
              <a:rPr lang="fr-FR" sz="2400" dirty="0"/>
            </a:br>
            <a:r>
              <a:rPr lang="fr-FR" sz="2400" dirty="0"/>
              <a:t>• Centraliser les données dans PostgreSQL (AWS RDS)</a:t>
            </a:r>
            <a:br>
              <a:rPr lang="fr-FR" sz="2400" dirty="0"/>
            </a:br>
            <a:r>
              <a:rPr lang="fr-FR" sz="2400" dirty="0"/>
              <a:t>• Rendre les données accessibles pour les équipes Data Science</a:t>
            </a:r>
          </a:p>
        </p:txBody>
      </p:sp>
    </p:spTree>
    <p:extLst>
      <p:ext uri="{BB962C8B-B14F-4D97-AF65-F5344CB8AC3E}">
        <p14:creationId xmlns:p14="http://schemas.microsoft.com/office/powerpoint/2010/main" val="1748113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CB294-FBE8-8741-E042-44D525139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0F8D37E-FAE8-B64A-6249-D58052C9EFAD}"/>
              </a:ext>
            </a:extLst>
          </p:cNvPr>
          <p:cNvSpPr txBox="1"/>
          <p:nvPr/>
        </p:nvSpPr>
        <p:spPr>
          <a:xfrm>
            <a:off x="3749040" y="1070094"/>
            <a:ext cx="408432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dirty="0"/>
              <a:t>Tables principales :</a:t>
            </a:r>
          </a:p>
          <a:p>
            <a:pPr algn="ctr"/>
            <a:endParaRPr lang="fr-FR" sz="2000" b="1" dirty="0"/>
          </a:p>
          <a:p>
            <a:pPr algn="ctr"/>
            <a:r>
              <a:rPr lang="fr-FR" sz="2000" b="1" dirty="0" err="1"/>
              <a:t>dim_weather_stations</a:t>
            </a:r>
            <a:endParaRPr lang="fr-FR" sz="2000" dirty="0"/>
          </a:p>
          <a:p>
            <a:pPr algn="ctr"/>
            <a:r>
              <a:rPr lang="fr-FR" sz="2000" dirty="0" err="1"/>
              <a:t>station_id</a:t>
            </a:r>
            <a:r>
              <a:rPr lang="fr-FR" sz="2000" dirty="0"/>
              <a:t> (PK) </a:t>
            </a:r>
          </a:p>
          <a:p>
            <a:pPr algn="ctr"/>
            <a:r>
              <a:rPr lang="fr-FR" sz="2000" dirty="0" err="1"/>
              <a:t>station_name</a:t>
            </a:r>
            <a:r>
              <a:rPr lang="fr-FR" sz="2000" dirty="0"/>
              <a:t> </a:t>
            </a:r>
          </a:p>
          <a:p>
            <a:pPr algn="ctr"/>
            <a:r>
              <a:rPr lang="fr-FR" sz="2000" dirty="0"/>
              <a:t>latitude </a:t>
            </a:r>
          </a:p>
          <a:p>
            <a:pPr algn="ctr"/>
            <a:r>
              <a:rPr lang="fr-FR" sz="2000" dirty="0"/>
              <a:t>longitude </a:t>
            </a: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⬇️ relation (</a:t>
            </a:r>
            <a:r>
              <a:rPr lang="fr-FR" sz="2000" dirty="0" err="1"/>
              <a:t>station_id</a:t>
            </a:r>
            <a:r>
              <a:rPr lang="fr-FR" sz="2000" dirty="0"/>
              <a:t>)</a:t>
            </a:r>
          </a:p>
          <a:p>
            <a:pPr algn="ctr"/>
            <a:endParaRPr lang="fr-FR" sz="2000" dirty="0"/>
          </a:p>
          <a:p>
            <a:pPr algn="ctr"/>
            <a:r>
              <a:rPr lang="fr-FR" sz="2000" b="1" dirty="0" err="1"/>
              <a:t>fct_weather_observations</a:t>
            </a:r>
            <a:endParaRPr lang="fr-FR" sz="2000" dirty="0"/>
          </a:p>
          <a:p>
            <a:pPr algn="ctr"/>
            <a:r>
              <a:rPr lang="fr-FR" sz="2000" dirty="0" err="1"/>
              <a:t>observation_id</a:t>
            </a:r>
            <a:r>
              <a:rPr lang="fr-FR" sz="2000" dirty="0"/>
              <a:t> (PK) </a:t>
            </a:r>
          </a:p>
          <a:p>
            <a:pPr algn="ctr"/>
            <a:r>
              <a:rPr lang="fr-FR" sz="2000" dirty="0" err="1"/>
              <a:t>station_id</a:t>
            </a:r>
            <a:r>
              <a:rPr lang="fr-FR" sz="2000" dirty="0"/>
              <a:t> (FK) </a:t>
            </a:r>
          </a:p>
          <a:p>
            <a:pPr algn="ctr"/>
            <a:r>
              <a:rPr lang="fr-FR" sz="2000" dirty="0" err="1"/>
              <a:t>temperature</a:t>
            </a:r>
            <a:r>
              <a:rPr lang="fr-FR" sz="2000" dirty="0"/>
              <a:t> </a:t>
            </a:r>
          </a:p>
          <a:p>
            <a:pPr algn="ctr"/>
            <a:r>
              <a:rPr lang="fr-FR" sz="2000" dirty="0" err="1"/>
              <a:t>humidity</a:t>
            </a:r>
            <a:r>
              <a:rPr lang="fr-FR" sz="2000" dirty="0"/>
              <a:t> </a:t>
            </a:r>
          </a:p>
          <a:p>
            <a:pPr algn="ctr"/>
            <a:r>
              <a:rPr lang="fr-FR" sz="2000" dirty="0"/>
              <a:t>date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5D4E925-E736-31D9-84CB-5A47E642D792}"/>
              </a:ext>
            </a:extLst>
          </p:cNvPr>
          <p:cNvSpPr txBox="1"/>
          <p:nvPr/>
        </p:nvSpPr>
        <p:spPr>
          <a:xfrm>
            <a:off x="3423920" y="31825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Schéma de la base de données</a:t>
            </a:r>
          </a:p>
        </p:txBody>
      </p:sp>
    </p:spTree>
    <p:extLst>
      <p:ext uri="{BB962C8B-B14F-4D97-AF65-F5344CB8AC3E}">
        <p14:creationId xmlns:p14="http://schemas.microsoft.com/office/powerpoint/2010/main" val="3479938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7C4BF8-79DE-2F69-410C-3BA909D42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FA3C45F-5966-9EEE-B9B7-E477582BA8E1}"/>
              </a:ext>
            </a:extLst>
          </p:cNvPr>
          <p:cNvSpPr txBox="1"/>
          <p:nvPr/>
        </p:nvSpPr>
        <p:spPr>
          <a:xfrm>
            <a:off x="3302000" y="196334"/>
            <a:ext cx="5506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Modélisation et exploitation des données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CC319DD-D3AD-02DA-F504-A1F5F43964F4}"/>
              </a:ext>
            </a:extLst>
          </p:cNvPr>
          <p:cNvSpPr txBox="1"/>
          <p:nvPr/>
        </p:nvSpPr>
        <p:spPr>
          <a:xfrm>
            <a:off x="0" y="105368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Modélisation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Modèle en étoile (Star Schema)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Table de faits : données mesurées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Table de dimension : données descriptives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E600278-0B50-BBA3-36D9-92D73B936B79}"/>
              </a:ext>
            </a:extLst>
          </p:cNvPr>
          <p:cNvSpPr txBox="1"/>
          <p:nvPr/>
        </p:nvSpPr>
        <p:spPr>
          <a:xfrm>
            <a:off x="0" y="271125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Relations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Liaison via la clé </a:t>
            </a:r>
            <a:r>
              <a:rPr lang="fr-FR" dirty="0" err="1">
                <a:latin typeface="Courier New" panose="02070309020205020404" pitchFamily="49" charset="0"/>
              </a:rPr>
              <a:t>station_id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Intégrité des données assurée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43D0AFF-20C0-A143-3202-1DD8E21FDF07}"/>
              </a:ext>
            </a:extLst>
          </p:cNvPr>
          <p:cNvSpPr txBox="1"/>
          <p:nvPr/>
        </p:nvSpPr>
        <p:spPr>
          <a:xfrm>
            <a:off x="0" y="4091820"/>
            <a:ext cx="5232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Interrogation des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Données stockées dans PostgreSQL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Requêtes SQL pour l’analyse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Jointures entre tables (JOIN)</a:t>
            </a:r>
          </a:p>
        </p:txBody>
      </p:sp>
    </p:spTree>
    <p:extLst>
      <p:ext uri="{BB962C8B-B14F-4D97-AF65-F5344CB8AC3E}">
        <p14:creationId xmlns:p14="http://schemas.microsoft.com/office/powerpoint/2010/main" val="804557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EE7C61-AC1D-4A6F-6073-D11EEA5B5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1DA15BF-06CE-D7E7-CD7F-56C66C01C12C}"/>
              </a:ext>
            </a:extLst>
          </p:cNvPr>
          <p:cNvSpPr txBox="1"/>
          <p:nvPr/>
        </p:nvSpPr>
        <p:spPr>
          <a:xfrm>
            <a:off x="0" y="1205502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Collecte des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Données issues de sources météo hétérogènes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Réseaux </a:t>
            </a:r>
            <a:r>
              <a:rPr lang="fr-FR" sz="2000" dirty="0" err="1"/>
              <a:t>InfoClimat</a:t>
            </a:r>
            <a:r>
              <a:rPr lang="fr-FR" sz="2000" dirty="0"/>
              <a:t> et Weather Underground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Fréquences variables (10 à 30 minutes)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Ingestion automatisée avec </a:t>
            </a:r>
            <a:r>
              <a:rPr lang="fr-FR" sz="2000" dirty="0" err="1"/>
              <a:t>Airbyte</a:t>
            </a:r>
            <a:endParaRPr lang="fr-FR" sz="20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1E90C0-84D5-ACE6-179B-5CE362D9097A}"/>
              </a:ext>
            </a:extLst>
          </p:cNvPr>
          <p:cNvSpPr txBox="1"/>
          <p:nvPr/>
        </p:nvSpPr>
        <p:spPr>
          <a:xfrm>
            <a:off x="4481830" y="176014"/>
            <a:ext cx="3228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COLLECTE DE DONNÉES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F76CBE1-6000-F898-2381-BE6D678AC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244" y="3277095"/>
            <a:ext cx="9405511" cy="268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17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068D83-D160-C423-5481-0FCDC2A54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158C1FA-B9EE-3D10-40AC-8840E117680D}"/>
              </a:ext>
            </a:extLst>
          </p:cNvPr>
          <p:cNvSpPr txBox="1"/>
          <p:nvPr/>
        </p:nvSpPr>
        <p:spPr>
          <a:xfrm>
            <a:off x="4450080" y="135374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STOCKAGE DE DONNÉES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C4BC326-A8F7-64C3-D932-B5A992EA8F60}"/>
              </a:ext>
            </a:extLst>
          </p:cNvPr>
          <p:cNvSpPr txBox="1"/>
          <p:nvPr/>
        </p:nvSpPr>
        <p:spPr>
          <a:xfrm>
            <a:off x="0" y="1194276"/>
            <a:ext cx="670213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Stockage des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Centralisation dans PostgreSQL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Stockage des données brutes (RAW)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Base de Données disponibles pour transformation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5F38E53-13D2-325D-0B50-87B65A87F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899" y="4468091"/>
            <a:ext cx="7155180" cy="197954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80880F9-554F-65D3-0509-376D1D447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80" y="2532291"/>
            <a:ext cx="7041664" cy="180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744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B585F5-941E-B24C-56C0-7BE7747B8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829C05F-9937-301A-1078-37485890F413}"/>
              </a:ext>
            </a:extLst>
          </p:cNvPr>
          <p:cNvSpPr txBox="1"/>
          <p:nvPr/>
        </p:nvSpPr>
        <p:spPr>
          <a:xfrm>
            <a:off x="4053840" y="125214"/>
            <a:ext cx="4074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TRANSFORMATION DE DONNÉES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B3C2389-99EF-120F-62F9-26DEEA87C307}"/>
              </a:ext>
            </a:extLst>
          </p:cNvPr>
          <p:cNvSpPr txBox="1"/>
          <p:nvPr/>
        </p:nvSpPr>
        <p:spPr>
          <a:xfrm>
            <a:off x="101600" y="1298416"/>
            <a:ext cx="75590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Transformation des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Traitement avec DBT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Organisation en couches : </a:t>
            </a:r>
            <a:r>
              <a:rPr lang="fr-FR" sz="2000" dirty="0" err="1"/>
              <a:t>staging</a:t>
            </a:r>
            <a:r>
              <a:rPr lang="fr-FR" sz="2000" dirty="0"/>
              <a:t>, </a:t>
            </a:r>
            <a:r>
              <a:rPr lang="fr-FR" sz="2000" dirty="0" err="1"/>
              <a:t>intermediate</a:t>
            </a:r>
            <a:r>
              <a:rPr lang="fr-FR" sz="2000" dirty="0"/>
              <a:t>, </a:t>
            </a:r>
            <a:r>
              <a:rPr lang="fr-FR" sz="2000" dirty="0" err="1"/>
              <a:t>marts</a:t>
            </a:r>
            <a:r>
              <a:rPr lang="fr-FR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Nettoyage et structuration des données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4A3EEB7-0370-1D7A-9D5C-4409F4EC6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827" y="2864427"/>
            <a:ext cx="67183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340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B18D4-D730-7446-D3A4-49D066169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6B5D44A-7E10-B1E6-CF1C-3A02558EA025}"/>
              </a:ext>
            </a:extLst>
          </p:cNvPr>
          <p:cNvSpPr txBox="1"/>
          <p:nvPr/>
        </p:nvSpPr>
        <p:spPr>
          <a:xfrm>
            <a:off x="5049520" y="115054"/>
            <a:ext cx="104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TESTS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EA81CFE-C376-12DB-EC29-501EA70E6108}"/>
              </a:ext>
            </a:extLst>
          </p:cNvPr>
          <p:cNvSpPr txBox="1"/>
          <p:nvPr/>
        </p:nvSpPr>
        <p:spPr>
          <a:xfrm>
            <a:off x="0" y="1278096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Tests et qualité des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Tests DBT automatisés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Vérification des valeurs nulles (not </a:t>
            </a:r>
            <a:r>
              <a:rPr lang="fr-FR" sz="2000" dirty="0" err="1"/>
              <a:t>null</a:t>
            </a:r>
            <a:r>
              <a:rPr lang="fr-FR" sz="2000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Vérification des doublons (unique)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Vérification des relations (</a:t>
            </a:r>
            <a:r>
              <a:rPr lang="fr-FR" sz="2000" dirty="0" err="1"/>
              <a:t>foreign</a:t>
            </a:r>
            <a:r>
              <a:rPr lang="fr-FR" sz="2000" dirty="0"/>
              <a:t> key)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7048B22-11D5-3BCF-4C5F-4FA121C4D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09" y="3858946"/>
            <a:ext cx="10100591" cy="64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937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8EAF4-8B2B-2544-B855-9F6668023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7101BF0-60EF-0401-C868-23039335B0A4}"/>
              </a:ext>
            </a:extLst>
          </p:cNvPr>
          <p:cNvSpPr txBox="1"/>
          <p:nvPr/>
        </p:nvSpPr>
        <p:spPr>
          <a:xfrm>
            <a:off x="4135120" y="104894"/>
            <a:ext cx="3586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ARCHITECTURE GLOBALE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63CBBB5-05BE-C2AF-C2F5-DDFFEFC90319}"/>
              </a:ext>
            </a:extLst>
          </p:cNvPr>
          <p:cNvSpPr txBox="1"/>
          <p:nvPr/>
        </p:nvSpPr>
        <p:spPr>
          <a:xfrm>
            <a:off x="150783" y="67350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4. Architecture de la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Pipeline de données de type ELT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Environnement local + cloud (AWS)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Flux de données automatisé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A43E538-3429-31BA-E67A-AD752D36048A}"/>
              </a:ext>
            </a:extLst>
          </p:cNvPr>
          <p:cNvSpPr txBox="1"/>
          <p:nvPr/>
        </p:nvSpPr>
        <p:spPr>
          <a:xfrm>
            <a:off x="147321" y="4669842"/>
            <a:ext cx="60994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4. Développement sur le cloud</a:t>
            </a:r>
          </a:p>
          <a:p>
            <a:pPr>
              <a:buNone/>
            </a:pPr>
            <a:r>
              <a:rPr lang="fr-FR" dirty="0"/>
              <a:t>• Centralisation des données</a:t>
            </a:r>
            <a:br>
              <a:rPr lang="fr-FR" dirty="0"/>
            </a:br>
            <a:r>
              <a:rPr lang="fr-FR" dirty="0"/>
              <a:t>• Accessibilité pour les équipes</a:t>
            </a:r>
            <a:br>
              <a:rPr lang="fr-FR" dirty="0"/>
            </a:br>
            <a:r>
              <a:rPr lang="fr-FR" dirty="0"/>
              <a:t>• Scalabilité de la solution</a:t>
            </a:r>
            <a:br>
              <a:rPr lang="fr-FR" dirty="0"/>
            </a:br>
            <a:r>
              <a:rPr lang="fr-FR" dirty="0"/>
              <a:t>• Déploiement et industrialisation du pipeline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D1F776F-AC13-A09B-038C-1FE806D45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935" y="2042329"/>
            <a:ext cx="9244979" cy="247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85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5D4002-3258-5835-C6F4-BB3B3C65F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8CCACDF-5C17-7EE4-DC68-960D907993F8}"/>
              </a:ext>
            </a:extLst>
          </p:cNvPr>
          <p:cNvSpPr txBox="1"/>
          <p:nvPr/>
        </p:nvSpPr>
        <p:spPr>
          <a:xfrm>
            <a:off x="3992880" y="125214"/>
            <a:ext cx="3037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ENVIRONNEMENT LOCAL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9104E04-D4E1-3B28-4301-A4D2B2447807}"/>
              </a:ext>
            </a:extLst>
          </p:cNvPr>
          <p:cNvSpPr txBox="1"/>
          <p:nvPr/>
        </p:nvSpPr>
        <p:spPr>
          <a:xfrm>
            <a:off x="102062" y="1705628"/>
            <a:ext cx="47548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Environnement local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Collecte des données avec </a:t>
            </a:r>
            <a:r>
              <a:rPr lang="fr-FR" dirty="0" err="1"/>
              <a:t>Airbyte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Stockage dans PostgreSQL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Transformation avec DBT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Tests et validation des données</a:t>
            </a:r>
          </a:p>
        </p:txBody>
      </p:sp>
    </p:spTree>
    <p:extLst>
      <p:ext uri="{BB962C8B-B14F-4D97-AF65-F5344CB8AC3E}">
        <p14:creationId xmlns:p14="http://schemas.microsoft.com/office/powerpoint/2010/main" val="161562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4FFC0-1171-6B4F-9847-16C170DB7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FEC3454-2FDD-7BB7-F971-09AB6EA9FB53}"/>
              </a:ext>
            </a:extLst>
          </p:cNvPr>
          <p:cNvSpPr txBox="1"/>
          <p:nvPr/>
        </p:nvSpPr>
        <p:spPr>
          <a:xfrm>
            <a:off x="4257040" y="94734"/>
            <a:ext cx="3322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ENVIRONNEMENT CLOUD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E7C1EA6-9281-9786-EB3F-A461E1B69985}"/>
              </a:ext>
            </a:extLst>
          </p:cNvPr>
          <p:cNvSpPr txBox="1"/>
          <p:nvPr/>
        </p:nvSpPr>
        <p:spPr>
          <a:xfrm>
            <a:off x="0" y="561354"/>
            <a:ext cx="543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Déploiement dans le cloud (AWS)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Base de données PostgreSQL sur AWS 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Ingestion des données avec </a:t>
            </a:r>
            <a:r>
              <a:rPr lang="fr-FR" dirty="0" err="1"/>
              <a:t>Airbyte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Connexion de DBT Cloud à 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Déploiement via GitHub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32E2ACA-0FB5-339A-F421-36076779F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010" y="2135970"/>
            <a:ext cx="8395853" cy="426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401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947467-E1B3-2356-352C-638D1C614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61377E9-FE10-CDB2-0129-81830806FA41}"/>
              </a:ext>
            </a:extLst>
          </p:cNvPr>
          <p:cNvSpPr txBox="1"/>
          <p:nvPr/>
        </p:nvSpPr>
        <p:spPr>
          <a:xfrm>
            <a:off x="4389120" y="135374"/>
            <a:ext cx="309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QUALITÉ DES DONNÉES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4327D29-C02A-4A75-FB6F-D805304EECA1}"/>
              </a:ext>
            </a:extLst>
          </p:cNvPr>
          <p:cNvSpPr txBox="1"/>
          <p:nvPr/>
        </p:nvSpPr>
        <p:spPr>
          <a:xfrm>
            <a:off x="91440" y="1102142"/>
            <a:ext cx="504952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1. Qualité des données</a:t>
            </a:r>
          </a:p>
          <a:p>
            <a:pPr>
              <a:buNone/>
            </a:pP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b="1" dirty="0"/>
              <a:t>Tests DBT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Vérification des valeurs nulles (not </a:t>
            </a:r>
            <a:r>
              <a:rPr lang="fr-FR" dirty="0" err="1"/>
              <a:t>null</a:t>
            </a:r>
            <a:r>
              <a:rPr lang="fr-FR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Vérification des doublons (unique)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Vérification des relations (</a:t>
            </a:r>
            <a:r>
              <a:rPr lang="fr-FR" dirty="0" err="1"/>
              <a:t>foreign</a:t>
            </a:r>
            <a:r>
              <a:rPr lang="fr-FR" dirty="0"/>
              <a:t> key) </a:t>
            </a:r>
          </a:p>
          <a:p>
            <a:pPr>
              <a:buNone/>
            </a:pP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b="1" dirty="0"/>
              <a:t>Fiabilité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Données nettoyées et structurées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Pipeline automatisé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Données cohérentes et exploitables </a:t>
            </a:r>
          </a:p>
          <a:p>
            <a:pPr>
              <a:buNone/>
            </a:pPr>
            <a:br>
              <a:rPr lang="fr-FR" dirty="0"/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CF05F12-C2C4-8D3A-3561-D7E862532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332" y="1870364"/>
            <a:ext cx="7183768" cy="335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43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A1280-3E9B-3CAD-F7EC-4137BD930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36A0A57-495F-AC5D-3984-878B94B38E0A}"/>
              </a:ext>
            </a:extLst>
          </p:cNvPr>
          <p:cNvSpPr txBox="1"/>
          <p:nvPr/>
        </p:nvSpPr>
        <p:spPr>
          <a:xfrm>
            <a:off x="4165600" y="104894"/>
            <a:ext cx="3799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EXPLOITATION ET SUPERVISION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3AA93F0-257B-1333-F5C4-C77144C1DE90}"/>
              </a:ext>
            </a:extLst>
          </p:cNvPr>
          <p:cNvSpPr txBox="1"/>
          <p:nvPr/>
        </p:nvSpPr>
        <p:spPr>
          <a:xfrm>
            <a:off x="0" y="474226"/>
            <a:ext cx="52730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Exploitation et supervision des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Visualisation des données via </a:t>
            </a:r>
            <a:r>
              <a:rPr lang="fr-FR" dirty="0" err="1"/>
              <a:t>DBeaver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Connexion à AWS 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Vérification des tables transformées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Monitoring avec AWS </a:t>
            </a:r>
            <a:r>
              <a:rPr lang="fr-FR" dirty="0" err="1"/>
              <a:t>CloudWatch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1A2343E-3DA5-CBD2-56CE-091A6A756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601" y="2065854"/>
            <a:ext cx="8873837" cy="419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086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4583A-08CC-33C7-DE1C-B7BCB857D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D89769C-A347-4784-3EA4-09B8BE559AC5}"/>
              </a:ext>
            </a:extLst>
          </p:cNvPr>
          <p:cNvSpPr txBox="1"/>
          <p:nvPr/>
        </p:nvSpPr>
        <p:spPr>
          <a:xfrm>
            <a:off x="4124960" y="104894"/>
            <a:ext cx="354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ACCESSIBILITÉ DES DONNÉES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1F74E5E-DE95-6472-7895-73A7E529C69C}"/>
              </a:ext>
            </a:extLst>
          </p:cNvPr>
          <p:cNvSpPr txBox="1"/>
          <p:nvPr/>
        </p:nvSpPr>
        <p:spPr>
          <a:xfrm>
            <a:off x="81510" y="474226"/>
            <a:ext cx="489573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Accessibilité des données</a:t>
            </a: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b="1" dirty="0"/>
              <a:t>Accès aux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Données stockées dans PostgreSQL (AWS RDS)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Interrogation via SQL </a:t>
            </a:r>
          </a:p>
          <a:p>
            <a:pPr>
              <a:buNone/>
            </a:pP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b="1" dirty="0"/>
              <a:t>Exploration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Visualisation des données avec </a:t>
            </a:r>
            <a:r>
              <a:rPr lang="fr-FR" dirty="0" err="1"/>
              <a:t>DBeaver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Vérification des tables transformées </a:t>
            </a:r>
          </a:p>
          <a:p>
            <a:pPr>
              <a:buNone/>
            </a:pP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b="1" dirty="0"/>
              <a:t>Disponibilité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Données accessibles pour les équipes Data Science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Mise à disposition rapide après transformation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D6D0DF5-ACCB-872C-F5E4-74E9CACAB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627" y="880625"/>
            <a:ext cx="6781222" cy="153052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EF7A4BE-70AD-8450-5EAB-133F01D67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181" y="3252355"/>
            <a:ext cx="6728668" cy="221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26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E0745-357B-9980-7579-9465D3B04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3F2167B3-8669-D2E1-AB7F-4F98C49AA37A}"/>
              </a:ext>
            </a:extLst>
          </p:cNvPr>
          <p:cNvSpPr txBox="1"/>
          <p:nvPr/>
        </p:nvSpPr>
        <p:spPr>
          <a:xfrm>
            <a:off x="4602480" y="115054"/>
            <a:ext cx="193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CONCLUSION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546FAD6-679D-10B8-30F0-8A167497E57A}"/>
              </a:ext>
            </a:extLst>
          </p:cNvPr>
          <p:cNvSpPr txBox="1"/>
          <p:nvPr/>
        </p:nvSpPr>
        <p:spPr>
          <a:xfrm>
            <a:off x="81280" y="1020862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1. Conclusion</a:t>
            </a:r>
          </a:p>
          <a:p>
            <a:pPr>
              <a:buNone/>
            </a:pP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b="1" dirty="0"/>
              <a:t>Résultats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Mise en place d’un pipeline de données complet (ELT)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Intégration de données météo multi-sources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Données transformées, fiables et exploitables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Déploiement de la solution sur AWS </a:t>
            </a:r>
          </a:p>
          <a:p>
            <a:pPr>
              <a:buNone/>
            </a:pP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b="1" dirty="0"/>
              <a:t>Perspectives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Ajout de nouvelles sources de données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Automatisation complète du pipeline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Optimisation des performances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Utilisation pour les modèles de prévision</a:t>
            </a:r>
          </a:p>
        </p:txBody>
      </p:sp>
    </p:spTree>
    <p:extLst>
      <p:ext uri="{BB962C8B-B14F-4D97-AF65-F5344CB8AC3E}">
        <p14:creationId xmlns:p14="http://schemas.microsoft.com/office/powerpoint/2010/main" val="136565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6770547433]">
  <a:themeElements>
    <a:clrScheme name="GreenAndCoop">
      <a:dk1>
        <a:srgbClr val="F0F4F0"/>
      </a:dk1>
      <a:lt1>
        <a:srgbClr val="1A2E28"/>
      </a:lt1>
      <a:dk2>
        <a:srgbClr val="1B3A2D"/>
      </a:dk2>
      <a:lt2>
        <a:srgbClr val="2D4A3E"/>
      </a:lt2>
      <a:accent1>
        <a:srgbClr val="4CAF50"/>
      </a:accent1>
      <a:accent2>
        <a:srgbClr val="81C784"/>
      </a:accent2>
      <a:accent3>
        <a:srgbClr val="26A69A"/>
      </a:accent3>
      <a:accent4>
        <a:srgbClr val="66BB6A"/>
      </a:accent4>
      <a:accent5>
        <a:srgbClr val="A5D6A7"/>
      </a:accent5>
      <a:accent6>
        <a:srgbClr val="00897B"/>
      </a:accent6>
      <a:hlink>
        <a:srgbClr val="0563C1"/>
      </a:hlink>
      <a:folHlink>
        <a:srgbClr val="954F72"/>
      </a:folHlink>
    </a:clrScheme>
    <a:fontScheme name="GreenAndCoop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ef7e0ec-5824-4033-8089-1e784280be6f}">
  <we:reference id="WA200010001" version="1.0.0.1" store="en-US" storeType="OMEX"/>
  <we:alternateReferences/>
  <we:properties>
    <we:property name="Microsoft.Office.CampaignId" value="&quot;none&quot;"/>
    <we:property name="claude.fileId" value="&quot;99cc75a4-be3f-48bb-b061-5f16f773a86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1755</TotalTime>
  <Words>698</Words>
  <Application>Microsoft Macintosh PowerPoint</Application>
  <PresentationFormat>Grand écran</PresentationFormat>
  <Paragraphs>136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Arial</vt:lpstr>
      <vt:lpstr>Courier New</vt:lpstr>
      <vt:lpstr>Montserrat</vt:lpstr>
      <vt:lpstr>Open Sans</vt:lpstr>
      <vt:lpstr>Office Theme [1776770547433]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endaye</cp:lastModifiedBy>
  <cp:revision>9</cp:revision>
  <dcterms:created xsi:type="dcterms:W3CDTF">2018-06-07T21:39:02Z</dcterms:created>
  <dcterms:modified xsi:type="dcterms:W3CDTF">2026-04-23T10:08:31Z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