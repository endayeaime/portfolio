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sldIdLst>
    <p:sldId id="295" r:id="rId5"/>
    <p:sldId id="279" r:id="rId6"/>
    <p:sldId id="296" r:id="rId7"/>
    <p:sldId id="281" r:id="rId8"/>
    <p:sldId id="282" r:id="rId9"/>
    <p:sldId id="283" r:id="rId10"/>
    <p:sldId id="284" r:id="rId11"/>
    <p:sldId id="297" r:id="rId12"/>
    <p:sldId id="285" r:id="rId13"/>
    <p:sldId id="298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31"/>
    <p:restoredTop sz="94647"/>
  </p:normalViewPr>
  <p:slideViewPr>
    <p:cSldViewPr snapToGrid="0" snapToObjects="1">
      <p:cViewPr varScale="1">
        <p:scale>
          <a:sx n="118" d="100"/>
          <a:sy n="118" d="100"/>
        </p:scale>
        <p:origin x="2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2E28"/>
            </a:gs>
            <a:gs pos="50000">
              <a:srgbClr val="1E3830"/>
            </a:gs>
            <a:gs pos="100000">
              <a:srgbClr val="142420"/>
            </a:gs>
          </a:gsLst>
          <a:lin ang="3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  <p:sp>
        <p:nvSpPr>
          <p:cNvPr id="1001" name="AccentBar"/>
          <p:cNvSpPr/>
          <p:nvPr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4CAF50"/>
              </a:gs>
              <a:gs pos="60000">
                <a:srgbClr val="26A69A"/>
              </a:gs>
              <a:gs pos="100000">
                <a:srgbClr val="00897B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02" name="CornerAccent"/>
          <p:cNvSpPr/>
          <p:nvPr/>
        </p:nvSpPr>
        <p:spPr>
          <a:xfrm flipH="1">
            <a:off x="10972800" y="0"/>
            <a:ext cx="1219200" cy="1219200"/>
          </a:xfrm>
          <a:prstGeom prst="rtTriangle">
            <a:avLst/>
          </a:prstGeom>
          <a:solidFill>
            <a:srgbClr val="4CAF50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03" name="TitleSeparator"/>
          <p:cNvSpPr/>
          <p:nvPr/>
        </p:nvSpPr>
        <p:spPr>
          <a:xfrm>
            <a:off x="457200" y="1600200"/>
            <a:ext cx="3657600" cy="18288"/>
          </a:xfrm>
          <a:prstGeom prst="rect">
            <a:avLst/>
          </a:prstGeom>
          <a:solidFill>
            <a:srgbClr val="4CAF50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4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4E8D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4E8D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4E8D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4E8D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D4E8D4"/>
          </a:solidFill>
        </a:defRPr>
      </a:defPPr>
      <a:lvl1pPr marL="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4E8D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762BA-7DB6-B8F7-0B23-A2BFDA08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D493367-BD44-8C41-356B-F7B7B8BCCB96}"/>
              </a:ext>
            </a:extLst>
          </p:cNvPr>
          <p:cNvSpPr txBox="1"/>
          <p:nvPr/>
        </p:nvSpPr>
        <p:spPr>
          <a:xfrm>
            <a:off x="457200" y="1494710"/>
            <a:ext cx="11277600" cy="120032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fr-FR" sz="3600" b="1" dirty="0">
                <a:solidFill>
                  <a:srgbClr val="4CAF50"/>
                </a:solidFill>
              </a:rPr>
              <a:t>Pipeline de données météorologiques</a:t>
            </a:r>
          </a:p>
          <a:p>
            <a:pPr algn="ctr">
              <a:buNone/>
            </a:pPr>
            <a:r>
              <a:rPr lang="fr-FR" sz="3600" b="1" dirty="0">
                <a:solidFill>
                  <a:srgbClr val="F0F4F0"/>
                </a:solidFill>
              </a:rPr>
              <a:t>pour la prévision énergétique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4876CD9-BF5B-89DC-88DA-50EC0BF4AB69}"/>
              </a:ext>
            </a:extLst>
          </p:cNvPr>
          <p:cNvSpPr txBox="1"/>
          <p:nvPr/>
        </p:nvSpPr>
        <p:spPr>
          <a:xfrm>
            <a:off x="1371600" y="3657600"/>
            <a:ext cx="74980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fr-FR" sz="1600" dirty="0">
                <a:solidFill>
                  <a:srgbClr val="81C784"/>
                </a:solidFill>
              </a:rPr>
              <a:t>Projet de Data Engineering</a:t>
            </a:r>
          </a:p>
          <a:p>
            <a:pPr algn="ctr">
              <a:buNone/>
            </a:pPr>
            <a:r>
              <a:rPr lang="fr-FR" sz="1400" dirty="0">
                <a:solidFill>
                  <a:srgbClr val="A5D6A7"/>
                </a:solidFill>
              </a:rPr>
              <a:t>Ingestion, transformation et fiabilisation des données</a:t>
            </a:r>
          </a:p>
          <a:p>
            <a:pPr algn="ctr">
              <a:buNone/>
            </a:pPr>
            <a:r>
              <a:rPr lang="fr-FR" sz="1400" dirty="0">
                <a:solidFill>
                  <a:srgbClr val="A5D6A7"/>
                </a:solidFill>
              </a:rPr>
              <a:t>Déploiement sur AWS</a:t>
            </a:r>
          </a:p>
        </p:txBody>
      </p:sp>
      <p:sp>
        <p:nvSpPr>
          <p:cNvPr id="20" name="AccentLine"/>
          <p:cNvSpPr/>
          <p:nvPr/>
        </p:nvSpPr>
        <p:spPr>
          <a:xfrm>
            <a:off x="3657600" y="3429000"/>
            <a:ext cx="4572000" cy="0"/>
          </a:xfrm>
          <a:prstGeom prst="line">
            <a:avLst/>
          </a:prstGeom>
          <a:ln w="28575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7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AD7BE-01DD-F174-3B9C-B1A5CEDC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ommaireTitle"/>
          <p:cNvSpPr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3200" b="1" dirty="0">
                <a:solidFill>
                  <a:srgbClr val="4CAF50"/>
                </a:solidFill>
              </a:rPr>
              <a:t>SOMMAIRE</a:t>
            </a:r>
          </a:p>
        </p:txBody>
      </p:sp>
      <p:sp>
        <p:nvSpPr>
          <p:cNvPr id="31" name="Card0"/>
          <p:cNvSpPr/>
          <p:nvPr/>
        </p:nvSpPr>
        <p:spPr>
          <a:xfrm>
            <a:off x="457200" y="114300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40000"/>
              </a:srgbClr>
            </a:solidFill>
          </a:ln>
        </p:spPr>
        <p:txBody>
          <a:bodyPr lIns="182880" tIns="137160" rIns="182880" bIns="137160"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01</a:t>
            </a:r>
          </a:p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Introduction</a:t>
            </a:r>
          </a:p>
          <a:p>
            <a:pPr algn="l">
              <a:buNone/>
            </a:pPr>
            <a:r>
              <a:rPr lang="fr-FR" sz="1400" dirty="0">
                <a:solidFill>
                  <a:srgbClr val="A5D6A7"/>
                </a:solidFill>
              </a:rPr>
              <a:t>Contexte, problématique et objectifs</a:t>
            </a:r>
          </a:p>
        </p:txBody>
      </p:sp>
      <p:sp>
        <p:nvSpPr>
          <p:cNvPr id="32" name="Card1"/>
          <p:cNvSpPr/>
          <p:nvPr/>
        </p:nvSpPr>
        <p:spPr>
          <a:xfrm>
            <a:off x="4114800" y="114300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40000"/>
              </a:srgbClr>
            </a:solidFill>
          </a:ln>
        </p:spPr>
        <p:txBody>
          <a:bodyPr lIns="182880" tIns="137160" rIns="182880" bIns="137160"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02</a:t>
            </a:r>
          </a:p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Schéma BDD</a:t>
            </a:r>
          </a:p>
          <a:p>
            <a:pPr algn="l">
              <a:buNone/>
            </a:pPr>
            <a:r>
              <a:rPr lang="fr-FR" sz="1400" dirty="0">
                <a:solidFill>
                  <a:srgbClr val="A5D6A7"/>
                </a:solidFill>
              </a:rPr>
              <a:t>Modélisation et relations entre tables</a:t>
            </a:r>
          </a:p>
        </p:txBody>
      </p:sp>
      <p:sp>
        <p:nvSpPr>
          <p:cNvPr id="33" name="Card2"/>
          <p:cNvSpPr/>
          <p:nvPr/>
        </p:nvSpPr>
        <p:spPr>
          <a:xfrm>
            <a:off x="7772400" y="114300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40000"/>
              </a:srgbClr>
            </a:solidFill>
          </a:ln>
        </p:spPr>
        <p:txBody>
          <a:bodyPr lIns="182880" tIns="137160" rIns="182880" bIns="137160"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03</a:t>
            </a:r>
          </a:p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Pipeline</a:t>
            </a:r>
          </a:p>
          <a:p>
            <a:pPr algn="l">
              <a:buNone/>
            </a:pPr>
            <a:r>
              <a:rPr lang="fr-FR" sz="1400" dirty="0">
                <a:solidFill>
                  <a:srgbClr val="A5D6A7"/>
                </a:solidFill>
              </a:rPr>
              <a:t>Collecte, stockage, transformation, tests</a:t>
            </a:r>
          </a:p>
        </p:txBody>
      </p:sp>
      <p:sp>
        <p:nvSpPr>
          <p:cNvPr id="34" name="Card3"/>
          <p:cNvSpPr/>
          <p:nvPr/>
        </p:nvSpPr>
        <p:spPr>
          <a:xfrm>
            <a:off x="457200" y="342900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40000"/>
              </a:srgbClr>
            </a:solidFill>
          </a:ln>
        </p:spPr>
        <p:txBody>
          <a:bodyPr lIns="182880" tIns="137160" rIns="182880" bIns="137160"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04</a:t>
            </a:r>
          </a:p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Architecture</a:t>
            </a:r>
          </a:p>
          <a:p>
            <a:pPr algn="l">
              <a:buNone/>
            </a:pPr>
            <a:r>
              <a:rPr lang="fr-FR" sz="1400" dirty="0">
                <a:solidFill>
                  <a:srgbClr val="A5D6A7"/>
                </a:solidFill>
              </a:rPr>
              <a:t>Environnement local et cloud (AWS)</a:t>
            </a:r>
          </a:p>
        </p:txBody>
      </p:sp>
      <p:sp>
        <p:nvSpPr>
          <p:cNvPr id="35" name="Card4"/>
          <p:cNvSpPr/>
          <p:nvPr/>
        </p:nvSpPr>
        <p:spPr>
          <a:xfrm>
            <a:off x="4114800" y="342900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40000"/>
              </a:srgbClr>
            </a:solidFill>
          </a:ln>
        </p:spPr>
        <p:txBody>
          <a:bodyPr lIns="182880" tIns="137160" rIns="182880" bIns="137160"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05</a:t>
            </a:r>
          </a:p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Qualité</a:t>
            </a:r>
          </a:p>
          <a:p>
            <a:pPr algn="l">
              <a:buNone/>
            </a:pPr>
            <a:r>
              <a:rPr lang="fr-FR" sz="1400" dirty="0">
                <a:solidFill>
                  <a:srgbClr val="A5D6A7"/>
                </a:solidFill>
              </a:rPr>
              <a:t>Tests DBT, fiabilité et accessibilité</a:t>
            </a:r>
          </a:p>
        </p:txBody>
      </p:sp>
      <p:sp>
        <p:nvSpPr>
          <p:cNvPr id="36" name="Card5"/>
          <p:cNvSpPr/>
          <p:nvPr/>
        </p:nvSpPr>
        <p:spPr>
          <a:xfrm>
            <a:off x="7772400" y="3429000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40000"/>
              </a:srgbClr>
            </a:solidFill>
          </a:ln>
        </p:spPr>
        <p:txBody>
          <a:bodyPr lIns="182880" tIns="137160" rIns="182880" bIns="137160"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06</a:t>
            </a:r>
          </a:p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Conclusion</a:t>
            </a:r>
          </a:p>
          <a:p>
            <a:pPr algn="l">
              <a:buNone/>
            </a:pPr>
            <a:r>
              <a:rPr lang="fr-FR" sz="1400" dirty="0">
                <a:solidFill>
                  <a:srgbClr val="A5D6A7"/>
                </a:solidFill>
              </a:rPr>
              <a:t>Résultats et perspectives</a:t>
            </a:r>
          </a:p>
        </p:txBody>
      </p:sp>
    </p:spTree>
    <p:extLst>
      <p:ext uri="{BB962C8B-B14F-4D97-AF65-F5344CB8AC3E}">
        <p14:creationId xmlns:p14="http://schemas.microsoft.com/office/powerpoint/2010/main" val="76216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ctionTitle"/>
          <p:cNvSpPr/>
          <p:nvPr/>
        </p:nvSpPr>
        <p:spPr>
          <a:xfrm>
            <a:off x="457200" y="228600"/>
            <a:ext cx="1127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01 — INTRODUCTION</a:t>
            </a:r>
          </a:p>
        </p:txBody>
      </p:sp>
      <p:sp>
        <p:nvSpPr>
          <p:cNvPr id="41" name="Contexte"/>
          <p:cNvSpPr/>
          <p:nvPr/>
        </p:nvSpPr>
        <p:spPr>
          <a:xfrm>
            <a:off x="457200" y="1028700"/>
            <a:ext cx="5486400" cy="48006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228600" rIns="228600" bIns="182880" anchor="t"/>
          <a:lstStyle/>
          <a:p>
            <a:pPr algn="l">
              <a:buNone/>
            </a:pPr>
            <a:r>
              <a:rPr lang="fr-FR" sz="2200" b="1" dirty="0">
                <a:solidFill>
                  <a:srgbClr val="4CAF50"/>
                </a:solidFill>
              </a:rPr>
              <a:t>Contexte</a:t>
            </a:r>
          </a:p>
          <a:p>
            <a:pPr algn="l">
              <a:buNone/>
            </a:pPr>
            <a:r>
              <a:rPr lang="fr-FR" sz="1600" dirty="0">
                <a:solidFill>
                  <a:srgbClr val="F0F4F0"/>
                </a:solidFill>
              </a:rPr>
              <a:t>GreenCoop souhaite améliorer ses modèles de prévision de la demande énergétique</a:t>
            </a:r>
          </a:p>
          <a:p>
            <a:pPr algn="l">
              <a:buNone/>
            </a:pPr>
            <a:r>
              <a:rPr lang="fr-FR" sz="1600" dirty="0">
                <a:solidFill>
                  <a:srgbClr val="F0F4F0"/>
                </a:solidFill>
              </a:rPr>
              <a:t>Intégration de nouvelles données météorologiques issues de différentes sources</a:t>
            </a:r>
          </a:p>
        </p:txBody>
      </p:sp>
      <p:sp>
        <p:nvSpPr>
          <p:cNvPr id="42" name="Problematique"/>
          <p:cNvSpPr/>
          <p:nvPr/>
        </p:nvSpPr>
        <p:spPr>
          <a:xfrm>
            <a:off x="6172200" y="1028700"/>
            <a:ext cx="5562600" cy="48006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228600" rIns="228600" bIns="182880" anchor="t"/>
          <a:lstStyle/>
          <a:p>
            <a:pPr algn="l">
              <a:buNone/>
            </a:pPr>
            <a:r>
              <a:rPr lang="fr-FR" sz="2200" b="1" dirty="0">
                <a:solidFill>
                  <a:srgbClr val="4CAF50"/>
                </a:solidFill>
              </a:rPr>
              <a:t>Problématique</a:t>
            </a:r>
          </a:p>
          <a:p>
            <a:pPr algn="l">
              <a:buNone/>
            </a:pPr>
            <a:r>
              <a:rPr lang="fr-FR" sz="1600" i="1" dirty="0">
                <a:solidFill>
                  <a:srgbClr val="A5D6A7"/>
                </a:solidFill>
              </a:rPr>
              <a:t>Comment mettre en place un pipeline de données fiable, automatisé et scalable pour intégrer et exploiter des données météorologiques hétérogènes ?</a:t>
            </a:r>
          </a:p>
        </p:txBody>
      </p:sp>
    </p:spTree>
    <p:extLst>
      <p:ext uri="{BB962C8B-B14F-4D97-AF65-F5344CB8AC3E}">
        <p14:creationId xmlns:p14="http://schemas.microsoft.com/office/powerpoint/2010/main" val="203551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63BA0-A3E9-268A-428D-59CA1721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Title"/>
          <p:cNvSpPr/>
          <p:nvPr/>
        </p:nvSpPr>
        <p:spPr>
          <a:xfrm>
            <a:off x="457200" y="228600"/>
            <a:ext cx="1127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OBJECTIFS</a:t>
            </a:r>
          </a:p>
        </p:txBody>
      </p:sp>
      <p:sp>
        <p:nvSpPr>
          <p:cNvPr id="51" name="ObjCard0"/>
          <p:cNvSpPr/>
          <p:nvPr/>
        </p:nvSpPr>
        <p:spPr>
          <a:xfrm>
            <a:off x="457200" y="1028700"/>
            <a:ext cx="2133600" cy="41148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82880" rIns="182880" bIns="137160" anchor="t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01</a:t>
            </a:r>
          </a:p>
          <a:p>
            <a:pPr algn="ctr">
              <a:buNone/>
            </a:pPr>
            <a:r>
              <a:rPr lang="fr-FR" sz="1400" dirty="0">
                <a:solidFill>
                  <a:srgbClr val="F0F4F0"/>
                </a:solidFill>
              </a:rPr>
              <a:t>Pipeline de collecte et d'intégration (Airbyte)</a:t>
            </a:r>
          </a:p>
        </p:txBody>
      </p:sp>
      <p:sp>
        <p:nvSpPr>
          <p:cNvPr id="52" name="ObjCard1"/>
          <p:cNvSpPr/>
          <p:nvPr/>
        </p:nvSpPr>
        <p:spPr>
          <a:xfrm>
            <a:off x="2743200" y="1028700"/>
            <a:ext cx="2133600" cy="41148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82880" rIns="182880" bIns="137160" anchor="t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02</a:t>
            </a:r>
          </a:p>
          <a:p>
            <a:pPr algn="ctr">
              <a:buNone/>
            </a:pPr>
            <a:r>
              <a:rPr lang="fr-FR" sz="1400" dirty="0">
                <a:solidFill>
                  <a:srgbClr val="F0F4F0"/>
                </a:solidFill>
              </a:rPr>
              <a:t>Structurer et transformer avec DBT</a:t>
            </a:r>
          </a:p>
        </p:txBody>
      </p:sp>
      <p:sp>
        <p:nvSpPr>
          <p:cNvPr id="53" name="ObjCard2"/>
          <p:cNvSpPr/>
          <p:nvPr/>
        </p:nvSpPr>
        <p:spPr>
          <a:xfrm>
            <a:off x="5029200" y="1028700"/>
            <a:ext cx="2133600" cy="41148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82880" rIns="182880" bIns="137160" anchor="t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03</a:t>
            </a:r>
          </a:p>
          <a:p>
            <a:pPr algn="ctr">
              <a:buNone/>
            </a:pPr>
            <a:r>
              <a:rPr lang="fr-FR" sz="1400" dirty="0">
                <a:solidFill>
                  <a:srgbClr val="F0F4F0"/>
                </a:solidFill>
              </a:rPr>
              <a:t>Garantir la qualité et fiabilité (tests DBT)</a:t>
            </a:r>
          </a:p>
        </p:txBody>
      </p:sp>
      <p:sp>
        <p:nvSpPr>
          <p:cNvPr id="54" name="ObjCard3"/>
          <p:cNvSpPr/>
          <p:nvPr/>
        </p:nvSpPr>
        <p:spPr>
          <a:xfrm>
            <a:off x="7315200" y="1028700"/>
            <a:ext cx="2133600" cy="41148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82880" rIns="182880" bIns="137160" anchor="t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04</a:t>
            </a:r>
          </a:p>
          <a:p>
            <a:pPr algn="ctr">
              <a:buNone/>
            </a:pPr>
            <a:r>
              <a:rPr lang="fr-FR" sz="1400" dirty="0">
                <a:solidFill>
                  <a:srgbClr val="F0F4F0"/>
                </a:solidFill>
              </a:rPr>
              <a:t>Centraliser dans PostgreSQL (AWS RDS)</a:t>
            </a:r>
          </a:p>
        </p:txBody>
      </p:sp>
      <p:sp>
        <p:nvSpPr>
          <p:cNvPr id="55" name="ObjCard4"/>
          <p:cNvSpPr/>
          <p:nvPr/>
        </p:nvSpPr>
        <p:spPr>
          <a:xfrm>
            <a:off x="9601200" y="1028700"/>
            <a:ext cx="2133600" cy="41148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82880" rIns="182880" bIns="137160" anchor="t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05</a:t>
            </a:r>
          </a:p>
          <a:p>
            <a:pPr algn="ctr">
              <a:buNone/>
            </a:pPr>
            <a:r>
              <a:rPr lang="fr-FR" sz="1400" dirty="0">
                <a:solidFill>
                  <a:srgbClr val="F0F4F0"/>
                </a:solidFill>
              </a:rPr>
              <a:t>Rendre accessible aux équipes Data Science</a:t>
            </a:r>
          </a:p>
        </p:txBody>
      </p:sp>
      <p:sp>
        <p:nvSpPr>
          <p:cNvPr id="60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94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CB294-FBE8-8741-E042-44D5251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/>
          <p:cNvSpPr/>
          <p:nvPr/>
        </p:nvSpPr>
        <p:spPr>
          <a:xfrm>
            <a:off x="457200" y="228600"/>
            <a:ext cx="1127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02 — SCHÉMA DE LA BASE DE DONNÉES</a:t>
            </a:r>
          </a:p>
        </p:txBody>
      </p:sp>
      <p:sp>
        <p:nvSpPr>
          <p:cNvPr id="71" name="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2" name="DimTable"/>
          <p:cNvSpPr/>
          <p:nvPr/>
        </p:nvSpPr>
        <p:spPr>
          <a:xfrm>
            <a:off x="914400" y="1143000"/>
            <a:ext cx="4114800" cy="43434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9050">
            <a:solidFill>
              <a:srgbClr val="4CAF50"/>
            </a:solidFill>
          </a:ln>
        </p:spPr>
        <p:txBody>
          <a:bodyPr lIns="228600" tIns="228600" rIns="228600" bIns="182880" anchor="t"/>
          <a:lstStyle/>
          <a:p>
            <a:pPr algn="ctr">
              <a:buNone/>
            </a:pPr>
            <a:r>
              <a:rPr lang="fr-FR" sz="1800" b="1" dirty="0">
                <a:solidFill>
                  <a:srgbClr val="4CAF50"/>
                </a:solidFill>
              </a:rPr>
              <a:t>dim_weather_stations</a:t>
            </a:r>
          </a:p>
          <a:p>
            <a:pPr algn="l">
              <a:buNone/>
            </a:pPr>
            <a:r>
              <a:rPr lang="fr-FR" sz="1400" b="1" dirty="0">
                <a:solidFill>
                  <a:srgbClr val="81C784"/>
                </a:solidFill>
              </a:rPr>
              <a:t>station_id</a:t>
            </a:r>
            <a:r>
              <a:rPr lang="fr-FR" sz="1400" dirty="0">
                <a:solidFill>
                  <a:srgbClr val="A5D6A7"/>
                </a:solidFill>
              </a:rPr>
              <a:t>  (PK)</a:t>
            </a:r>
          </a:p>
          <a:p>
            <a:pPr algn="l">
              <a:buNone/>
            </a:pPr>
            <a:r>
              <a:rPr lang="fr-FR" sz="1400" dirty="0">
                <a:solidFill>
                  <a:srgbClr val="F0F4F0"/>
                </a:solidFill>
              </a:rPr>
              <a:t>station_name</a:t>
            </a:r>
          </a:p>
          <a:p>
            <a:pPr algn="l">
              <a:buNone/>
            </a:pPr>
            <a:r>
              <a:rPr lang="fr-FR" sz="1400" dirty="0">
                <a:solidFill>
                  <a:srgbClr val="F0F4F0"/>
                </a:solidFill>
              </a:rPr>
              <a:t>latitude</a:t>
            </a:r>
          </a:p>
          <a:p>
            <a:pPr algn="l">
              <a:buNone/>
            </a:pPr>
            <a:r>
              <a:rPr lang="fr-FR" sz="1400" dirty="0">
                <a:solidFill>
                  <a:srgbClr val="F0F4F0"/>
                </a:solidFill>
              </a:rPr>
              <a:t>longitude</a:t>
            </a:r>
          </a:p>
        </p:txBody>
      </p:sp>
      <p:sp>
        <p:nvSpPr>
          <p:cNvPr id="73" name="FctTable"/>
          <p:cNvSpPr/>
          <p:nvPr/>
        </p:nvSpPr>
        <p:spPr>
          <a:xfrm>
            <a:off x="7162800" y="1143000"/>
            <a:ext cx="4114800" cy="43434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9050">
            <a:solidFill>
              <a:srgbClr val="4CAF50"/>
            </a:solidFill>
          </a:ln>
        </p:spPr>
        <p:txBody>
          <a:bodyPr lIns="228600" tIns="228600" rIns="228600" bIns="182880" anchor="t"/>
          <a:lstStyle/>
          <a:p>
            <a:pPr algn="ctr">
              <a:buNone/>
            </a:pPr>
            <a:r>
              <a:rPr lang="fr-FR" sz="1800" b="1" dirty="0">
                <a:solidFill>
                  <a:srgbClr val="4CAF50"/>
                </a:solidFill>
              </a:rPr>
              <a:t>fct_weather_observations</a:t>
            </a:r>
          </a:p>
          <a:p>
            <a:pPr algn="l">
              <a:buNone/>
            </a:pPr>
            <a:r>
              <a:rPr lang="fr-FR" sz="1400" b="1" dirty="0">
                <a:solidFill>
                  <a:srgbClr val="81C784"/>
                </a:solidFill>
              </a:rPr>
              <a:t>observation_id</a:t>
            </a:r>
            <a:r>
              <a:rPr lang="fr-FR" sz="1400" dirty="0">
                <a:solidFill>
                  <a:srgbClr val="A5D6A7"/>
                </a:solidFill>
              </a:rPr>
              <a:t>  (PK)</a:t>
            </a:r>
          </a:p>
          <a:p>
            <a:pPr algn="l">
              <a:buNone/>
            </a:pPr>
            <a:r>
              <a:rPr lang="fr-FR" sz="1400" b="1" dirty="0">
                <a:solidFill>
                  <a:srgbClr val="26A69A"/>
                </a:solidFill>
              </a:rPr>
              <a:t>station_id</a:t>
            </a:r>
            <a:r>
              <a:rPr lang="fr-FR" sz="1400" dirty="0">
                <a:solidFill>
                  <a:srgbClr val="A5D6A7"/>
                </a:solidFill>
              </a:rPr>
              <a:t>  (FK)</a:t>
            </a:r>
          </a:p>
          <a:p>
            <a:pPr algn="l">
              <a:buNone/>
            </a:pPr>
            <a:r>
              <a:rPr lang="fr-FR" sz="1400" dirty="0">
                <a:solidFill>
                  <a:srgbClr val="F0F4F0"/>
                </a:solidFill>
              </a:rPr>
              <a:t>temperature</a:t>
            </a:r>
          </a:p>
          <a:p>
            <a:pPr algn="l">
              <a:buNone/>
            </a:pPr>
            <a:r>
              <a:rPr lang="fr-FR" sz="1400" dirty="0">
                <a:solidFill>
                  <a:srgbClr val="F0F4F0"/>
                </a:solidFill>
              </a:rPr>
              <a:t>humidity</a:t>
            </a:r>
          </a:p>
          <a:p>
            <a:pPr algn="l">
              <a:buNone/>
            </a:pPr>
            <a:r>
              <a:rPr lang="fr-FR" sz="1400" dirty="0">
                <a:solidFill>
                  <a:srgbClr val="F0F4F0"/>
                </a:solidFill>
              </a:rPr>
              <a:t>date</a:t>
            </a:r>
          </a:p>
        </p:txBody>
      </p:sp>
      <p:sp>
        <p:nvSpPr>
          <p:cNvPr id="74" name="Arrow"/>
          <p:cNvSpPr/>
          <p:nvPr/>
        </p:nvSpPr>
        <p:spPr>
          <a:xfrm>
            <a:off x="5181600" y="2971800"/>
            <a:ext cx="1828800" cy="0"/>
          </a:xfrm>
          <a:prstGeom prst="line">
            <a:avLst/>
          </a:prstGeom>
          <a:ln w="25400">
            <a:solidFill>
              <a:srgbClr val="4CAF50"/>
            </a:solidFill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75" name="RelLabel"/>
          <p:cNvSpPr/>
          <p:nvPr/>
        </p:nvSpPr>
        <p:spPr>
          <a:xfrm>
            <a:off x="5029200" y="3200400"/>
            <a:ext cx="2133600" cy="457200"/>
          </a:xfrm>
          <a:prstGeom prst="rect">
            <a:avLst/>
          </a:prstGeom>
          <a:noFill/>
        </p:spPr>
        <p:txBody>
          <a:bodyPr anchor="t"/>
          <a:lstStyle/>
          <a:p>
            <a:pPr algn="ctr">
              <a:buNone/>
            </a:pPr>
            <a:r>
              <a:rPr lang="fr-FR" sz="1400" dirty="0">
                <a:solidFill>
                  <a:srgbClr val="A5D6A7"/>
                </a:solidFill>
              </a:rPr>
              <a:t>station_id</a:t>
            </a:r>
          </a:p>
        </p:txBody>
      </p:sp>
      <p:sp>
        <p:nvSpPr>
          <p:cNvPr id="76" name="DimLabel"/>
          <p:cNvSpPr/>
          <p:nvPr/>
        </p:nvSpPr>
        <p:spPr>
          <a:xfrm>
            <a:off x="914400" y="5638800"/>
            <a:ext cx="4114800" cy="342900"/>
          </a:xfrm>
          <a:prstGeom prst="rect">
            <a:avLst/>
          </a:prstGeom>
          <a:noFill/>
        </p:spPr>
        <p:txBody>
          <a:bodyPr anchor="t"/>
          <a:lstStyle/>
          <a:p>
            <a:pPr algn="ctr">
              <a:buNone/>
            </a:pPr>
            <a:r>
              <a:rPr lang="fr-FR" sz="1400" dirty="0">
                <a:solidFill>
                  <a:srgbClr val="81C784"/>
                </a:solidFill>
              </a:rPr>
              <a:t>Table de dimension</a:t>
            </a:r>
          </a:p>
        </p:txBody>
      </p:sp>
      <p:sp>
        <p:nvSpPr>
          <p:cNvPr id="77" name="FctLabel"/>
          <p:cNvSpPr/>
          <p:nvPr/>
        </p:nvSpPr>
        <p:spPr>
          <a:xfrm>
            <a:off x="7162800" y="5638800"/>
            <a:ext cx="4114800" cy="342900"/>
          </a:xfrm>
          <a:prstGeom prst="rect">
            <a:avLst/>
          </a:prstGeom>
          <a:noFill/>
        </p:spPr>
        <p:txBody>
          <a:bodyPr anchor="t"/>
          <a:lstStyle/>
          <a:p>
            <a:pPr algn="ctr">
              <a:buNone/>
            </a:pPr>
            <a:r>
              <a:rPr lang="fr-FR" sz="1400" dirty="0">
                <a:solidFill>
                  <a:srgbClr val="81C784"/>
                </a:solidFill>
              </a:rPr>
              <a:t>Table de faits</a:t>
            </a:r>
          </a:p>
        </p:txBody>
      </p:sp>
    </p:spTree>
    <p:extLst>
      <p:ext uri="{BB962C8B-B14F-4D97-AF65-F5344CB8AC3E}">
        <p14:creationId xmlns:p14="http://schemas.microsoft.com/office/powerpoint/2010/main" val="144624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C4BF8-79DE-2F69-410C-3BA909D4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"/>
          <p:cNvSpPr/>
          <p:nvPr/>
        </p:nvSpPr>
        <p:spPr>
          <a:xfrm>
            <a:off x="457200" y="228600"/>
            <a:ext cx="1127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MODÉLISATION ET EXPLOITATION</a:t>
            </a:r>
          </a:p>
        </p:txBody>
      </p:sp>
      <p:sp>
        <p:nvSpPr>
          <p:cNvPr id="81" name="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82" name="Card0"/>
          <p:cNvSpPr/>
          <p:nvPr/>
        </p:nvSpPr>
        <p:spPr>
          <a:xfrm>
            <a:off x="457200" y="10287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228600" rIns="228600" bIns="182880" anchor="t"/>
          <a:lstStyle/>
          <a:p>
            <a:pPr algn="l">
              <a:buNone/>
            </a:pPr>
            <a:r>
              <a:rPr lang="fr-FR" sz="2000" b="1" dirty="0">
                <a:solidFill>
                  <a:srgbClr val="4CAF50"/>
                </a:solidFill>
              </a:rPr>
              <a:t>Modélisation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Modèle en étoile (Star Schema)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Table de faits : données mesurées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Table de dimension : données descriptives</a:t>
            </a:r>
          </a:p>
        </p:txBody>
      </p:sp>
      <p:sp>
        <p:nvSpPr>
          <p:cNvPr id="83" name="Card1"/>
          <p:cNvSpPr/>
          <p:nvPr/>
        </p:nvSpPr>
        <p:spPr>
          <a:xfrm>
            <a:off x="4114800" y="10287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228600" rIns="228600" bIns="182880" anchor="t"/>
          <a:lstStyle/>
          <a:p>
            <a:pPr algn="l">
              <a:buNone/>
            </a:pPr>
            <a:r>
              <a:rPr lang="fr-FR" sz="2000" b="1" dirty="0">
                <a:solidFill>
                  <a:srgbClr val="4CAF50"/>
                </a:solidFill>
              </a:rPr>
              <a:t>Relations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Liaison via la clé station_id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Intégrité des données assurée</a:t>
            </a:r>
          </a:p>
        </p:txBody>
      </p:sp>
      <p:sp>
        <p:nvSpPr>
          <p:cNvPr id="84" name="Card2"/>
          <p:cNvSpPr/>
          <p:nvPr/>
        </p:nvSpPr>
        <p:spPr>
          <a:xfrm>
            <a:off x="7772400" y="10287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228600" rIns="228600" bIns="182880" anchor="t"/>
          <a:lstStyle/>
          <a:p>
            <a:pPr algn="l">
              <a:buNone/>
            </a:pPr>
            <a:r>
              <a:rPr lang="fr-FR" sz="2000" b="1" dirty="0">
                <a:solidFill>
                  <a:srgbClr val="4CAF50"/>
                </a:solidFill>
              </a:rPr>
              <a:t>Interrogation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Données stockées dans PostgreSQL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Requêtes SQL pour l'analyse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Jointures entre tables (JOIN)</a:t>
            </a:r>
          </a:p>
        </p:txBody>
      </p:sp>
    </p:spTree>
    <p:extLst>
      <p:ext uri="{BB962C8B-B14F-4D97-AF65-F5344CB8AC3E}">
        <p14:creationId xmlns:p14="http://schemas.microsoft.com/office/powerpoint/2010/main" val="320717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E7C61-AC1D-4A6F-6073-D11EEA5B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81E90C0-84D5-ACE6-179B-5CE362D9097A}"/>
              </a:ext>
            </a:extLst>
          </p:cNvPr>
          <p:cNvSpPr txBox="1"/>
          <p:nvPr/>
        </p:nvSpPr>
        <p:spPr>
          <a:xfrm>
            <a:off x="457200" y="228600"/>
            <a:ext cx="32283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03 — COLLECTE DE DONNÉES</a:t>
            </a:r>
          </a:p>
        </p:txBody>
      </p:sp>
      <p:sp>
        <p:nvSpPr>
          <p:cNvPr id="90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F3F8A8C-BBFE-9D45-3EF6-E3C591F4B5FC}"/>
              </a:ext>
            </a:extLst>
          </p:cNvPr>
          <p:cNvSpPr txBox="1"/>
          <p:nvPr/>
        </p:nvSpPr>
        <p:spPr>
          <a:xfrm>
            <a:off x="141514" y="12827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Installation d’</a:t>
            </a:r>
            <a:r>
              <a:rPr lang="fr-FR" b="1" dirty="0" err="1"/>
              <a:t>Airbyte</a:t>
            </a:r>
            <a:r>
              <a:rPr lang="fr-FR" b="1" dirty="0"/>
              <a:t> avec 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Installation via l’outil </a:t>
            </a:r>
            <a:r>
              <a:rPr lang="fr-FR" dirty="0">
                <a:latin typeface="Courier New" panose="02070309020205020404" pitchFamily="49" charset="0"/>
              </a:rPr>
              <a:t>abctl</a:t>
            </a:r>
            <a:r>
              <a:rPr lang="fr-F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Utilisation de Docker en arrière-plan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Téléchargement automatique des images Airbyte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Lancement des conteneurs (server, worker,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Accès à l’interface via localhost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58CA6A6-EE92-CDA8-3350-78436ECC6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" y="3949491"/>
            <a:ext cx="5341740" cy="193776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A54F01A-98CF-D436-609B-CCAEB642D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456" y="694767"/>
            <a:ext cx="4855029" cy="5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8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E7303-C282-8001-4F79-64337837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2564885-F82B-3BAE-A111-92EF1D4B6F86}"/>
              </a:ext>
            </a:extLst>
          </p:cNvPr>
          <p:cNvSpPr txBox="1"/>
          <p:nvPr/>
        </p:nvSpPr>
        <p:spPr>
          <a:xfrm>
            <a:off x="457200" y="1524000"/>
            <a:ext cx="6096000" cy="1631216"/>
          </a:xfrm>
          <a:prstGeom prst="rect">
            <a:avLst/>
          </a:prstGeom>
          <a:noFill/>
        </p:spPr>
        <p:txBody>
          <a:bodyPr wrap="square" lIns="228600" tIns="18288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Collecte des données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Sources météo hétérogènes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Réseaux InfoClimat &amp; Weather Underground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Fréquences variables (10 à 30 min)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Ingestion automatisée avec Airbyte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F056A8A-54E8-D6FA-8EAB-B486FDA03B49}"/>
              </a:ext>
            </a:extLst>
          </p:cNvPr>
          <p:cNvSpPr txBox="1"/>
          <p:nvPr/>
        </p:nvSpPr>
        <p:spPr>
          <a:xfrm>
            <a:off x="457200" y="228600"/>
            <a:ext cx="32283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03 — COLLECTE DE DONNÉES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B0BF778-F062-A02A-569B-4F0FD77F2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244" y="3277095"/>
            <a:ext cx="9405511" cy="2687288"/>
          </a:xfrm>
          <a:prstGeom prst="rect">
            <a:avLst/>
          </a:prstGeom>
        </p:spPr>
      </p:pic>
      <p:sp>
        <p:nvSpPr>
          <p:cNvPr id="90" name="AccentLine">
            <a:extLst>
              <a:ext uri="{FF2B5EF4-FFF2-40B4-BE49-F238E27FC236}">
                <a16:creationId xmlns:a16="http://schemas.microsoft.com/office/drawing/2014/main" id="{C01CB241-EBDA-9261-5CA9-30EAFB89C0D4}"/>
              </a:ext>
            </a:extLst>
          </p:cNvPr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743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68D83-D160-C423-5481-0FCDC2A5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158C1FA-B9EE-3D10-40AC-8840E117680D}"/>
              </a:ext>
            </a:extLst>
          </p:cNvPr>
          <p:cNvSpPr txBox="1"/>
          <p:nvPr/>
        </p:nvSpPr>
        <p:spPr>
          <a:xfrm>
            <a:off x="457200" y="22860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03 — STOCKAGE DE DONNÉES</a:t>
            </a:r>
          </a:p>
        </p:txBody>
      </p:sp>
      <p:sp>
        <p:nvSpPr>
          <p:cNvPr id="91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4557CD-088D-4000-977F-59767F581E85}"/>
              </a:ext>
            </a:extLst>
          </p:cNvPr>
          <p:cNvSpPr txBox="1"/>
          <p:nvPr/>
        </p:nvSpPr>
        <p:spPr>
          <a:xfrm>
            <a:off x="0" y="175420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Installation de PostgreSQL avec Docker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Utilisation de l’image officielle 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Création et lancement du conteneur Docker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Configuration des variables (user, mot de passe, base)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Exposition du port 5432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Connexion via </a:t>
            </a:r>
            <a:r>
              <a:rPr lang="fr-FR" dirty="0" err="1"/>
              <a:t>Postgres</a:t>
            </a:r>
            <a:r>
              <a:rPr lang="fr-FR" dirty="0"/>
              <a:t> et observation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5722D62-D0AD-F6A4-9E9D-F6E8B3A50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057" y="452471"/>
            <a:ext cx="4408714" cy="595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3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53689-C075-78A3-8B96-CBE36D3F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9B15D39-E0C4-6896-DE35-9CB36F99C582}"/>
              </a:ext>
            </a:extLst>
          </p:cNvPr>
          <p:cNvSpPr txBox="1"/>
          <p:nvPr/>
        </p:nvSpPr>
        <p:spPr>
          <a:xfrm>
            <a:off x="457200" y="22860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03 — STOCKAGE DE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53A276-FC48-2D24-B291-F5FA55C64B28}"/>
              </a:ext>
            </a:extLst>
          </p:cNvPr>
          <p:cNvSpPr txBox="1"/>
          <p:nvPr/>
        </p:nvSpPr>
        <p:spPr>
          <a:xfrm>
            <a:off x="457200" y="1240355"/>
            <a:ext cx="6702136" cy="1323439"/>
          </a:xfrm>
          <a:prstGeom prst="rect">
            <a:avLst/>
          </a:prstGeom>
          <a:noFill/>
        </p:spPr>
        <p:txBody>
          <a:bodyPr wrap="square" lIns="228600" tIns="18288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Stockage des données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Centralisation dans PostgreSQL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Stockage des données brutes (RAW)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Base disponible pour transformation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BB4BE0-7D5D-FE43-474B-BDA2858C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540" y="4611132"/>
            <a:ext cx="7155180" cy="19795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DBDD782-E8A0-DACB-D706-21846FE31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8" y="2683465"/>
            <a:ext cx="6431004" cy="1807995"/>
          </a:xfrm>
          <a:prstGeom prst="rect">
            <a:avLst/>
          </a:prstGeom>
        </p:spPr>
      </p:pic>
      <p:sp>
        <p:nvSpPr>
          <p:cNvPr id="91" name="AccentLine">
            <a:extLst>
              <a:ext uri="{FF2B5EF4-FFF2-40B4-BE49-F238E27FC236}">
                <a16:creationId xmlns:a16="http://schemas.microsoft.com/office/drawing/2014/main" id="{2009F49E-54C8-8837-1812-073C16088353}"/>
              </a:ext>
            </a:extLst>
          </p:cNvPr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650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585F5-941E-B24C-56C0-7BE7747B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829C05F-9937-301A-1078-37485890F413}"/>
              </a:ext>
            </a:extLst>
          </p:cNvPr>
          <p:cNvSpPr txBox="1"/>
          <p:nvPr/>
        </p:nvSpPr>
        <p:spPr>
          <a:xfrm>
            <a:off x="457200" y="228600"/>
            <a:ext cx="40741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03 — TRANSFORMATION DE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B3C2389-99EF-120F-62F9-26DEEA87C307}"/>
              </a:ext>
            </a:extLst>
          </p:cNvPr>
          <p:cNvSpPr txBox="1"/>
          <p:nvPr/>
        </p:nvSpPr>
        <p:spPr>
          <a:xfrm>
            <a:off x="457200" y="1841500"/>
            <a:ext cx="7559040" cy="1323439"/>
          </a:xfrm>
          <a:prstGeom prst="rect">
            <a:avLst/>
          </a:prstGeom>
          <a:noFill/>
        </p:spPr>
        <p:txBody>
          <a:bodyPr wrap="square" lIns="228600" tIns="18288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Transformation des données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Traitement avec DBT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Couches : staging, intermediate, marts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Nettoyage et structuration des données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4A3EEB7-0370-1D7A-9D5C-4409F4EC6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337" y="2789903"/>
            <a:ext cx="6718300" cy="3581400"/>
          </a:xfrm>
          <a:prstGeom prst="rect">
            <a:avLst/>
          </a:prstGeom>
        </p:spPr>
      </p:pic>
      <p:sp>
        <p:nvSpPr>
          <p:cNvPr id="92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84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B18D4-D730-7446-D3A4-49D06616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6B5D44A-7E10-B1E6-CF1C-3A02558EA025}"/>
              </a:ext>
            </a:extLst>
          </p:cNvPr>
          <p:cNvSpPr txBox="1"/>
          <p:nvPr/>
        </p:nvSpPr>
        <p:spPr>
          <a:xfrm>
            <a:off x="457200" y="228600"/>
            <a:ext cx="1046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03 — TESTS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A81CFE-C376-12DB-EC29-501EA70E6108}"/>
              </a:ext>
            </a:extLst>
          </p:cNvPr>
          <p:cNvSpPr txBox="1"/>
          <p:nvPr/>
        </p:nvSpPr>
        <p:spPr>
          <a:xfrm>
            <a:off x="457200" y="1841500"/>
            <a:ext cx="6096000" cy="1631216"/>
          </a:xfrm>
          <a:prstGeom prst="rect">
            <a:avLst/>
          </a:prstGeom>
          <a:noFill/>
        </p:spPr>
        <p:txBody>
          <a:bodyPr wrap="square" lIns="228600" tIns="18288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Tests et qualité des données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Tests DBT automatisés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Vérification des valeurs nulles (not null)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Vérification des doublons (unique)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Vérification des relations (foreign key)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048B22-11D5-3BCF-4C5F-4FA121C4D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04" y="4006430"/>
            <a:ext cx="10100591" cy="645968"/>
          </a:xfrm>
          <a:prstGeom prst="rect">
            <a:avLst/>
          </a:prstGeom>
        </p:spPr>
      </p:pic>
      <p:sp>
        <p:nvSpPr>
          <p:cNvPr id="93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86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8EAF4-8B2B-2544-B855-9F666802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7101BF0-60EF-0401-C868-23039335B0A4}"/>
              </a:ext>
            </a:extLst>
          </p:cNvPr>
          <p:cNvSpPr txBox="1"/>
          <p:nvPr/>
        </p:nvSpPr>
        <p:spPr>
          <a:xfrm>
            <a:off x="457200" y="228600"/>
            <a:ext cx="3586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04 — ARCHITECTURE GLOBALE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3CBBB5-05BE-C2AF-C2F5-DDFFEFC90319}"/>
              </a:ext>
            </a:extLst>
          </p:cNvPr>
          <p:cNvSpPr txBox="1"/>
          <p:nvPr/>
        </p:nvSpPr>
        <p:spPr>
          <a:xfrm>
            <a:off x="203821" y="1546659"/>
            <a:ext cx="6096000" cy="1277273"/>
          </a:xfrm>
          <a:prstGeom prst="rect">
            <a:avLst/>
          </a:prstGeom>
          <a:noFill/>
        </p:spPr>
        <p:txBody>
          <a:bodyPr wrap="square" lIns="228600" tIns="13716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Architecture de la solution</a:t>
            </a:r>
          </a:p>
          <a:p>
            <a:pPr marL="228600" indent="-228600" algn="l">
              <a:spcAft>
                <a:spcPts val="25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Pipeline de type ELT</a:t>
            </a:r>
          </a:p>
          <a:p>
            <a:pPr marL="228600" indent="-228600" algn="l">
              <a:spcAft>
                <a:spcPts val="25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Environnement local + cloud (AWS)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Flux de données automatisé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43E538-3429-31BA-E67A-AD752D36048A}"/>
              </a:ext>
            </a:extLst>
          </p:cNvPr>
          <p:cNvSpPr txBox="1"/>
          <p:nvPr/>
        </p:nvSpPr>
        <p:spPr>
          <a:xfrm>
            <a:off x="0" y="4894927"/>
            <a:ext cx="6099462" cy="1277273"/>
          </a:xfrm>
          <a:prstGeom prst="rect">
            <a:avLst/>
          </a:prstGeom>
          <a:noFill/>
        </p:spPr>
        <p:txBody>
          <a:bodyPr wrap="square" lIns="228600" tIns="13716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Développement cloud</a:t>
            </a:r>
          </a:p>
          <a:p>
            <a:pPr marL="228600" indent="-228600" algn="l">
              <a:spcAft>
                <a:spcPts val="25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Centralisation des données</a:t>
            </a:r>
          </a:p>
          <a:p>
            <a:pPr marL="228600" indent="-228600" algn="l">
              <a:spcAft>
                <a:spcPts val="25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Accessibilité et scalabilité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Industrialisation du pipeline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D1F776F-AC13-A09B-038C-1FE806D45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731" y="2931654"/>
            <a:ext cx="8920514" cy="2205638"/>
          </a:xfrm>
          <a:prstGeom prst="rect">
            <a:avLst/>
          </a:prstGeom>
        </p:spPr>
      </p:pic>
      <p:sp>
        <p:nvSpPr>
          <p:cNvPr id="94" name="AccentLine"/>
          <p:cNvSpPr/>
          <p:nvPr/>
        </p:nvSpPr>
        <p:spPr>
          <a:xfrm>
            <a:off x="457200" y="6858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21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D4002-3258-5835-C6F4-BB3B3C65F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228600"/>
            <a:ext cx="1127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04 — ENVIRONNEMENT LOCAL</a:t>
            </a:r>
          </a:p>
        </p:txBody>
      </p:sp>
      <p:sp>
        <p:nvSpPr>
          <p:cNvPr id="101" name="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2" name="Step0"/>
          <p:cNvSpPr/>
          <p:nvPr/>
        </p:nvSpPr>
        <p:spPr>
          <a:xfrm>
            <a:off x="457200" y="1143000"/>
            <a:ext cx="2514600" cy="36576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37160" rIns="182880" bIns="137160" anchor="ctr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1</a:t>
            </a:r>
          </a:p>
          <a:p>
            <a:pPr algn="ctr">
              <a:buNone/>
            </a:pPr>
            <a:r>
              <a:rPr lang="fr-FR" sz="1800" b="1" dirty="0">
                <a:solidFill>
                  <a:srgbClr val="F0F4F0"/>
                </a:solidFill>
              </a:rPr>
              <a:t>Collecte</a:t>
            </a:r>
          </a:p>
          <a:p>
            <a:pPr algn="ctr">
              <a:buNone/>
            </a:pPr>
            <a:r>
              <a:rPr lang="fr-FR" sz="1400" dirty="0">
                <a:solidFill>
                  <a:srgbClr val="A5D6A7"/>
                </a:solidFill>
              </a:rPr>
              <a:t>Airbyte</a:t>
            </a:r>
          </a:p>
        </p:txBody>
      </p:sp>
      <p:sp>
        <p:nvSpPr>
          <p:cNvPr id="110" name="Arrow0"/>
          <p:cNvSpPr/>
          <p:nvPr/>
        </p:nvSpPr>
        <p:spPr>
          <a:xfrm>
            <a:off x="2971800" y="2971800"/>
            <a:ext cx="228600" cy="0"/>
          </a:xfrm>
          <a:prstGeom prst="line">
            <a:avLst/>
          </a:prstGeom>
          <a:ln w="19050">
            <a:solidFill>
              <a:srgbClr val="4CAF50"/>
            </a:solidFill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03" name="Step1"/>
          <p:cNvSpPr/>
          <p:nvPr/>
        </p:nvSpPr>
        <p:spPr>
          <a:xfrm>
            <a:off x="3200400" y="1143000"/>
            <a:ext cx="2514600" cy="36576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37160" rIns="182880" bIns="137160" anchor="ctr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2</a:t>
            </a:r>
          </a:p>
          <a:p>
            <a:pPr algn="ctr">
              <a:buNone/>
            </a:pPr>
            <a:r>
              <a:rPr lang="fr-FR" sz="1800" b="1" dirty="0">
                <a:solidFill>
                  <a:srgbClr val="F0F4F0"/>
                </a:solidFill>
              </a:rPr>
              <a:t>Stockage</a:t>
            </a:r>
          </a:p>
          <a:p>
            <a:pPr algn="ctr">
              <a:buNone/>
            </a:pPr>
            <a:r>
              <a:rPr lang="fr-FR" sz="1400" dirty="0">
                <a:solidFill>
                  <a:srgbClr val="A5D6A7"/>
                </a:solidFill>
              </a:rPr>
              <a:t>PostgreSQL</a:t>
            </a:r>
          </a:p>
        </p:txBody>
      </p:sp>
      <p:sp>
        <p:nvSpPr>
          <p:cNvPr id="111" name="Arrow1"/>
          <p:cNvSpPr/>
          <p:nvPr/>
        </p:nvSpPr>
        <p:spPr>
          <a:xfrm>
            <a:off x="5715000" y="2971800"/>
            <a:ext cx="228600" cy="0"/>
          </a:xfrm>
          <a:prstGeom prst="line">
            <a:avLst/>
          </a:prstGeom>
          <a:ln w="19050">
            <a:solidFill>
              <a:srgbClr val="4CAF50"/>
            </a:solidFill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04" name="Step2"/>
          <p:cNvSpPr/>
          <p:nvPr/>
        </p:nvSpPr>
        <p:spPr>
          <a:xfrm>
            <a:off x="5943600" y="1143000"/>
            <a:ext cx="2514600" cy="36576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37160" rIns="182880" bIns="137160" anchor="ctr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3</a:t>
            </a:r>
          </a:p>
          <a:p>
            <a:pPr algn="ctr">
              <a:buNone/>
            </a:pPr>
            <a:r>
              <a:rPr lang="fr-FR" sz="1800" b="1" dirty="0">
                <a:solidFill>
                  <a:srgbClr val="F0F4F0"/>
                </a:solidFill>
              </a:rPr>
              <a:t>Transformation</a:t>
            </a:r>
          </a:p>
          <a:p>
            <a:pPr algn="ctr">
              <a:buNone/>
            </a:pPr>
            <a:r>
              <a:rPr lang="fr-FR" sz="1400" dirty="0">
                <a:solidFill>
                  <a:srgbClr val="A5D6A7"/>
                </a:solidFill>
              </a:rPr>
              <a:t>DBT</a:t>
            </a:r>
          </a:p>
        </p:txBody>
      </p:sp>
      <p:sp>
        <p:nvSpPr>
          <p:cNvPr id="112" name="Arrow2"/>
          <p:cNvSpPr/>
          <p:nvPr/>
        </p:nvSpPr>
        <p:spPr>
          <a:xfrm>
            <a:off x="8458200" y="2971800"/>
            <a:ext cx="228600" cy="0"/>
          </a:xfrm>
          <a:prstGeom prst="line">
            <a:avLst/>
          </a:prstGeom>
          <a:ln w="19050">
            <a:solidFill>
              <a:srgbClr val="4CAF50"/>
            </a:solidFill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05" name="Step3"/>
          <p:cNvSpPr/>
          <p:nvPr/>
        </p:nvSpPr>
        <p:spPr>
          <a:xfrm>
            <a:off x="8686800" y="1143000"/>
            <a:ext cx="2514600" cy="3657600"/>
          </a:xfrm>
          <a:prstGeom prst="roundRect">
            <a:avLst>
              <a:gd name="adj" fmla="val 5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182880" tIns="137160" rIns="182880" bIns="137160" anchor="ctr"/>
          <a:lstStyle/>
          <a:p>
            <a:pPr algn="ctr">
              <a:buNone/>
            </a:pPr>
            <a:r>
              <a:rPr lang="fr-FR" sz="3200" b="1" dirty="0">
                <a:solidFill>
                  <a:srgbClr val="4CAF50"/>
                </a:solidFill>
              </a:rPr>
              <a:t>4</a:t>
            </a:r>
          </a:p>
          <a:p>
            <a:pPr algn="ctr">
              <a:buNone/>
            </a:pPr>
            <a:r>
              <a:rPr lang="fr-FR" sz="1800" b="1" dirty="0">
                <a:solidFill>
                  <a:srgbClr val="F0F4F0"/>
                </a:solidFill>
              </a:rPr>
              <a:t>Validation</a:t>
            </a:r>
          </a:p>
          <a:p>
            <a:pPr algn="ctr">
              <a:buNone/>
            </a:pPr>
            <a:r>
              <a:rPr lang="fr-FR" sz="1400" dirty="0">
                <a:solidFill>
                  <a:srgbClr val="A5D6A7"/>
                </a:solidFill>
              </a:rPr>
              <a:t>Tests DBT</a:t>
            </a:r>
          </a:p>
        </p:txBody>
      </p:sp>
    </p:spTree>
    <p:extLst>
      <p:ext uri="{BB962C8B-B14F-4D97-AF65-F5344CB8AC3E}">
        <p14:creationId xmlns:p14="http://schemas.microsoft.com/office/powerpoint/2010/main" val="257824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4FFC0-1171-6B4F-9847-16C170DB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FEC3454-2FDD-7BB7-F971-09AB6EA9FB53}"/>
              </a:ext>
            </a:extLst>
          </p:cNvPr>
          <p:cNvSpPr txBox="1"/>
          <p:nvPr/>
        </p:nvSpPr>
        <p:spPr>
          <a:xfrm>
            <a:off x="457200" y="228600"/>
            <a:ext cx="3322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04 — ENVIRONNEMENT CLOUD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7C1EA6-9281-9786-EB3F-A461E1B69985}"/>
              </a:ext>
            </a:extLst>
          </p:cNvPr>
          <p:cNvSpPr txBox="1"/>
          <p:nvPr/>
        </p:nvSpPr>
        <p:spPr>
          <a:xfrm>
            <a:off x="202829" y="1613595"/>
            <a:ext cx="5435600" cy="1608133"/>
          </a:xfrm>
          <a:prstGeom prst="rect">
            <a:avLst/>
          </a:prstGeom>
          <a:noFill/>
        </p:spPr>
        <p:txBody>
          <a:bodyPr wrap="square" lIns="228600" tIns="18288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Déploiement dans le cloud (AWS)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PostgreSQL sur AWS RDS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Ingestion avec Airbyte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Connexion DBT Cloud à RDS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Déploiement via GitHub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32E2ACA-0FB5-339A-F421-36076779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318" y="2165467"/>
            <a:ext cx="8395853" cy="4264159"/>
          </a:xfrm>
          <a:prstGeom prst="rect">
            <a:avLst/>
          </a:prstGeom>
        </p:spPr>
      </p:pic>
      <p:sp>
        <p:nvSpPr>
          <p:cNvPr id="95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27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47467-E1B3-2356-352C-638D1C61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CF05F12-C2C4-8D3A-3561-D7E862532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723" y="1393008"/>
            <a:ext cx="7030064" cy="4071984"/>
          </a:xfrm>
          <a:prstGeom prst="rect">
            <a:avLst/>
          </a:prstGeom>
        </p:spPr>
      </p:pic>
      <p:sp>
        <p:nvSpPr>
          <p:cNvPr id="120" name="Title"/>
          <p:cNvSpPr/>
          <p:nvPr/>
        </p:nvSpPr>
        <p:spPr>
          <a:xfrm>
            <a:off x="457200" y="228600"/>
            <a:ext cx="1127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05 — QUALITÉ DES DONNÉES</a:t>
            </a:r>
          </a:p>
        </p:txBody>
      </p:sp>
      <p:sp>
        <p:nvSpPr>
          <p:cNvPr id="121" name="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2" name="TestsCard"/>
          <p:cNvSpPr/>
          <p:nvPr/>
        </p:nvSpPr>
        <p:spPr>
          <a:xfrm>
            <a:off x="147484" y="910713"/>
            <a:ext cx="4262284" cy="24003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182880" rIns="228600" bIns="137160" anchor="t"/>
          <a:lstStyle/>
          <a:p>
            <a:pPr algn="l">
              <a:buNone/>
            </a:pPr>
            <a:r>
              <a:rPr lang="fr-FR" sz="1800" b="1" dirty="0">
                <a:solidFill>
                  <a:srgbClr val="4CAF50"/>
                </a:solidFill>
              </a:rPr>
              <a:t>Tests DBT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Valeurs nulles (not null)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Doublons (unique)</a:t>
            </a:r>
          </a:p>
          <a:p>
            <a:pPr marL="228600" indent="-228600" algn="l"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Relations (foreign key)</a:t>
            </a:r>
          </a:p>
        </p:txBody>
      </p:sp>
      <p:sp>
        <p:nvSpPr>
          <p:cNvPr id="123" name="FiabCard"/>
          <p:cNvSpPr/>
          <p:nvPr/>
        </p:nvSpPr>
        <p:spPr>
          <a:xfrm>
            <a:off x="147484" y="3546560"/>
            <a:ext cx="4262284" cy="25146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182880" rIns="228600" bIns="137160" anchor="t"/>
          <a:lstStyle/>
          <a:p>
            <a:pPr algn="l">
              <a:buNone/>
            </a:pPr>
            <a:r>
              <a:rPr lang="fr-FR" sz="1800" b="1" dirty="0">
                <a:solidFill>
                  <a:srgbClr val="4CAF50"/>
                </a:solidFill>
              </a:rPr>
              <a:t>Fiabilité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Données nettoyées et structurées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Pipeline automatisé</a:t>
            </a:r>
          </a:p>
          <a:p>
            <a:pPr marL="228600" indent="-228600" algn="l">
              <a:buFont typeface="Arial"/>
              <a:buChar char="•"/>
            </a:pPr>
            <a:r>
              <a:rPr lang="fr-FR" sz="1400" dirty="0">
                <a:solidFill>
                  <a:srgbClr val="F0F4F0"/>
                </a:solidFill>
              </a:rPr>
              <a:t>Données cohérentes et exploitables</a:t>
            </a:r>
          </a:p>
        </p:txBody>
      </p:sp>
    </p:spTree>
    <p:extLst>
      <p:ext uri="{BB962C8B-B14F-4D97-AF65-F5344CB8AC3E}">
        <p14:creationId xmlns:p14="http://schemas.microsoft.com/office/powerpoint/2010/main" val="115535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A1280-3E9B-3CAD-F7EC-4137BD930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36A0A57-495F-AC5D-3984-878B94B38E0A}"/>
              </a:ext>
            </a:extLst>
          </p:cNvPr>
          <p:cNvSpPr txBox="1"/>
          <p:nvPr/>
        </p:nvSpPr>
        <p:spPr>
          <a:xfrm>
            <a:off x="457200" y="228600"/>
            <a:ext cx="3799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05 — EXPLOITATION &amp; SUPERVISION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3AA93F0-257B-1333-F5C4-C77144C1DE90}"/>
              </a:ext>
            </a:extLst>
          </p:cNvPr>
          <p:cNvSpPr txBox="1"/>
          <p:nvPr/>
        </p:nvSpPr>
        <p:spPr>
          <a:xfrm>
            <a:off x="0" y="1182707"/>
            <a:ext cx="5273040" cy="1608133"/>
          </a:xfrm>
          <a:prstGeom prst="rect">
            <a:avLst/>
          </a:prstGeom>
          <a:noFill/>
        </p:spPr>
        <p:txBody>
          <a:bodyPr wrap="square" lIns="228600" tIns="18288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Exploitation et supervision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Visualisation via DBeaver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Connexion à AWS RDS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Vérification des tables transformées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Monitoring avec AWS CloudWatch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1A2343E-3DA5-CBD2-56CE-091A6A756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587" y="2463732"/>
            <a:ext cx="8127947" cy="3844891"/>
          </a:xfrm>
          <a:prstGeom prst="rect">
            <a:avLst/>
          </a:prstGeom>
        </p:spPr>
      </p:pic>
      <p:sp>
        <p:nvSpPr>
          <p:cNvPr id="96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55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583A-08CC-33C7-DE1C-B7BCB857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89769C-A347-4784-3EA4-09B8BE559AC5}"/>
              </a:ext>
            </a:extLst>
          </p:cNvPr>
          <p:cNvSpPr txBox="1"/>
          <p:nvPr/>
        </p:nvSpPr>
        <p:spPr>
          <a:xfrm>
            <a:off x="457200" y="228600"/>
            <a:ext cx="3545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05 — ACCESSIBILITÉ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1F74E5E-DE95-6472-7895-73A7E529C69C}"/>
              </a:ext>
            </a:extLst>
          </p:cNvPr>
          <p:cNvSpPr txBox="1"/>
          <p:nvPr/>
        </p:nvSpPr>
        <p:spPr>
          <a:xfrm>
            <a:off x="0" y="1820867"/>
            <a:ext cx="4895735" cy="1323439"/>
          </a:xfrm>
          <a:prstGeom prst="rect">
            <a:avLst/>
          </a:prstGeom>
          <a:noFill/>
        </p:spPr>
        <p:txBody>
          <a:bodyPr wrap="square" lIns="228600" tIns="182880" anchor="t">
            <a:sp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0F4F0"/>
                </a:solidFill>
              </a:rPr>
              <a:t>Accessibilité des données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Accès via PostgreSQL (DBeaver, pgAdmin)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Interface visuelle pour les équipes Data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Disponibilité 24/7 (AWS RDS)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6D0DF5-ACCB-872C-F5E4-74E9CACAB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764" y="880625"/>
            <a:ext cx="7125085" cy="16081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F7A4BE-70AD-8450-5EAB-133F01D67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701" y="3252355"/>
            <a:ext cx="7142148" cy="2352032"/>
          </a:xfrm>
          <a:prstGeom prst="rect">
            <a:avLst/>
          </a:prstGeom>
        </p:spPr>
      </p:pic>
      <p:sp>
        <p:nvSpPr>
          <p:cNvPr id="97" name="Accent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981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E0745-357B-9980-7579-9465D3B0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"/>
          <p:cNvSpPr/>
          <p:nvPr/>
        </p:nvSpPr>
        <p:spPr>
          <a:xfrm>
            <a:off x="457200" y="228600"/>
            <a:ext cx="1127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fr-FR" sz="2800" b="1" dirty="0">
                <a:solidFill>
                  <a:srgbClr val="4CAF50"/>
                </a:solidFill>
              </a:rPr>
              <a:t>06 — CONCLUSION</a:t>
            </a:r>
          </a:p>
        </p:txBody>
      </p:sp>
      <p:sp>
        <p:nvSpPr>
          <p:cNvPr id="131" name="Line"/>
          <p:cNvSpPr/>
          <p:nvPr/>
        </p:nvSpPr>
        <p:spPr>
          <a:xfrm>
            <a:off x="457200" y="800100"/>
            <a:ext cx="228600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2" name="Resultats"/>
          <p:cNvSpPr/>
          <p:nvPr/>
        </p:nvSpPr>
        <p:spPr>
          <a:xfrm>
            <a:off x="457200" y="1028700"/>
            <a:ext cx="5486400" cy="48006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228600" rIns="228600" bIns="182880" anchor="t"/>
          <a:lstStyle/>
          <a:p>
            <a:pPr algn="l">
              <a:buNone/>
            </a:pPr>
            <a:r>
              <a:rPr lang="fr-FR" sz="2200" b="1" dirty="0">
                <a:solidFill>
                  <a:srgbClr val="4CAF50"/>
                </a:solidFill>
              </a:rPr>
              <a:t>Résultats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Pipeline de données fonctionnel et automatisé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Données fiables et accessibles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Architecture ELT complète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Déploiement cloud réussi (AWS)</a:t>
            </a:r>
          </a:p>
        </p:txBody>
      </p:sp>
      <p:sp>
        <p:nvSpPr>
          <p:cNvPr id="133" name="Perspectives"/>
          <p:cNvSpPr/>
          <p:nvPr/>
        </p:nvSpPr>
        <p:spPr>
          <a:xfrm>
            <a:off x="6172200" y="1028700"/>
            <a:ext cx="5562600" cy="4800600"/>
          </a:xfrm>
          <a:prstGeom prst="roundRect">
            <a:avLst>
              <a:gd name="adj" fmla="val 3000"/>
            </a:avLst>
          </a:prstGeom>
          <a:solidFill>
            <a:srgbClr val="2D4A3E"/>
          </a:solidFill>
          <a:ln w="12700">
            <a:solidFill>
              <a:srgbClr val="4CAF50">
                <a:alpha val="30000"/>
              </a:srgbClr>
            </a:solidFill>
          </a:ln>
        </p:spPr>
        <p:txBody>
          <a:bodyPr lIns="228600" tIns="228600" rIns="228600" bIns="182880" anchor="t"/>
          <a:lstStyle/>
          <a:p>
            <a:pPr algn="l">
              <a:buNone/>
            </a:pPr>
            <a:r>
              <a:rPr lang="fr-FR" sz="2200" b="1" dirty="0">
                <a:solidFill>
                  <a:srgbClr val="4CAF50"/>
                </a:solidFill>
              </a:rPr>
              <a:t>Perspectives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Ajout de nouvelles sources météo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Intégration de modèles ML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Orchestration avec Airflow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dirty="0">
                <a:solidFill>
                  <a:srgbClr val="F0F4F0"/>
                </a:solidFill>
              </a:rPr>
              <a:t>Dashboard de monitoring temps réel</a:t>
            </a:r>
          </a:p>
        </p:txBody>
      </p:sp>
    </p:spTree>
    <p:extLst>
      <p:ext uri="{BB962C8B-B14F-4D97-AF65-F5344CB8AC3E}">
        <p14:creationId xmlns:p14="http://schemas.microsoft.com/office/powerpoint/2010/main" val="230657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 [1776770547433]">
  <a:themeElements>
    <a:clrScheme name="GreenAndCoop">
      <a:dk1>
        <a:srgbClr val="F0F4F0"/>
      </a:dk1>
      <a:lt1>
        <a:srgbClr val="1A2E28"/>
      </a:lt1>
      <a:dk2>
        <a:srgbClr val="1B3A2D"/>
      </a:dk2>
      <a:lt2>
        <a:srgbClr val="2D4A3E"/>
      </a:lt2>
      <a:accent1>
        <a:srgbClr val="4CAF50"/>
      </a:accent1>
      <a:accent2>
        <a:srgbClr val="81C784"/>
      </a:accent2>
      <a:accent3>
        <a:srgbClr val="26A69A"/>
      </a:accent3>
      <a:accent4>
        <a:srgbClr val="66BB6A"/>
      </a:accent4>
      <a:accent5>
        <a:srgbClr val="A5D6A7"/>
      </a:accent5>
      <a:accent6>
        <a:srgbClr val="00897B"/>
      </a:accent6>
      <a:hlink>
        <a:srgbClr val="0563C1"/>
      </a:hlink>
      <a:folHlink>
        <a:srgbClr val="954F72"/>
      </a:folHlink>
    </a:clrScheme>
    <a:fontScheme name="GreenAndCoop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f7e0ec-5824-4033-8089-1e784280be6f}">
  <we:reference id="WA200010001" version="1.0.0.1" store="en-US" storeType="OMEX"/>
  <we:alternateReferences/>
  <we:properties>
    <we:property name="Microsoft.Office.CampaignId" value="&quot;none&quot;"/>
    <we:property name="claude.fileId" value="&quot;99cc75a4-be3f-48bb-b061-5f16f773a86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</TotalTime>
  <Words>647</Words>
  <Application>Microsoft Macintosh PowerPoint</Application>
  <PresentationFormat>Grand écran</PresentationFormat>
  <Paragraphs>163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Courier New</vt:lpstr>
      <vt:lpstr>Montserrat</vt:lpstr>
      <vt:lpstr>Open Sans</vt:lpstr>
      <vt:lpstr>Office Theme [1776770547433]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endaye</cp:lastModifiedBy>
  <cp:revision>14</cp:revision>
  <dcterms:created xsi:type="dcterms:W3CDTF">2018-06-07T21:39:02Z</dcterms:created>
  <dcterms:modified xsi:type="dcterms:W3CDTF">2026-05-04T13:08:50Z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