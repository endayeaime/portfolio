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1" r:id="rId5"/>
    <p:sldId id="273" r:id="rId6"/>
    <p:sldId id="276" r:id="rId7"/>
    <p:sldId id="259" r:id="rId8"/>
    <p:sldId id="274" r:id="rId9"/>
    <p:sldId id="260" r:id="rId10"/>
    <p:sldId id="277" r:id="rId11"/>
    <p:sldId id="278" r:id="rId12"/>
    <p:sldId id="279" r:id="rId13"/>
    <p:sldId id="261" r:id="rId14"/>
    <p:sldId id="280" r:id="rId15"/>
    <p:sldId id="264" r:id="rId16"/>
    <p:sldId id="265" r:id="rId17"/>
    <p:sldId id="266" r:id="rId18"/>
    <p:sldId id="281" r:id="rId19"/>
    <p:sldId id="282" r:id="rId20"/>
    <p:sldId id="267" r:id="rId21"/>
    <p:sldId id="283" r:id="rId22"/>
    <p:sldId id="284" r:id="rId23"/>
    <p:sldId id="268" r:id="rId24"/>
    <p:sldId id="285" r:id="rId25"/>
    <p:sldId id="286" r:id="rId26"/>
    <p:sldId id="287" r:id="rId27"/>
    <p:sldId id="288" r:id="rId28"/>
    <p:sldId id="292" r:id="rId29"/>
    <p:sldId id="269" r:id="rId30"/>
    <p:sldId id="289" r:id="rId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3"/>
  </p:normalViewPr>
  <p:slideViewPr>
    <p:cSldViewPr snapToGrid="0">
      <p:cViewPr varScale="1">
        <p:scale>
          <a:sx n="126" d="100"/>
          <a:sy n="126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1A1F11-0A31-6D86-758D-4609009A6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8BDEC43-6A5C-2046-F761-6D9FA691B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D8CDFC-9396-3E9C-1976-F31741420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0CE29D-E8BF-611A-459F-5AD984A2B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62260D-2919-6F8D-CC6B-6041C1E2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6490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AEF659-B3EA-5A15-035F-8E1EFA0A8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3F5300-FC8A-5C9D-BA6A-169742413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645145-60A3-6839-9B39-5CA4F96CC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E5D43C-6CAD-9F4E-0389-DAC4E903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01263A-8B64-6B8E-D02F-433F417E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591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664BEF-2A70-1F06-8E4E-8078B301F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EDE80A-610A-67B6-6BC5-B24B184F8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6211B0-83D9-5B1D-CF7D-E2C365A68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D336B4-3B59-BC39-BDF6-C93F07C3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5FA0AC-DE02-1835-DE28-69818B127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419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19226D-7BF6-EC45-0008-1CA8FABCB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FCB506-DABC-ACF3-8A8B-7D76DA7A9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DF2C0A-964F-3ED2-8253-858926724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A85C2A-DA8B-EB69-6D98-67932113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0787BA-3685-38A3-4EE2-812BFD61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697AFE-23FF-C547-9E15-B0589DE2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954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13B853-9D9E-4DAA-20AD-E3FA095FC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248D3B-A4F9-269B-7AD7-DA969DEA6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2C13E2-FE66-E79C-4EB5-A52F7C7FD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910AB0B-01CF-DB69-984D-9DE0D7D8B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404FCA2-DAE6-A337-4D22-93669073A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02E4347-9510-778D-C5D2-AF749E414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E30DB0C-87B5-E423-A891-005F9E953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21CA44-31C5-FB40-CA3E-24D45EC0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827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D6F821-F11E-E73D-83CB-C1E8FC30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4C953D7-3FE1-AC95-8791-6EF07FC33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3DE0F8D-D0D6-9034-3209-D7F4C2338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ECE7F80-106C-A90C-9508-0C9D0896E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14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C41DF9B-6A29-3BFB-BA91-EB77F2F6E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531A2D1-EC19-D6D3-B617-0473F53E1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ED3363-7792-263A-C1E6-459BA452E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5110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0F910C-88C7-64A2-7C6B-07A943DF6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F9AF01-8123-24FE-4F13-1ACC2C41F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66DB16-0F7A-EB61-B79E-25719F0C3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5465F1-482D-858F-3322-A61F4E40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9E2B01-4227-331D-C00C-A893E465A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B1544D-F43F-B866-790B-E762CA5A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9582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86CBA4-491F-ACF0-9F74-751E131C2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39BEA3E-A152-AA4D-D263-CF783927C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4B7A0E-77FB-9B78-FF06-B60E51574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79E995-709B-F70F-F7FA-2D836E4FA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A25B37-BF80-DFAE-7AA2-0B087267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50E39CF-6117-7914-302C-B1833B93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3183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3789A2-8F55-3B1B-DF05-341A4CBB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90D69BF-CF35-E7EA-57D5-2099AEEBC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1CAA4E-658E-C17F-9FA4-6C2DCC3C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D1E3C3-96C6-9CA2-266C-D2EF340F8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1489D5-AED7-8D13-C3A8-A397F796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527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CC3B652-36CD-0DC2-FCAC-AE889E5154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985B45A-D97F-DA4B-502F-25D78E5C3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F369DA-64FC-8E6E-2EAB-AA71C0B4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838365-AAB2-D0C3-9225-FF66FD601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0C0D74-AB65-DA3E-2359-58303219F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5611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21C37DC-47E2-468C-2468-FEB2E24C3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C9E0BD-B491-399B-1772-83208115B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9A3580-563B-E41E-4C7A-B8DC0A759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0EBCC0-A7E3-D012-12E6-336036250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431F54-E0C5-EE2E-FE94-75D49E7E0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4170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39C7AA2-0BBA-883F-6D31-38450DD5D50F}"/>
              </a:ext>
            </a:extLst>
          </p:cNvPr>
          <p:cNvSpPr txBox="1"/>
          <p:nvPr/>
        </p:nvSpPr>
        <p:spPr>
          <a:xfrm>
            <a:off x="159683" y="2945830"/>
            <a:ext cx="1159472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800" b="1" dirty="0">
                <a:solidFill>
                  <a:schemeClr val="bg1"/>
                </a:solidFill>
              </a:rPr>
              <a:t>Projet de Data Engineering</a:t>
            </a:r>
          </a:p>
          <a:p>
            <a:pPr>
              <a:buNone/>
            </a:pPr>
            <a:endParaRPr lang="fr-FR" sz="28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fr-FR" sz="2800" b="1" dirty="0">
                <a:solidFill>
                  <a:schemeClr val="bg1"/>
                </a:solidFill>
              </a:rPr>
              <a:t>Automatisation du calcul des avantages salariés liés au sport</a:t>
            </a:r>
          </a:p>
          <a:p>
            <a:pPr>
              <a:buNone/>
            </a:pPr>
            <a:r>
              <a:rPr lang="fr-FR" sz="2800" b="1" dirty="0">
                <a:solidFill>
                  <a:schemeClr val="bg1"/>
                </a:solidFill>
              </a:rPr>
              <a:t>Ingestion, contrôle qualité, transformation des données et </a:t>
            </a:r>
            <a:r>
              <a:rPr lang="fr-FR" sz="2800" b="1" dirty="0" err="1">
                <a:solidFill>
                  <a:schemeClr val="bg1"/>
                </a:solidFill>
              </a:rPr>
              <a:t>reporting</a:t>
            </a:r>
            <a:r>
              <a:rPr lang="fr-FR" sz="2800" b="1" dirty="0">
                <a:solidFill>
                  <a:schemeClr val="bg1"/>
                </a:solidFill>
              </a:rPr>
              <a:t> automatisé avec PostgreSQL, Kestra, Slack et Power BI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65C413C-5732-CE9F-7E54-55C642C58A8C}"/>
              </a:ext>
            </a:extLst>
          </p:cNvPr>
          <p:cNvSpPr txBox="1"/>
          <p:nvPr/>
        </p:nvSpPr>
        <p:spPr>
          <a:xfrm>
            <a:off x="159683" y="1060284"/>
            <a:ext cx="1187263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Pipeline automatisé de gestion des avantages sportifs des salariés</a:t>
            </a:r>
          </a:p>
        </p:txBody>
      </p:sp>
    </p:spTree>
    <p:extLst>
      <p:ext uri="{BB962C8B-B14F-4D97-AF65-F5344CB8AC3E}">
        <p14:creationId xmlns:p14="http://schemas.microsoft.com/office/powerpoint/2010/main" val="283507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FBC88-6C84-E931-C9C3-C011DCF7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C965948-8811-B7A5-BC68-769ED5DD919F}"/>
              </a:ext>
            </a:extLst>
          </p:cNvPr>
          <p:cNvSpPr txBox="1"/>
          <p:nvPr/>
        </p:nvSpPr>
        <p:spPr>
          <a:xfrm>
            <a:off x="934720" y="0"/>
            <a:ext cx="9174480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000" b="1" dirty="0">
                <a:solidFill>
                  <a:schemeClr val="bg1"/>
                </a:solidFill>
              </a:rPr>
              <a:t>Sommaire</a:t>
            </a:r>
          </a:p>
          <a:p>
            <a:pPr algn="ctr">
              <a:buNone/>
            </a:pPr>
            <a:r>
              <a:rPr lang="fr-FR" sz="1600" b="1" dirty="0">
                <a:solidFill>
                  <a:schemeClr val="bg1"/>
                </a:solidFill>
              </a:rPr>
              <a:t>1. Introduction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Contexte du projet , Problématique métier, Objectifs du projet </a:t>
            </a:r>
          </a:p>
          <a:p>
            <a:pPr algn="ctr"/>
            <a:endParaRPr lang="fr-FR" sz="1600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fr-FR" sz="1600" b="1" dirty="0">
                <a:solidFill>
                  <a:schemeClr val="bg1"/>
                </a:solidFill>
              </a:rPr>
              <a:t>2. Organisation du projet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Structure des dossiers, Organisation des scripts Python, Gestion des fichiers de configuration 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fr-FR" sz="1600" b="1" dirty="0">
                <a:solidFill>
                  <a:schemeClr val="bg1"/>
                </a:solidFill>
              </a:rPr>
              <a:t>3. Architecture de la solution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Sources de données RH et Sport, Base PostgreSQL 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Pipeline de traitement , Architecture globale </a:t>
            </a:r>
          </a:p>
          <a:p>
            <a:pPr algn="ctr">
              <a:buNone/>
            </a:pPr>
            <a:endParaRPr lang="fr-FR" sz="1600" b="1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fr-FR" sz="1600" b="1" dirty="0">
                <a:solidFill>
                  <a:schemeClr val="bg1"/>
                </a:solidFill>
              </a:rPr>
              <a:t>4. Développement du pipeline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Ingestion des données, Contrôles qualité 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Transformation des données , Calcul des avantages salariés </a:t>
            </a:r>
          </a:p>
          <a:p>
            <a:pPr algn="ctr">
              <a:buNone/>
            </a:pPr>
            <a:endParaRPr lang="fr-FR" sz="1600" b="1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fr-FR" sz="1600" b="1" dirty="0">
                <a:solidFill>
                  <a:schemeClr val="bg1"/>
                </a:solidFill>
              </a:rPr>
              <a:t>5. Orchestration avec Kestra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Workflow YAML, Déclenchement automatique mensuel, Suivi de l'exécution </a:t>
            </a:r>
          </a:p>
          <a:p>
            <a:pPr algn="ctr">
              <a:buNone/>
            </a:pPr>
            <a:endParaRPr lang="fr-FR" sz="1600" b="1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fr-FR" sz="1600" b="1" dirty="0">
                <a:solidFill>
                  <a:schemeClr val="bg1"/>
                </a:solidFill>
              </a:rPr>
              <a:t>6. Restitution des résultats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Notification Slack, Base PostgreSQL finale, Visualisation Power BI </a:t>
            </a:r>
          </a:p>
          <a:p>
            <a:pPr algn="ctr">
              <a:buNone/>
            </a:pPr>
            <a:endParaRPr lang="fr-FR" sz="1600" b="1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fr-FR" sz="1600" b="1" dirty="0">
                <a:solidFill>
                  <a:schemeClr val="bg1"/>
                </a:solidFill>
              </a:rPr>
              <a:t>7. Résultats obtenus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Employés éligibles aux primes , Coût total des avantages 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Répartition par sport, Analyse par département </a:t>
            </a:r>
          </a:p>
          <a:p>
            <a:pPr algn="ctr"/>
            <a:endParaRPr lang="fr-FR" sz="1600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fr-FR" sz="1600" b="1" dirty="0">
                <a:solidFill>
                  <a:schemeClr val="bg1"/>
                </a:solidFill>
              </a:rPr>
              <a:t>8. Conclusion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Bilan du projet, Difficultés rencontrées, Améliorations futures</a:t>
            </a:r>
          </a:p>
        </p:txBody>
      </p:sp>
    </p:spTree>
    <p:extLst>
      <p:ext uri="{BB962C8B-B14F-4D97-AF65-F5344CB8AC3E}">
        <p14:creationId xmlns:p14="http://schemas.microsoft.com/office/powerpoint/2010/main" val="177686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5560D-DBDE-6BCD-67D7-2AC1B2DE6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6399775-C192-71E3-8AD8-21A2754E278E}"/>
              </a:ext>
            </a:extLst>
          </p:cNvPr>
          <p:cNvSpPr txBox="1"/>
          <p:nvPr/>
        </p:nvSpPr>
        <p:spPr>
          <a:xfrm>
            <a:off x="111760" y="2363599"/>
            <a:ext cx="116636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Contexte du projet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L'entreprise souhaite encourager la pratique d'activités sportives auprès de ses salariés.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Des avantages sont accordés sous forme de primes et de jours de congés bien-être.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informations proviennent de données RH et de données sportives.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L'objectif est d'automatiser le traitement de ces données afin de gagner en efficacité et en fiabilité.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9AA724C-9A39-73DF-2A00-A90945B2DC41}"/>
              </a:ext>
            </a:extLst>
          </p:cNvPr>
          <p:cNvSpPr txBox="1"/>
          <p:nvPr/>
        </p:nvSpPr>
        <p:spPr>
          <a:xfrm>
            <a:off x="2346960" y="11505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000" b="1" dirty="0">
                <a:solidFill>
                  <a:schemeClr val="bg1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52655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F75E2F-1922-0B7C-05ED-F6D3153C9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D0516DD-464B-E278-3C33-C11A95E6EA6E}"/>
              </a:ext>
            </a:extLst>
          </p:cNvPr>
          <p:cNvSpPr txBox="1"/>
          <p:nvPr/>
        </p:nvSpPr>
        <p:spPr>
          <a:xfrm>
            <a:off x="2346960" y="11505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0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08E7E4-49CF-1FEB-52C2-13D2DF75778D}"/>
              </a:ext>
            </a:extLst>
          </p:cNvPr>
          <p:cNvSpPr txBox="1"/>
          <p:nvPr/>
        </p:nvSpPr>
        <p:spPr>
          <a:xfrm>
            <a:off x="213360" y="1724580"/>
            <a:ext cx="117652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Objectifs du projet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Centraliser les données RH et sportives dans un même pipeline.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Contrôler la qualité des données avant leur exploitation.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Calculer automatiquement les primes et les jours de bien-être.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Stocker les résultats dans PostgreSQL pour faciliter leur utilisation.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Automatiser l'exécution du pipeline avec Kestra.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Diffuser les résultats grâce à Slack et Power BI. </a:t>
            </a:r>
          </a:p>
          <a:p>
            <a:pPr>
              <a:buNone/>
            </a:pPr>
            <a:r>
              <a:rPr lang="fr-FR" dirty="0">
                <a:solidFill>
                  <a:schemeClr val="bg1"/>
                </a:solidFill>
              </a:rPr>
              <a:t>Ça ressemble davantage à ce qu'on voit dans les soutenances </a:t>
            </a:r>
            <a:r>
              <a:rPr lang="fr-FR" dirty="0" err="1">
                <a:solidFill>
                  <a:schemeClr val="bg1"/>
                </a:solidFill>
              </a:rPr>
              <a:t>OpenClassrooms</a:t>
            </a:r>
            <a:r>
              <a:rPr lang="fr-FR" dirty="0">
                <a:solidFill>
                  <a:schemeClr val="bg1"/>
                </a:solidFill>
              </a:rPr>
              <a:t> : suffisamment de texte pour comprendre la slide, mais pas au point que le jury lise un paragraphe entier.</a:t>
            </a:r>
          </a:p>
        </p:txBody>
      </p:sp>
    </p:spTree>
    <p:extLst>
      <p:ext uri="{BB962C8B-B14F-4D97-AF65-F5344CB8AC3E}">
        <p14:creationId xmlns:p14="http://schemas.microsoft.com/office/powerpoint/2010/main" val="1622841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3CECB-E2DD-41CA-83C3-E944E860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D7068C5-1BE6-C417-241C-57E173B9B05E}"/>
              </a:ext>
            </a:extLst>
          </p:cNvPr>
          <p:cNvSpPr txBox="1"/>
          <p:nvPr/>
        </p:nvSpPr>
        <p:spPr>
          <a:xfrm>
            <a:off x="2346960" y="11505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0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A4E7A42-D0A7-A58C-B9F9-A83D8167AA5A}"/>
              </a:ext>
            </a:extLst>
          </p:cNvPr>
          <p:cNvSpPr txBox="1"/>
          <p:nvPr/>
        </p:nvSpPr>
        <p:spPr>
          <a:xfrm>
            <a:off x="91440" y="1981260"/>
            <a:ext cx="119583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Problématique métier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calculs sont réalisés à partir de plusieurs sources de données.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La présence d'erreurs ou de données incohérentes peut impacter les résultats.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traitements manuels sont longs et difficiles à reproduire.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L'entreprise souhaite disposer d'un processus automatisé et fiable. </a:t>
            </a:r>
          </a:p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Comment automatiser le calcul des avantages sportifs tout en garantissant la qualité des données ?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0A3044F-5FEE-8C91-104C-2732B7051541}"/>
              </a:ext>
            </a:extLst>
          </p:cNvPr>
          <p:cNvSpPr txBox="1"/>
          <p:nvPr/>
        </p:nvSpPr>
        <p:spPr>
          <a:xfrm>
            <a:off x="0" y="11716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Problématique métier</a:t>
            </a:r>
          </a:p>
        </p:txBody>
      </p:sp>
    </p:spTree>
    <p:extLst>
      <p:ext uri="{BB962C8B-B14F-4D97-AF65-F5344CB8AC3E}">
        <p14:creationId xmlns:p14="http://schemas.microsoft.com/office/powerpoint/2010/main" val="99702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5BEBF-1EAA-4570-4257-6BA072B95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38AE9AE-F560-6ED3-B5BE-17B591FFCCE7}"/>
              </a:ext>
            </a:extLst>
          </p:cNvPr>
          <p:cNvSpPr txBox="1"/>
          <p:nvPr/>
        </p:nvSpPr>
        <p:spPr>
          <a:xfrm>
            <a:off x="4429760" y="216654"/>
            <a:ext cx="248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Organisation du projet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FAA076C-CA81-0FBA-039D-3A89BEA0FD45}"/>
              </a:ext>
            </a:extLst>
          </p:cNvPr>
          <p:cNvSpPr txBox="1"/>
          <p:nvPr/>
        </p:nvSpPr>
        <p:spPr>
          <a:xfrm>
            <a:off x="213360" y="3721299"/>
            <a:ext cx="116027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Structure des dossiers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projet est organisé en plusieurs dossiers afin de séparer les données, les scripts et la configuration.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fichiers sources sont stockés dans le dossier </a:t>
            </a:r>
            <a:r>
              <a:rPr lang="fr-FR" b="1" dirty="0">
                <a:solidFill>
                  <a:schemeClr val="bg1"/>
                </a:solidFill>
              </a:rPr>
              <a:t>data/</a:t>
            </a:r>
            <a:r>
              <a:rPr lang="fr-FR" b="1" dirty="0" err="1">
                <a:solidFill>
                  <a:schemeClr val="bg1"/>
                </a:solidFill>
              </a:rPr>
              <a:t>raw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résultats générés sont enregistrés dans </a:t>
            </a:r>
            <a:r>
              <a:rPr lang="fr-FR" b="1" dirty="0">
                <a:solidFill>
                  <a:schemeClr val="bg1"/>
                </a:solidFill>
              </a:rPr>
              <a:t>data/</a:t>
            </a:r>
            <a:r>
              <a:rPr lang="fr-FR" b="1" dirty="0" err="1">
                <a:solidFill>
                  <a:schemeClr val="bg1"/>
                </a:solidFill>
              </a:rPr>
              <a:t>processed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scripts Python, les requêtes SQL et les workflows Kestra sont regroupés dans des dossiers dédiés.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Cette organisation facilite la maintenance et l'évolution du projet. </a:t>
            </a:r>
          </a:p>
        </p:txBody>
      </p:sp>
    </p:spTree>
    <p:extLst>
      <p:ext uri="{BB962C8B-B14F-4D97-AF65-F5344CB8AC3E}">
        <p14:creationId xmlns:p14="http://schemas.microsoft.com/office/powerpoint/2010/main" val="317995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8F70DB-C3E8-0595-7737-725A09D6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7926DBA-716E-4CA6-BC1F-022E21ECE3C0}"/>
              </a:ext>
            </a:extLst>
          </p:cNvPr>
          <p:cNvSpPr txBox="1"/>
          <p:nvPr/>
        </p:nvSpPr>
        <p:spPr>
          <a:xfrm>
            <a:off x="4429760" y="216654"/>
            <a:ext cx="248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Organisation du projet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1204770-3702-F93C-EBCD-B92236650E3E}"/>
              </a:ext>
            </a:extLst>
          </p:cNvPr>
          <p:cNvSpPr txBox="1"/>
          <p:nvPr/>
        </p:nvSpPr>
        <p:spPr>
          <a:xfrm>
            <a:off x="223520" y="1909078"/>
            <a:ext cx="11419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Organisation des scripts Python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Chaque étape du pipeline est isolée dans un script spécifique.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01_ingest.py</a:t>
            </a:r>
            <a:r>
              <a:rPr lang="fr-FR" dirty="0">
                <a:solidFill>
                  <a:schemeClr val="bg1"/>
                </a:solidFill>
              </a:rPr>
              <a:t> assure l'ingestion des données RH et sportives.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02_quality.py</a:t>
            </a:r>
            <a:r>
              <a:rPr lang="fr-FR" dirty="0">
                <a:solidFill>
                  <a:schemeClr val="bg1"/>
                </a:solidFill>
              </a:rPr>
              <a:t> réalise les contrôles de qualité des données.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03_transform.py</a:t>
            </a:r>
            <a:r>
              <a:rPr lang="fr-FR" dirty="0">
                <a:solidFill>
                  <a:schemeClr val="bg1"/>
                </a:solidFill>
              </a:rPr>
              <a:t> calcule les primes et les jours de bien-être.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04_notify.py</a:t>
            </a:r>
            <a:r>
              <a:rPr lang="fr-FR" dirty="0">
                <a:solidFill>
                  <a:schemeClr val="bg1"/>
                </a:solidFill>
              </a:rPr>
              <a:t> génère et envoie les rapports de synthèse.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Cette approche améliore la lisibilité et la réutilisation du code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2898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38C53C-7193-1261-AC83-1D9E36D62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8832151-6993-9374-4BF1-3CEE2D9E2A3A}"/>
              </a:ext>
            </a:extLst>
          </p:cNvPr>
          <p:cNvSpPr txBox="1"/>
          <p:nvPr/>
        </p:nvSpPr>
        <p:spPr>
          <a:xfrm>
            <a:off x="4429760" y="216654"/>
            <a:ext cx="248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Organisation du projet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A9968E4-BDD0-31BC-2602-8724CD5579D0}"/>
              </a:ext>
            </a:extLst>
          </p:cNvPr>
          <p:cNvSpPr txBox="1"/>
          <p:nvPr/>
        </p:nvSpPr>
        <p:spPr>
          <a:xfrm>
            <a:off x="121920" y="1997839"/>
            <a:ext cx="81686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Gestion des fichiers de configuration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requêtes SQL sont centralisées dans le dossier </a:t>
            </a:r>
            <a:r>
              <a:rPr lang="fr-FR" b="1" dirty="0" err="1">
                <a:solidFill>
                  <a:schemeClr val="bg1"/>
                </a:solidFill>
              </a:rPr>
              <a:t>sql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workflow d'orchestration est défini dans le fichier </a:t>
            </a:r>
            <a:r>
              <a:rPr lang="fr-FR" b="1" dirty="0" err="1">
                <a:solidFill>
                  <a:schemeClr val="bg1"/>
                </a:solidFill>
              </a:rPr>
              <a:t>flow_pipeline.yml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dépendances Python sont recensées dans </a:t>
            </a:r>
            <a:r>
              <a:rPr lang="fr-FR" b="1" dirty="0" err="1">
                <a:solidFill>
                  <a:schemeClr val="bg1"/>
                </a:solidFill>
              </a:rPr>
              <a:t>requirements.txt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paramètres sensibles sont stockés dans le fichier </a:t>
            </a:r>
            <a:r>
              <a:rPr lang="fr-FR" b="1" dirty="0">
                <a:solidFill>
                  <a:schemeClr val="bg1"/>
                </a:solidFill>
              </a:rPr>
              <a:t>.env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Cette séparation permet de modifier la configuration sans impacter le code métier</a:t>
            </a:r>
            <a:r>
              <a:rPr lang="fr-FR" dirty="0"/>
              <a:t>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B4AFDE0-A158-80DB-5077-99F47A060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613" y="508000"/>
            <a:ext cx="2888332" cy="602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132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BD1E7-F2B3-7BFE-5390-A3F0517C7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ABEEF27-40CE-F9BA-F94A-31AB887BC8CD}"/>
              </a:ext>
            </a:extLst>
          </p:cNvPr>
          <p:cNvSpPr txBox="1"/>
          <p:nvPr/>
        </p:nvSpPr>
        <p:spPr>
          <a:xfrm>
            <a:off x="4348480" y="1556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>
                <a:solidFill>
                  <a:schemeClr val="bg1"/>
                </a:solidFill>
              </a:rPr>
              <a:t>Architecture de la solution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816C72F-6AC2-092C-A858-DE48D434A5B4}"/>
              </a:ext>
            </a:extLst>
          </p:cNvPr>
          <p:cNvSpPr txBox="1"/>
          <p:nvPr/>
        </p:nvSpPr>
        <p:spPr>
          <a:xfrm>
            <a:off x="203200" y="2416294"/>
            <a:ext cx="11785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Sources de données RH et Sport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données du projet proviennent de deux fichiers Excel distincts.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fichier RH contient les informations des salariés : identifiant, département et salaire.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fichier Sport regroupe les activités pratiquées ainsi que leur fréquence.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Ces données sont utilisées pour déterminer l'éligibilité aux avantages sportifs.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L'ensemble des fichiers constitue la source d'alimentation du pipeline.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1A70CAF-0DC2-88BE-689A-2F414345B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287" y="909320"/>
            <a:ext cx="3555153" cy="112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336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68E77-48CF-61BC-CF7F-640967D6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BCEA1B9-6DF7-1F4D-508C-61549963A128}"/>
              </a:ext>
            </a:extLst>
          </p:cNvPr>
          <p:cNvSpPr txBox="1"/>
          <p:nvPr/>
        </p:nvSpPr>
        <p:spPr>
          <a:xfrm>
            <a:off x="4348480" y="1556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>
                <a:solidFill>
                  <a:schemeClr val="bg1"/>
                </a:solidFill>
              </a:rPr>
              <a:t>Architecture de la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D9A0A80-0DBE-78C1-E62E-45DBD387F47B}"/>
              </a:ext>
            </a:extLst>
          </p:cNvPr>
          <p:cNvSpPr txBox="1"/>
          <p:nvPr/>
        </p:nvSpPr>
        <p:spPr>
          <a:xfrm>
            <a:off x="91440" y="1265258"/>
            <a:ext cx="112674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Base PostgreSQL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PostgreSQL est utilisé pour centraliser les données traitées.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données brutes et les résultats calculés y sont stockés.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Cette base permet de sécuriser et de structurer l'information.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Elle facilite également l'exploitation des données par les outils de </a:t>
            </a:r>
            <a:r>
              <a:rPr lang="fr-FR" dirty="0" err="1">
                <a:solidFill>
                  <a:schemeClr val="bg1"/>
                </a:solidFill>
              </a:rPr>
              <a:t>reporting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PostgreSQL constitue le point central de stockage du projet.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CE5ED13-E891-73FE-E800-8E99BBDA9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067" y="155694"/>
            <a:ext cx="2900825" cy="646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99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4E9E96-7E3E-0AA1-5A76-6C5BCE45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8781000-5A94-06D6-4C46-2768FB080026}"/>
              </a:ext>
            </a:extLst>
          </p:cNvPr>
          <p:cNvSpPr txBox="1"/>
          <p:nvPr/>
        </p:nvSpPr>
        <p:spPr>
          <a:xfrm>
            <a:off x="4348480" y="1556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>
                <a:solidFill>
                  <a:schemeClr val="bg1"/>
                </a:solidFill>
              </a:rPr>
              <a:t>Architecture de la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C819A82-3E19-212C-FFE1-CC5B403084E7}"/>
              </a:ext>
            </a:extLst>
          </p:cNvPr>
          <p:cNvSpPr txBox="1"/>
          <p:nvPr/>
        </p:nvSpPr>
        <p:spPr>
          <a:xfrm>
            <a:off x="121920" y="3505200"/>
            <a:ext cx="106273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Pipeline de traitement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pipeline automatise l'ensemble des traitements de données.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données sont d'abord importées puis contrôlées.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règles métier sont ensuite appliquées pour calculer les avantages.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résultats sont enregistrés dans PostgreSQL.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Des notifications et des rapports sont générés automatiquement en fin d'exécution.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AFC0F54-7F34-C33C-6082-7D833FC1B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1127071"/>
            <a:ext cx="6664960" cy="156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065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59839C-F6D2-3E8D-B621-CF8630AA4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D4DED5C-7781-066B-8507-273B4FAF2D19}"/>
              </a:ext>
            </a:extLst>
          </p:cNvPr>
          <p:cNvSpPr txBox="1"/>
          <p:nvPr/>
        </p:nvSpPr>
        <p:spPr>
          <a:xfrm>
            <a:off x="4348480" y="1556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>
                <a:solidFill>
                  <a:schemeClr val="bg1"/>
                </a:solidFill>
              </a:rPr>
              <a:t>Architecture de la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3CDCBD4-3F15-2225-6FAE-51C3A1B3071D}"/>
              </a:ext>
            </a:extLst>
          </p:cNvPr>
          <p:cNvSpPr txBox="1"/>
          <p:nvPr/>
        </p:nvSpPr>
        <p:spPr>
          <a:xfrm>
            <a:off x="132080" y="924957"/>
            <a:ext cx="736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Architecture globale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L'architecture repose sur une chaîne de traitement entièrement automatisée.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Kestra orchestre les différentes étapes du pipeline.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Python réalise les contrôles qualité et les transformations métier.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PostgreSQL assure le stockage centralisé des données.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Slack et Power BI permettent la diffusion et la visualisation des résultats.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Flux global :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Données RH &amp; Sport → Pipeline Python → PostgreSQL → Slack &amp; Power BI → Utilisateurs métiers.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6444526-165D-9B24-FAF3-BFAB6371A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5708"/>
            <a:ext cx="4561840" cy="592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1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56438-5714-3EAA-72FD-FD1D613CE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B4F8658D-46CB-DB4F-A8E1-4FD1AF707A73}"/>
              </a:ext>
            </a:extLst>
          </p:cNvPr>
          <p:cNvSpPr txBox="1"/>
          <p:nvPr/>
        </p:nvSpPr>
        <p:spPr>
          <a:xfrm>
            <a:off x="4277360" y="0"/>
            <a:ext cx="294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Développement du pipeline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12E1B39-D5A2-E175-E8EE-4753D8A5212B}"/>
              </a:ext>
            </a:extLst>
          </p:cNvPr>
          <p:cNvSpPr txBox="1"/>
          <p:nvPr/>
        </p:nvSpPr>
        <p:spPr>
          <a:xfrm>
            <a:off x="325120" y="1586359"/>
            <a:ext cx="115417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Ingestion des données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pipeline débute par l'importation des fichiers RH et Sport.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données sont lues automatiquement à l'aide de scripts Python.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informations sont ensuite préparées pour les étapes suivantes.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Cette phase permet de centraliser les données provenant des différentes sources.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données sont chargées dans PostgreSQL pour être exploitées. </a:t>
            </a:r>
          </a:p>
        </p:txBody>
      </p:sp>
    </p:spTree>
    <p:extLst>
      <p:ext uri="{BB962C8B-B14F-4D97-AF65-F5344CB8AC3E}">
        <p14:creationId xmlns:p14="http://schemas.microsoft.com/office/powerpoint/2010/main" val="596600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2F1DF-DC75-CFC6-1E8E-62AFB9604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3D332552-1CCB-07A2-0A1D-5C27BB5BBC0C}"/>
              </a:ext>
            </a:extLst>
          </p:cNvPr>
          <p:cNvSpPr txBox="1"/>
          <p:nvPr/>
        </p:nvSpPr>
        <p:spPr>
          <a:xfrm>
            <a:off x="4277360" y="0"/>
            <a:ext cx="294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Développement du pipeline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ADD1C44-EB07-FA3A-EB79-4788AA33BFBC}"/>
              </a:ext>
            </a:extLst>
          </p:cNvPr>
          <p:cNvSpPr txBox="1"/>
          <p:nvPr/>
        </p:nvSpPr>
        <p:spPr>
          <a:xfrm>
            <a:off x="345440" y="2297559"/>
            <a:ext cx="85750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Contrôles qualité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Plusieurs vérifications sont réalisées avant les traitements métier.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valeurs manquantes sont identifiées et corrigées.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doublons sont détectés afin d'éviter les erreurs de calcul.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La cohérence des données est contrôlée entre les différentes sources.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Ces tests garantissent la fiabilité des résultats produits. </a:t>
            </a:r>
          </a:p>
          <a:p>
            <a:pPr>
              <a:buNone/>
            </a:pPr>
            <a:br>
              <a:rPr lang="fr-FR" dirty="0">
                <a:solidFill>
                  <a:schemeClr val="bg1"/>
                </a:solidFill>
              </a:rPr>
            </a:b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235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D38C8A-95EE-1E2C-6847-E6E3488DB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09FF84C-9DB3-136E-89A2-7EA50A7EF3F8}"/>
              </a:ext>
            </a:extLst>
          </p:cNvPr>
          <p:cNvSpPr txBox="1"/>
          <p:nvPr/>
        </p:nvSpPr>
        <p:spPr>
          <a:xfrm>
            <a:off x="264160" y="2274838"/>
            <a:ext cx="9550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Transformation des données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données RH et Sport sont fusionnées pour obtenir une vue unifiée des salariés.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informations sont nettoyées et mises au bon format.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Des indicateurs sont calculés à partir des activités sportives réalisées.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données sont enrichies pour répondre aux besoins métier.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Cette étape prépare les calculs des avantages salariés.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6E1449F-69FA-3323-13EE-45C08CD16912}"/>
              </a:ext>
            </a:extLst>
          </p:cNvPr>
          <p:cNvSpPr txBox="1"/>
          <p:nvPr/>
        </p:nvSpPr>
        <p:spPr>
          <a:xfrm>
            <a:off x="4135120" y="845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Développement du pipeline</a:t>
            </a:r>
          </a:p>
        </p:txBody>
      </p:sp>
    </p:spTree>
    <p:extLst>
      <p:ext uri="{BB962C8B-B14F-4D97-AF65-F5344CB8AC3E}">
        <p14:creationId xmlns:p14="http://schemas.microsoft.com/office/powerpoint/2010/main" val="3648650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7E0DF0-CB80-6EFC-E1E3-6B61E7D32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9716E1D-32C7-DE90-F1EA-F83BEB1798A7}"/>
              </a:ext>
            </a:extLst>
          </p:cNvPr>
          <p:cNvSpPr txBox="1"/>
          <p:nvPr/>
        </p:nvSpPr>
        <p:spPr>
          <a:xfrm>
            <a:off x="172720" y="2028319"/>
            <a:ext cx="111048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Calcul des avantages salariés</a:t>
            </a:r>
          </a:p>
          <a:p>
            <a:pPr>
              <a:buFont typeface="Arial" panose="020B0604020202020204" pitchFamily="34" charset="0"/>
              <a:buChar char="•"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règles métier sont appliquées automatiquement à chaque salarié.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Une prime sportive de 5 % du salaire annuel peut être attribuée selon les critères définis.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Des jours de congés bien-être sont accordés aux salariés éligibles.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résultats sont calculés sans intervention manuelle.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avantages obtenus sont enregistrés dans PostgreSQL pour le </a:t>
            </a:r>
            <a:r>
              <a:rPr lang="fr-FR" dirty="0" err="1">
                <a:solidFill>
                  <a:schemeClr val="bg1"/>
                </a:solidFill>
              </a:rPr>
              <a:t>reporting</a:t>
            </a:r>
            <a:r>
              <a:rPr lang="fr-F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CE5A967-841A-F113-43D7-A27BB43D5081}"/>
              </a:ext>
            </a:extLst>
          </p:cNvPr>
          <p:cNvSpPr txBox="1"/>
          <p:nvPr/>
        </p:nvSpPr>
        <p:spPr>
          <a:xfrm>
            <a:off x="4206240" y="0"/>
            <a:ext cx="3037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Développement du pipeline</a:t>
            </a:r>
          </a:p>
        </p:txBody>
      </p:sp>
    </p:spTree>
    <p:extLst>
      <p:ext uri="{BB962C8B-B14F-4D97-AF65-F5344CB8AC3E}">
        <p14:creationId xmlns:p14="http://schemas.microsoft.com/office/powerpoint/2010/main" val="3888536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22670-A92E-00C5-191B-39AB1E6B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FA11E66-1A09-FF8D-ACCB-817C3B681AE4}"/>
              </a:ext>
            </a:extLst>
          </p:cNvPr>
          <p:cNvSpPr txBox="1"/>
          <p:nvPr/>
        </p:nvSpPr>
        <p:spPr>
          <a:xfrm>
            <a:off x="5039360" y="104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Workflow YAML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AA37964-ED08-1810-0BEB-7B6720D70DE6}"/>
              </a:ext>
            </a:extLst>
          </p:cNvPr>
          <p:cNvSpPr txBox="1"/>
          <p:nvPr/>
        </p:nvSpPr>
        <p:spPr>
          <a:xfrm>
            <a:off x="71120" y="900559"/>
            <a:ext cx="83108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Workflow YAML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workflow Kestra est défini dans un fichier </a:t>
            </a:r>
            <a:r>
              <a:rPr lang="fr-FR" b="1" dirty="0">
                <a:solidFill>
                  <a:schemeClr val="bg1"/>
                </a:solidFill>
              </a:rPr>
              <a:t>YAML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Chaque tâche du pipeline est déclarée dans l’ordre d’exécution.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fichier permet d’enchaîner l’ingestion, les contrôles qualité, les transformations et les notifications.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Cette structure rend le pipeline lisible, automatisable et facile à modifier.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Kestra sert de chef d’orchestre pour exécuter toutes les étapes.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81CCA43-A871-60E5-64CA-B72350F35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240" y="169436"/>
            <a:ext cx="2681085" cy="650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39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049E22-C3A1-B805-D24E-C7D8E5BF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5665693-4DAB-855E-8D8D-C51C8AC87AFC}"/>
              </a:ext>
            </a:extLst>
          </p:cNvPr>
          <p:cNvSpPr txBox="1"/>
          <p:nvPr/>
        </p:nvSpPr>
        <p:spPr>
          <a:xfrm>
            <a:off x="5039360" y="104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Workflow YAML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604064F-DAEB-4A82-4165-1D6A3AD9F4F6}"/>
              </a:ext>
            </a:extLst>
          </p:cNvPr>
          <p:cNvSpPr txBox="1"/>
          <p:nvPr/>
        </p:nvSpPr>
        <p:spPr>
          <a:xfrm>
            <a:off x="218440" y="966576"/>
            <a:ext cx="8077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Déclenchement automatique mensuel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pipeline est configuré pour s’exécuter automatiquement chaque mois.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 déclenchement évite de lancer manuellement les traitements.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données sont traitées régulièrement selon le même processus.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L’automatisation garantit une mise à jour fiable des résultats.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Elle permet à l’entreprise de suivre les avantages sportifs de manière continue.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BDFEA84-FBB0-13DC-35FE-6FBB5C555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900" y="4669929"/>
            <a:ext cx="7269480" cy="178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58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223102-7542-7144-F2B5-DAA325D2D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986A05E-2C89-767C-EA14-D1793EF939F3}"/>
              </a:ext>
            </a:extLst>
          </p:cNvPr>
          <p:cNvSpPr txBox="1"/>
          <p:nvPr/>
        </p:nvSpPr>
        <p:spPr>
          <a:xfrm>
            <a:off x="5039360" y="104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Workflow YAML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A69796C-9744-8551-1947-1F147477E451}"/>
              </a:ext>
            </a:extLst>
          </p:cNvPr>
          <p:cNvSpPr txBox="1"/>
          <p:nvPr/>
        </p:nvSpPr>
        <p:spPr>
          <a:xfrm>
            <a:off x="182880" y="1547058"/>
            <a:ext cx="103327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Suivi de l’exécution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Kestra permet de suivre l’avancement du pipeline étape par étape.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Chaque tâche affiche son statut : réussite, erreur ou en cours.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Gantt permet de visualiser la durée et l’ordre des traitements.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En cas d’échec, il est possible d’identifier rapidement la tâche concernée.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 suivi améliore la traçabilité et la maintenance du pipeline. </a:t>
            </a:r>
          </a:p>
        </p:txBody>
      </p:sp>
    </p:spTree>
    <p:extLst>
      <p:ext uri="{BB962C8B-B14F-4D97-AF65-F5344CB8AC3E}">
        <p14:creationId xmlns:p14="http://schemas.microsoft.com/office/powerpoint/2010/main" val="2233241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9215A-AF3A-0906-78DA-9F09D338B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5DF74DA-0450-0DCB-57EB-4995940711F0}"/>
              </a:ext>
            </a:extLst>
          </p:cNvPr>
          <p:cNvSpPr txBox="1"/>
          <p:nvPr/>
        </p:nvSpPr>
        <p:spPr>
          <a:xfrm>
            <a:off x="3992880" y="2064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Restitution des résultats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43866AE-7945-B030-96E5-F5EE950A0CCE}"/>
              </a:ext>
            </a:extLst>
          </p:cNvPr>
          <p:cNvSpPr txBox="1"/>
          <p:nvPr/>
        </p:nvSpPr>
        <p:spPr>
          <a:xfrm>
            <a:off x="172720" y="1804799"/>
            <a:ext cx="68376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Notification Slack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Une notification est envoyée automatiquement à la fin du pipeline.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message contient un résumé des principaux résultats obtenus.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équipes métier sont informées sans intervention manuelle.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Cette étape améliore la réactivité et le suivi des traitements.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Slack devient un canal de communication automatisé pour le projet.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58B30B3-777E-12DE-3676-ACA99E6B6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720" y="428118"/>
            <a:ext cx="3718560" cy="586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70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CF5BF-61B1-7841-5537-8C24C676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501C764-BE84-233D-987F-ED16AD2A691C}"/>
              </a:ext>
            </a:extLst>
          </p:cNvPr>
          <p:cNvSpPr txBox="1"/>
          <p:nvPr/>
        </p:nvSpPr>
        <p:spPr>
          <a:xfrm>
            <a:off x="3992880" y="2064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Restitution des résultats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79DD9FA-1D37-9540-5EF0-1B060448DDE6}"/>
              </a:ext>
            </a:extLst>
          </p:cNvPr>
          <p:cNvSpPr txBox="1"/>
          <p:nvPr/>
        </p:nvSpPr>
        <p:spPr>
          <a:xfrm>
            <a:off x="121920" y="2413337"/>
            <a:ext cx="96621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Base PostgreSQL finale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résultats calculés sont enregistrés dans une table PostgreSQL dédiée.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La base centralise les informations relatives aux salariés et à leurs avantages.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données sont structurées pour faciliter leur exploitation.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PostgreSQL garantit la conservation et la disponibilité des résultats.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Cette base sert de source unique pour les analyses et le </a:t>
            </a:r>
            <a:r>
              <a:rPr lang="fr-FR" dirty="0" err="1">
                <a:solidFill>
                  <a:schemeClr val="bg1"/>
                </a:solidFill>
              </a:rPr>
              <a:t>reporting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BD6ED1A-1F04-F528-EEEC-4228CB162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810" y="575826"/>
            <a:ext cx="36703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36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45E3D-CBC6-F0E9-3AC4-6FF1A0F73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0370805-1BF5-D466-B777-FFB7A671FA02}"/>
              </a:ext>
            </a:extLst>
          </p:cNvPr>
          <p:cNvSpPr txBox="1"/>
          <p:nvPr/>
        </p:nvSpPr>
        <p:spPr>
          <a:xfrm>
            <a:off x="3992880" y="2064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Restitution des résultats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651B1AA-D72C-BD5F-7267-3A506953CFA2}"/>
              </a:ext>
            </a:extLst>
          </p:cNvPr>
          <p:cNvSpPr txBox="1"/>
          <p:nvPr/>
        </p:nvSpPr>
        <p:spPr>
          <a:xfrm>
            <a:off x="203200" y="4368860"/>
            <a:ext cx="101803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Visualisation Power BI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données stockées dans PostgreSQL sont connectées à Power BI.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Des tableaux de bord permettent de suivre les indicateurs clés du projet.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résultats peuvent être analysés par département, activité sportive ou avantage accordé.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visualisations facilitent la prise de décision des responsables RH.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Power BI transforme les données du pipeline en informations exploitables.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54DF4D1-5ED3-1359-FDC2-D8AFEED7A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840" y="575826"/>
            <a:ext cx="5357836" cy="321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69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9B34C-00D7-D26A-3ACC-9521F541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B912239-0EFE-8A83-D600-E70DF0DE1383}"/>
              </a:ext>
            </a:extLst>
          </p:cNvPr>
          <p:cNvSpPr txBox="1"/>
          <p:nvPr/>
        </p:nvSpPr>
        <p:spPr>
          <a:xfrm>
            <a:off x="4328160" y="155694"/>
            <a:ext cx="217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Résultats obtenus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D5CB9AE-8963-289D-3C2A-94A058ADAD35}"/>
              </a:ext>
            </a:extLst>
          </p:cNvPr>
          <p:cNvSpPr txBox="1"/>
          <p:nvPr/>
        </p:nvSpPr>
        <p:spPr>
          <a:xfrm>
            <a:off x="436880" y="2434719"/>
            <a:ext cx="11074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Employés éligibles aux primes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pipeline a analysé </a:t>
            </a:r>
            <a:r>
              <a:rPr lang="fr-FR" b="1" dirty="0">
                <a:solidFill>
                  <a:schemeClr val="bg1"/>
                </a:solidFill>
              </a:rPr>
              <a:t>161 salariés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95 collaborateurs</a:t>
            </a:r>
            <a:r>
              <a:rPr lang="fr-FR" dirty="0">
                <a:solidFill>
                  <a:schemeClr val="bg1"/>
                </a:solidFill>
              </a:rPr>
              <a:t> ont été identifiés comme éligibles à la prime sportive.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critères d'éligibilité sont appliqués automatiquement à chaque exécution.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résultats sont stockés dans PostgreSQL et exploitables dans Power BI.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Cette automatisation garantit un traitement homogène pour l'ensemble des salariés.</a:t>
            </a:r>
          </a:p>
        </p:txBody>
      </p:sp>
    </p:spTree>
    <p:extLst>
      <p:ext uri="{BB962C8B-B14F-4D97-AF65-F5344CB8AC3E}">
        <p14:creationId xmlns:p14="http://schemas.microsoft.com/office/powerpoint/2010/main" val="4025296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C334F-7074-AF2A-E5CC-332975C38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EFF4E02-DF6E-C681-FBBA-1194986585B1}"/>
              </a:ext>
            </a:extLst>
          </p:cNvPr>
          <p:cNvSpPr txBox="1"/>
          <p:nvPr/>
        </p:nvSpPr>
        <p:spPr>
          <a:xfrm>
            <a:off x="4328160" y="155694"/>
            <a:ext cx="217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Résultats obtenus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DB3DC3B-5282-8B4D-AECE-9873A0FA3265}"/>
              </a:ext>
            </a:extLst>
          </p:cNvPr>
          <p:cNvSpPr txBox="1"/>
          <p:nvPr/>
        </p:nvSpPr>
        <p:spPr>
          <a:xfrm>
            <a:off x="294640" y="1675398"/>
            <a:ext cx="114198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Coût total des avantages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montant total des primes attribuées atteint </a:t>
            </a:r>
            <a:r>
              <a:rPr lang="fr-FR" b="1" dirty="0">
                <a:solidFill>
                  <a:schemeClr val="bg1"/>
                </a:solidFill>
              </a:rPr>
              <a:t>239 076 €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salaire moyen observé est d'environ </a:t>
            </a:r>
            <a:r>
              <a:rPr lang="fr-FR" b="1" dirty="0">
                <a:solidFill>
                  <a:schemeClr val="bg1"/>
                </a:solidFill>
              </a:rPr>
              <a:t>50 430 €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calculs sont réalisés automatiquement à partir des données RH.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coût global est disponible immédiatement après l'exécution du pipeline.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Ces indicateurs facilitent le suivi budgétaire du programme.</a:t>
            </a:r>
          </a:p>
        </p:txBody>
      </p:sp>
    </p:spTree>
    <p:extLst>
      <p:ext uri="{BB962C8B-B14F-4D97-AF65-F5344CB8AC3E}">
        <p14:creationId xmlns:p14="http://schemas.microsoft.com/office/powerpoint/2010/main" val="984265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D1D9C2-A3F6-F240-FF46-83996B6A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D2BBEA1-FFA7-5B70-B2BE-79CA4A64D155}"/>
              </a:ext>
            </a:extLst>
          </p:cNvPr>
          <p:cNvSpPr txBox="1"/>
          <p:nvPr/>
        </p:nvSpPr>
        <p:spPr>
          <a:xfrm>
            <a:off x="4328160" y="155694"/>
            <a:ext cx="217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Résultats obtenus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076ECF7-4BB5-0DA4-D19E-B2C0D48BDE83}"/>
              </a:ext>
            </a:extLst>
          </p:cNvPr>
          <p:cNvSpPr txBox="1"/>
          <p:nvPr/>
        </p:nvSpPr>
        <p:spPr>
          <a:xfrm>
            <a:off x="264160" y="1652399"/>
            <a:ext cx="11074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Répartition par sport</a:t>
            </a:r>
          </a:p>
          <a:p>
            <a:pPr>
              <a:buFont typeface="Arial" panose="020B0604020202020204" pitchFamily="34" charset="0"/>
              <a:buChar char="•"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</a:t>
            </a:r>
            <a:r>
              <a:rPr lang="fr-FR" b="1" dirty="0">
                <a:solidFill>
                  <a:schemeClr val="bg1"/>
                </a:solidFill>
              </a:rPr>
              <a:t>running</a:t>
            </a:r>
            <a:r>
              <a:rPr lang="fr-FR" dirty="0">
                <a:solidFill>
                  <a:schemeClr val="bg1"/>
                </a:solidFill>
              </a:rPr>
              <a:t> est l'activité la plus représentée parmi les salariés.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La </a:t>
            </a:r>
            <a:r>
              <a:rPr lang="fr-FR" b="1" dirty="0">
                <a:solidFill>
                  <a:schemeClr val="bg1"/>
                </a:solidFill>
              </a:rPr>
              <a:t>randonnée</a:t>
            </a:r>
            <a:r>
              <a:rPr lang="fr-FR" dirty="0">
                <a:solidFill>
                  <a:schemeClr val="bg1"/>
                </a:solidFill>
              </a:rPr>
              <a:t> et le </a:t>
            </a:r>
            <a:r>
              <a:rPr lang="fr-FR" b="1" dirty="0">
                <a:solidFill>
                  <a:schemeClr val="bg1"/>
                </a:solidFill>
              </a:rPr>
              <a:t>tennis</a:t>
            </a:r>
            <a:r>
              <a:rPr lang="fr-FR" dirty="0">
                <a:solidFill>
                  <a:schemeClr val="bg1"/>
                </a:solidFill>
              </a:rPr>
              <a:t> figurent également parmi les sports les plus pratiqués.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Certains sports restent plus confidentiels comme la voile ou la boxe.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analyses permettent d'identifier les activités générant le plus d'avantages.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Ces résultats peuvent orienter les futures actions de bien-être de l'entreprise. </a:t>
            </a:r>
          </a:p>
        </p:txBody>
      </p:sp>
    </p:spTree>
    <p:extLst>
      <p:ext uri="{BB962C8B-B14F-4D97-AF65-F5344CB8AC3E}">
        <p14:creationId xmlns:p14="http://schemas.microsoft.com/office/powerpoint/2010/main" val="2138032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ADA99C-A60D-CED9-5F28-9864C0F6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143D224-C849-AD66-D999-C52AA4B9FB6E}"/>
              </a:ext>
            </a:extLst>
          </p:cNvPr>
          <p:cNvSpPr txBox="1"/>
          <p:nvPr/>
        </p:nvSpPr>
        <p:spPr>
          <a:xfrm>
            <a:off x="4328160" y="155694"/>
            <a:ext cx="217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Résultats obtenus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D749D09-6CA5-E77A-D4F2-84EF5F427C8B}"/>
              </a:ext>
            </a:extLst>
          </p:cNvPr>
          <p:cNvSpPr txBox="1"/>
          <p:nvPr/>
        </p:nvSpPr>
        <p:spPr>
          <a:xfrm>
            <a:off x="487680" y="1352401"/>
            <a:ext cx="116027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Analyse par département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département </a:t>
            </a:r>
            <a:r>
              <a:rPr lang="fr-FR" b="1" dirty="0">
                <a:solidFill>
                  <a:schemeClr val="bg1"/>
                </a:solidFill>
              </a:rPr>
              <a:t>Finance</a:t>
            </a:r>
            <a:r>
              <a:rPr lang="fr-FR" dirty="0">
                <a:solidFill>
                  <a:schemeClr val="bg1"/>
                </a:solidFill>
              </a:rPr>
              <a:t> représente le montant de primes le plus élevé.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départements </a:t>
            </a:r>
            <a:r>
              <a:rPr lang="fr-FR" b="1" dirty="0">
                <a:solidFill>
                  <a:schemeClr val="bg1"/>
                </a:solidFill>
              </a:rPr>
              <a:t>Ventes</a:t>
            </a:r>
            <a:r>
              <a:rPr lang="fr-FR" dirty="0">
                <a:solidFill>
                  <a:schemeClr val="bg1"/>
                </a:solidFill>
              </a:rPr>
              <a:t> et </a:t>
            </a:r>
            <a:r>
              <a:rPr lang="fr-FR" b="1" dirty="0">
                <a:solidFill>
                  <a:schemeClr val="bg1"/>
                </a:solidFill>
              </a:rPr>
              <a:t>Support</a:t>
            </a:r>
            <a:r>
              <a:rPr lang="fr-FR" dirty="0">
                <a:solidFill>
                  <a:schemeClr val="bg1"/>
                </a:solidFill>
              </a:rPr>
              <a:t> arrivent ensuite.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La répartition des jours de bien-être suit une tendance similaire.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écarts observés reflètent les différences de participation aux activités sportives.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Cette analyse permet d'identifier les services les plus engagés dans le programme. </a:t>
            </a:r>
          </a:p>
          <a:p>
            <a:pPr>
              <a:buNone/>
            </a:pPr>
            <a:r>
              <a:rPr lang="fr-FR" dirty="0">
                <a:solidFill>
                  <a:schemeClr val="bg1"/>
                </a:solidFill>
              </a:rPr>
              <a:t>Ça fait beaucoup plus "Résultats obtenus" et ça montre que tu analyses réellement ton </a:t>
            </a:r>
            <a:r>
              <a:rPr lang="fr-FR" dirty="0" err="1">
                <a:solidFill>
                  <a:schemeClr val="bg1"/>
                </a:solidFill>
              </a:rPr>
              <a:t>dashboard</a:t>
            </a:r>
            <a:r>
              <a:rPr lang="fr-FR" dirty="0">
                <a:solidFill>
                  <a:schemeClr val="bg1"/>
                </a:solidFill>
              </a:rPr>
              <a:t> Power BI, ce que les évaluateurs apprécient généralement.</a:t>
            </a:r>
          </a:p>
        </p:txBody>
      </p:sp>
    </p:spTree>
    <p:extLst>
      <p:ext uri="{BB962C8B-B14F-4D97-AF65-F5344CB8AC3E}">
        <p14:creationId xmlns:p14="http://schemas.microsoft.com/office/powerpoint/2010/main" val="2865162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FB528-98A5-F87C-ACC4-17C20989E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771EE6A-0E50-FA4F-D1F4-A0470B2EF68C}"/>
              </a:ext>
            </a:extLst>
          </p:cNvPr>
          <p:cNvSpPr txBox="1"/>
          <p:nvPr/>
        </p:nvSpPr>
        <p:spPr>
          <a:xfrm>
            <a:off x="4328160" y="155694"/>
            <a:ext cx="217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Résultats obtenus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4321FA6-559D-D87D-AB9B-1CC0A054B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84" y="646946"/>
            <a:ext cx="10674656" cy="593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554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9EEE1-B555-0516-5ABC-47BFB23A6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CF837FF-8E26-18FB-905F-ABDE65487F84}"/>
              </a:ext>
            </a:extLst>
          </p:cNvPr>
          <p:cNvSpPr txBox="1"/>
          <p:nvPr/>
        </p:nvSpPr>
        <p:spPr>
          <a:xfrm>
            <a:off x="4927600" y="84574"/>
            <a:ext cx="141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2ECFB2E-0C5C-F47E-8046-B80553EB750B}"/>
              </a:ext>
            </a:extLst>
          </p:cNvPr>
          <p:cNvSpPr txBox="1"/>
          <p:nvPr/>
        </p:nvSpPr>
        <p:spPr>
          <a:xfrm>
            <a:off x="436880" y="1859339"/>
            <a:ext cx="114706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Bilan du projet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Un pipeline de données complet a été développé et automatisé.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données RH et sportives sont intégrées, contrôlées et transformées automatiquement.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avantages salariés sont calculés sans intervention manuelle.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Les résultats sont centralisés dans PostgreSQL et restitués via Slack et Power BI.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projet répond à l'objectif de fiabilisation et d'automatisation des traitements.</a:t>
            </a:r>
          </a:p>
        </p:txBody>
      </p:sp>
    </p:spTree>
    <p:extLst>
      <p:ext uri="{BB962C8B-B14F-4D97-AF65-F5344CB8AC3E}">
        <p14:creationId xmlns:p14="http://schemas.microsoft.com/office/powerpoint/2010/main" val="4226882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AFB53D-7D33-6714-D88E-EBB4E692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085D986-3540-74BD-9D3F-6BAAC6084603}"/>
              </a:ext>
            </a:extLst>
          </p:cNvPr>
          <p:cNvSpPr txBox="1"/>
          <p:nvPr/>
        </p:nvSpPr>
        <p:spPr>
          <a:xfrm>
            <a:off x="4927600" y="84574"/>
            <a:ext cx="141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E0E0A81-9483-A88F-8F82-FF5D0CF22869}"/>
              </a:ext>
            </a:extLst>
          </p:cNvPr>
          <p:cNvSpPr txBox="1"/>
          <p:nvPr/>
        </p:nvSpPr>
        <p:spPr>
          <a:xfrm>
            <a:off x="365760" y="1709619"/>
            <a:ext cx="116027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Difficultés rencontrées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Comprendre et traduire les règles métier en traitements automatisés.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Garantir la qualité des données avant les calculs.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Assurer la cohérence entre les différentes sources de données.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Mettre en place l'orchestration et le suivi des exécutions avec Kestra.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Concevoir des indicateurs pertinents pour l'analyse des résultats.</a:t>
            </a:r>
          </a:p>
        </p:txBody>
      </p:sp>
    </p:spTree>
    <p:extLst>
      <p:ext uri="{BB962C8B-B14F-4D97-AF65-F5344CB8AC3E}">
        <p14:creationId xmlns:p14="http://schemas.microsoft.com/office/powerpoint/2010/main" val="2855788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D9E273-590D-3FA7-CF27-9693E23AF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A63139E-8446-F0EC-0B83-E942A76B7988}"/>
              </a:ext>
            </a:extLst>
          </p:cNvPr>
          <p:cNvSpPr txBox="1"/>
          <p:nvPr/>
        </p:nvSpPr>
        <p:spPr>
          <a:xfrm>
            <a:off x="4927600" y="84574"/>
            <a:ext cx="141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B0F9510-2346-A0A5-3E0E-C6328BDD317B}"/>
              </a:ext>
            </a:extLst>
          </p:cNvPr>
          <p:cNvSpPr txBox="1"/>
          <p:nvPr/>
        </p:nvSpPr>
        <p:spPr>
          <a:xfrm>
            <a:off x="243840" y="1933139"/>
            <a:ext cx="106984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Améliorations futures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Ajouter de nouvelles sources de données pour enrichir les analyses.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Déployer le pipeline sur une infrastructure cloud.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Mettre en place des alertes automatiques en cas d'anomalie.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Développer des tableaux de bord plus interactifs dans Power BI.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Étendre le système à d'autres programmes d'avantages salariés.</a:t>
            </a:r>
          </a:p>
        </p:txBody>
      </p:sp>
    </p:spTree>
    <p:extLst>
      <p:ext uri="{BB962C8B-B14F-4D97-AF65-F5344CB8AC3E}">
        <p14:creationId xmlns:p14="http://schemas.microsoft.com/office/powerpoint/2010/main" val="209831275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1922</Words>
  <Application>Microsoft Macintosh PowerPoint</Application>
  <PresentationFormat>Grand écran</PresentationFormat>
  <Paragraphs>254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Aime ENDAYE MAZINA</dc:creator>
  <cp:lastModifiedBy>Aime ENDAYE MAZINA</cp:lastModifiedBy>
  <cp:revision>2</cp:revision>
  <dcterms:created xsi:type="dcterms:W3CDTF">2026-06-12T16:17:22Z</dcterms:created>
  <dcterms:modified xsi:type="dcterms:W3CDTF">2026-06-12T19:27:10Z</dcterms:modified>
</cp:coreProperties>
</file>