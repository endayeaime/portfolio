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3" r:id="rId2"/>
    <p:sldId id="294" r:id="rId3"/>
    <p:sldId id="324" r:id="rId4"/>
    <p:sldId id="296" r:id="rId5"/>
    <p:sldId id="297" r:id="rId6"/>
    <p:sldId id="298" r:id="rId7"/>
    <p:sldId id="299" r:id="rId8"/>
    <p:sldId id="300" r:id="rId9"/>
    <p:sldId id="301" r:id="rId10"/>
    <p:sldId id="325" r:id="rId11"/>
    <p:sldId id="303" r:id="rId12"/>
    <p:sldId id="323" r:id="rId13"/>
    <p:sldId id="337" r:id="rId14"/>
    <p:sldId id="306" r:id="rId15"/>
    <p:sldId id="326" r:id="rId16"/>
    <p:sldId id="308" r:id="rId17"/>
    <p:sldId id="327" r:id="rId18"/>
    <p:sldId id="338" r:id="rId19"/>
    <p:sldId id="328" r:id="rId20"/>
    <p:sldId id="329" r:id="rId21"/>
    <p:sldId id="330" r:id="rId22"/>
    <p:sldId id="331" r:id="rId23"/>
    <p:sldId id="315" r:id="rId24"/>
    <p:sldId id="316" r:id="rId25"/>
    <p:sldId id="335" r:id="rId26"/>
    <p:sldId id="336" r:id="rId27"/>
    <p:sldId id="319" r:id="rId28"/>
    <p:sldId id="332" r:id="rId29"/>
    <p:sldId id="333" r:id="rId30"/>
    <p:sldId id="322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38"/>
  </p:normalViewPr>
  <p:slideViewPr>
    <p:cSldViewPr snapToGrid="0">
      <p:cViewPr>
        <p:scale>
          <a:sx n="91" d="100"/>
          <a:sy n="91" d="100"/>
        </p:scale>
        <p:origin x="150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A1F11-0A31-6D86-758D-4609009A6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BDEC43-6A5C-2046-F761-6D9FA691B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D8CDFC-9396-3E9C-1976-F3174142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0CE29D-E8BF-611A-459F-5AD984A2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62260D-2919-6F8D-CC6B-6041C1E2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49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EF659-B3EA-5A15-035F-8E1EFA0A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3F5300-FC8A-5C9D-BA6A-169742413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645145-60A3-6839-9B39-5CA4F96C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E5D43C-6CAD-9F4E-0389-DAC4E903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01263A-8B64-6B8E-D02F-433F417E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91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664BEF-2A70-1F06-8E4E-8078B301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EDE80A-610A-67B6-6BC5-B24B184F8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6211B0-83D9-5B1D-CF7D-E2C365A6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D336B4-3B59-BC39-BDF6-C93F07C3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5FA0AC-DE02-1835-DE28-69818B12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41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9226D-7BF6-EC45-0008-1CA8FABC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CB506-DABC-ACF3-8A8B-7D76DA7A9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DF2C0A-964F-3ED2-8253-858926724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A85C2A-DA8B-EB69-6D98-67932113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0787BA-3685-38A3-4EE2-812BFD61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697AFE-23FF-C547-9E15-B0589DE2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95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3B853-9D9E-4DAA-20AD-E3FA095F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248D3B-A4F9-269B-7AD7-DA969DEA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2C13E2-FE66-E79C-4EB5-A52F7C7FD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10AB0B-01CF-DB69-984D-9DE0D7D8B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04FCA2-DAE6-A337-4D22-93669073A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2E4347-9510-778D-C5D2-AF749E41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30DB0C-87B5-E423-A891-005F9E95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21CA44-31C5-FB40-CA3E-24D45EC0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2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6F821-F11E-E73D-83CB-C1E8FC30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C953D7-3FE1-AC95-8791-6EF07FC3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DE0F8D-D0D6-9034-3209-D7F4C233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CE7F80-106C-A90C-9508-0C9D0896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14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41DF9B-6A29-3BFB-BA91-EB77F2F6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531A2D1-EC19-D6D3-B617-0473F53E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ED3363-7792-263A-C1E6-459BA452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11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F910C-88C7-64A2-7C6B-07A943DF6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F9AF01-8123-24FE-4F13-1ACC2C41F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66DB16-0F7A-EB61-B79E-25719F0C3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5465F1-482D-858F-3322-A61F4E40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9E2B01-4227-331D-C00C-A893E465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1544D-F43F-B866-790B-E762CA5A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58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6CBA4-491F-ACF0-9F74-751E131C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39BEA3E-A152-AA4D-D263-CF783927C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4B7A0E-77FB-9B78-FF06-B60E51574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79E995-709B-F70F-F7FA-2D836E4F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A25B37-BF80-DFAE-7AA2-0B087267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0E39CF-6117-7914-302C-B1833B9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18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789A2-8F55-3B1B-DF05-341A4CBB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0D69BF-CF35-E7EA-57D5-2099AEEBC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1CAA4E-658E-C17F-9FA4-6C2DCC3C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D1E3C3-96C6-9CA2-266C-D2EF340F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1489D5-AED7-8D13-C3A8-A397F796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27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C3B652-36CD-0DC2-FCAC-AE889E515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85B45A-D97F-DA4B-502F-25D78E5C3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F369DA-64FC-8E6E-2EAB-AA71C0B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838365-AAB2-D0C3-9225-FF66FD60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0C0D74-AB65-DA3E-2359-58303219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61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1C37DC-47E2-468C-2468-FEB2E24C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C9E0BD-B491-399B-1772-83208115B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9A3580-563B-E41E-4C7A-B8DC0A759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84F3F-02BA-A342-9123-8CD6D08D667E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0EBCC0-A7E3-D012-12E6-336036250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431F54-E0C5-EE2E-FE94-75D49E7E0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1D198-2FEF-324D-B1E0-21FCD85591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170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762000" y="1016000"/>
            <a:ext cx="762000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400" b="1" spc="400" dirty="0">
                <a:solidFill>
                  <a:srgbClr val="2DD4BF"/>
                </a:solidFill>
              </a:rPr>
              <a:t>PROJET · DATA ENGINEERING</a:t>
            </a:r>
          </a:p>
        </p:txBody>
      </p:sp>
      <p:sp>
        <p:nvSpPr>
          <p:cNvPr id="102" name="AccentBar"/>
          <p:cNvSpPr/>
          <p:nvPr/>
        </p:nvSpPr>
        <p:spPr>
          <a:xfrm>
            <a:off x="762000" y="1498600"/>
            <a:ext cx="762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HeroTitle"/>
          <p:cNvSpPr txBox="1"/>
          <p:nvPr/>
        </p:nvSpPr>
        <p:spPr>
          <a:xfrm>
            <a:off x="762000" y="1778000"/>
            <a:ext cx="10668000" cy="2032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fr-FR" sz="5400" b="1" dirty="0">
                <a:solidFill>
                  <a:srgbClr val="FFFFFF"/>
                </a:solidFill>
              </a:rPr>
              <a:t>Pipeline automatisé</a:t>
            </a:r>
          </a:p>
          <a:p>
            <a:pPr algn="l">
              <a:lnSpc>
                <a:spcPct val="100000"/>
              </a:lnSpc>
              <a:buNone/>
            </a:pPr>
            <a:r>
              <a:rPr lang="fr-FR" sz="5400" b="1" dirty="0">
                <a:solidFill>
                  <a:srgbClr val="2DD4BF"/>
                </a:solidFill>
              </a:rPr>
              <a:t>des avantages sportifs</a:t>
            </a:r>
          </a:p>
        </p:txBody>
      </p:sp>
      <p:sp>
        <p:nvSpPr>
          <p:cNvPr id="104" name="Subtitle"/>
          <p:cNvSpPr txBox="1"/>
          <p:nvPr/>
        </p:nvSpPr>
        <p:spPr>
          <a:xfrm>
            <a:off x="762000" y="4064000"/>
            <a:ext cx="10668000" cy="101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fr-FR" sz="2000" dirty="0">
                <a:solidFill>
                  <a:srgbClr val="CBD5E1"/>
                </a:solidFill>
              </a:rPr>
              <a:t>Ingestion, contrôle qualité, transformation des données</a:t>
            </a:r>
          </a:p>
          <a:p>
            <a:pPr algn="l">
              <a:lnSpc>
                <a:spcPct val="130000"/>
              </a:lnSpc>
              <a:buNone/>
            </a:pPr>
            <a:r>
              <a:rPr lang="fr-FR" sz="2000" dirty="0">
                <a:solidFill>
                  <a:srgbClr val="CBD5E1"/>
                </a:solidFill>
              </a:rPr>
              <a:t>et reporting automatisé pour les salariés</a:t>
            </a:r>
          </a:p>
        </p:txBody>
      </p:sp>
      <p:sp>
        <p:nvSpPr>
          <p:cNvPr id="110" name="Chip_PostgreSQL"/>
          <p:cNvSpPr/>
          <p:nvPr/>
        </p:nvSpPr>
        <p:spPr>
          <a:xfrm>
            <a:off x="762000" y="5588000"/>
            <a:ext cx="16510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</p:spPr>
        <p:txBody>
          <a:bodyPr wrap="square" lIns="91440" tIns="36000" rIns="91440" bIns="36000" anchor="ctr">
            <a:no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11" name="Chip_Kestra"/>
          <p:cNvSpPr/>
          <p:nvPr/>
        </p:nvSpPr>
        <p:spPr>
          <a:xfrm>
            <a:off x="2590800" y="5588000"/>
            <a:ext cx="16510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</p:spPr>
        <p:txBody>
          <a:bodyPr wrap="square" lIns="91440" tIns="36000" rIns="91440" bIns="36000" anchor="ctr">
            <a:no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Kestra</a:t>
            </a:r>
          </a:p>
        </p:txBody>
      </p:sp>
      <p:sp>
        <p:nvSpPr>
          <p:cNvPr id="112" name="Chip_Slack"/>
          <p:cNvSpPr/>
          <p:nvPr/>
        </p:nvSpPr>
        <p:spPr>
          <a:xfrm>
            <a:off x="4419600" y="5588000"/>
            <a:ext cx="16510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</p:spPr>
        <p:txBody>
          <a:bodyPr wrap="square" lIns="91440" tIns="36000" rIns="91440" bIns="36000" anchor="ctr">
            <a:no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113" name="Chip_Power BI"/>
          <p:cNvSpPr/>
          <p:nvPr/>
        </p:nvSpPr>
        <p:spPr>
          <a:xfrm>
            <a:off x="6248400" y="5588000"/>
            <a:ext cx="16510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DD4BF"/>
            </a:solidFill>
          </a:ln>
        </p:spPr>
        <p:txBody>
          <a:bodyPr wrap="square" lIns="91440" tIns="36000" rIns="91440" bIns="36000" anchor="ctr">
            <a:no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311455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FBC88-6C84-E931-C9C3-C011DCF7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NAVIGATION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762000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210" name="CardStripe_1"/>
          <p:cNvSpPr/>
          <p:nvPr/>
        </p:nvSpPr>
        <p:spPr>
          <a:xfrm>
            <a:off x="762000" y="177800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Badge_1"/>
          <p:cNvSpPr/>
          <p:nvPr/>
        </p:nvSpPr>
        <p:spPr>
          <a:xfrm>
            <a:off x="939800" y="210502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1</a:t>
            </a:r>
          </a:p>
        </p:txBody>
      </p:sp>
      <p:sp>
        <p:nvSpPr>
          <p:cNvPr id="212" name="CardText_1"/>
          <p:cNvSpPr txBox="1"/>
          <p:nvPr/>
        </p:nvSpPr>
        <p:spPr>
          <a:xfrm>
            <a:off x="1498600" y="177800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Introduction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Contexte · Problématique · Objectifs</a:t>
            </a:r>
          </a:p>
        </p:txBody>
      </p:sp>
      <p:sp>
        <p:nvSpPr>
          <p:cNvPr id="213" name="CardStripe_2"/>
          <p:cNvSpPr/>
          <p:nvPr/>
        </p:nvSpPr>
        <p:spPr>
          <a:xfrm>
            <a:off x="6248400" y="177800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Badge_2"/>
          <p:cNvSpPr/>
          <p:nvPr/>
        </p:nvSpPr>
        <p:spPr>
          <a:xfrm>
            <a:off x="6426200" y="210502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2</a:t>
            </a:r>
          </a:p>
        </p:txBody>
      </p:sp>
      <p:sp>
        <p:nvSpPr>
          <p:cNvPr id="215" name="CardText_2"/>
          <p:cNvSpPr txBox="1"/>
          <p:nvPr/>
        </p:nvSpPr>
        <p:spPr>
          <a:xfrm>
            <a:off x="6985000" y="177800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Organisation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Dossiers · Scripts Python · Config</a:t>
            </a:r>
          </a:p>
        </p:txBody>
      </p:sp>
      <p:sp>
        <p:nvSpPr>
          <p:cNvPr id="216" name="CardStripe_3"/>
          <p:cNvSpPr/>
          <p:nvPr/>
        </p:nvSpPr>
        <p:spPr>
          <a:xfrm>
            <a:off x="762000" y="299085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Badge_3"/>
          <p:cNvSpPr/>
          <p:nvPr/>
        </p:nvSpPr>
        <p:spPr>
          <a:xfrm>
            <a:off x="939800" y="331787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3</a:t>
            </a:r>
          </a:p>
        </p:txBody>
      </p:sp>
      <p:sp>
        <p:nvSpPr>
          <p:cNvPr id="218" name="CardText_3"/>
          <p:cNvSpPr txBox="1"/>
          <p:nvPr/>
        </p:nvSpPr>
        <p:spPr>
          <a:xfrm>
            <a:off x="1498600" y="299085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Architecture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Sources RH/Sport · PostgreSQL · Pipeline</a:t>
            </a:r>
          </a:p>
        </p:txBody>
      </p:sp>
      <p:sp>
        <p:nvSpPr>
          <p:cNvPr id="219" name="CardStripe_4"/>
          <p:cNvSpPr/>
          <p:nvPr/>
        </p:nvSpPr>
        <p:spPr>
          <a:xfrm>
            <a:off x="6248400" y="299085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Badge_4"/>
          <p:cNvSpPr/>
          <p:nvPr/>
        </p:nvSpPr>
        <p:spPr>
          <a:xfrm>
            <a:off x="6426200" y="331787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4</a:t>
            </a:r>
          </a:p>
        </p:txBody>
      </p:sp>
      <p:sp>
        <p:nvSpPr>
          <p:cNvPr id="221" name="CardText_4"/>
          <p:cNvSpPr txBox="1"/>
          <p:nvPr/>
        </p:nvSpPr>
        <p:spPr>
          <a:xfrm>
            <a:off x="6985000" y="299085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Développement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Ingestion · Qualité · Transformation</a:t>
            </a:r>
          </a:p>
        </p:txBody>
      </p:sp>
      <p:sp>
        <p:nvSpPr>
          <p:cNvPr id="222" name="CardStripe_5"/>
          <p:cNvSpPr/>
          <p:nvPr/>
        </p:nvSpPr>
        <p:spPr>
          <a:xfrm>
            <a:off x="762000" y="420370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Badge_5"/>
          <p:cNvSpPr/>
          <p:nvPr/>
        </p:nvSpPr>
        <p:spPr>
          <a:xfrm>
            <a:off x="939800" y="453072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5</a:t>
            </a:r>
          </a:p>
        </p:txBody>
      </p:sp>
      <p:sp>
        <p:nvSpPr>
          <p:cNvPr id="224" name="CardText_5"/>
          <p:cNvSpPr txBox="1"/>
          <p:nvPr/>
        </p:nvSpPr>
        <p:spPr>
          <a:xfrm>
            <a:off x="1498600" y="420370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Orchestration Kestra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Workflow YAML · Déclenchement mensuel</a:t>
            </a:r>
          </a:p>
        </p:txBody>
      </p:sp>
      <p:sp>
        <p:nvSpPr>
          <p:cNvPr id="225" name="CardStripe_6"/>
          <p:cNvSpPr/>
          <p:nvPr/>
        </p:nvSpPr>
        <p:spPr>
          <a:xfrm>
            <a:off x="6248400" y="420370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Badge_6"/>
          <p:cNvSpPr/>
          <p:nvPr/>
        </p:nvSpPr>
        <p:spPr>
          <a:xfrm>
            <a:off x="6426200" y="453072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6</a:t>
            </a:r>
          </a:p>
        </p:txBody>
      </p:sp>
      <p:sp>
        <p:nvSpPr>
          <p:cNvPr id="227" name="CardText_6"/>
          <p:cNvSpPr txBox="1"/>
          <p:nvPr/>
        </p:nvSpPr>
        <p:spPr>
          <a:xfrm>
            <a:off x="6985000" y="420370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Restitution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Slack · PostgreSQL · Power BI</a:t>
            </a:r>
          </a:p>
        </p:txBody>
      </p:sp>
      <p:sp>
        <p:nvSpPr>
          <p:cNvPr id="228" name="CardStripe_7"/>
          <p:cNvSpPr/>
          <p:nvPr/>
        </p:nvSpPr>
        <p:spPr>
          <a:xfrm>
            <a:off x="762000" y="541655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Badge_7"/>
          <p:cNvSpPr/>
          <p:nvPr/>
        </p:nvSpPr>
        <p:spPr>
          <a:xfrm>
            <a:off x="939800" y="574357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7</a:t>
            </a:r>
          </a:p>
        </p:txBody>
      </p:sp>
      <p:sp>
        <p:nvSpPr>
          <p:cNvPr id="230" name="CardText_7"/>
          <p:cNvSpPr txBox="1"/>
          <p:nvPr/>
        </p:nvSpPr>
        <p:spPr>
          <a:xfrm>
            <a:off x="1498600" y="541655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Résultats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Éligibles · Coûts · Sports · Départements</a:t>
            </a:r>
          </a:p>
        </p:txBody>
      </p:sp>
      <p:sp>
        <p:nvSpPr>
          <p:cNvPr id="231" name="CardStripe_8"/>
          <p:cNvSpPr/>
          <p:nvPr/>
        </p:nvSpPr>
        <p:spPr>
          <a:xfrm>
            <a:off x="6248400" y="5416550"/>
            <a:ext cx="38100" cy="1060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Badge_8"/>
          <p:cNvSpPr/>
          <p:nvPr/>
        </p:nvSpPr>
        <p:spPr>
          <a:xfrm>
            <a:off x="6426200" y="5743575"/>
            <a:ext cx="406400" cy="4064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dirty="0">
                <a:solidFill>
                  <a:srgbClr val="0B1929"/>
                </a:solidFill>
              </a:rPr>
              <a:t>8</a:t>
            </a:r>
          </a:p>
        </p:txBody>
      </p:sp>
      <p:sp>
        <p:nvSpPr>
          <p:cNvPr id="233" name="CardText_8"/>
          <p:cNvSpPr txBox="1"/>
          <p:nvPr/>
        </p:nvSpPr>
        <p:spPr>
          <a:xfrm>
            <a:off x="6985000" y="5416550"/>
            <a:ext cx="4343400" cy="10604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Conclusion</a:t>
            </a:r>
          </a:p>
          <a:p>
            <a:pPr algn="l">
              <a:buNone/>
            </a:pPr>
            <a:r>
              <a:rPr lang="fr-FR" sz="1100" dirty="0">
                <a:solidFill>
                  <a:srgbClr val="94A3B8"/>
                </a:solidFill>
              </a:rPr>
              <a:t>Bilan · Difficultés · Améliorations</a:t>
            </a:r>
          </a:p>
        </p:txBody>
      </p:sp>
    </p:spTree>
    <p:extLst>
      <p:ext uri="{BB962C8B-B14F-4D97-AF65-F5344CB8AC3E}">
        <p14:creationId xmlns:p14="http://schemas.microsoft.com/office/powerpoint/2010/main" val="2386781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5560D-DBDE-6BCD-67D7-2AC1B2DE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01 · INTRODUCTION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Contexte du projet</a:t>
            </a:r>
          </a:p>
        </p:txBody>
      </p:sp>
      <p:sp>
        <p:nvSpPr>
          <p:cNvPr id="210" name="Pillar_0"/>
          <p:cNvSpPr txBox="1"/>
          <p:nvPr/>
        </p:nvSpPr>
        <p:spPr>
          <a:xfrm>
            <a:off x="762000" y="1905000"/>
            <a:ext cx="52070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100" b="1" spc="400" dirty="0">
                <a:solidFill>
                  <a:srgbClr val="2DD4BF"/>
                </a:solidFill>
              </a:rPr>
              <a:t>ENJEU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</a:rPr>
              <a:t>Encourager le sport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L'entreprise souhaite promouvoir l'activité physique auprès de ses salariés.</a:t>
            </a:r>
          </a:p>
        </p:txBody>
      </p:sp>
      <p:sp>
        <p:nvSpPr>
          <p:cNvPr id="211" name="Pillar_1"/>
          <p:cNvSpPr txBox="1"/>
          <p:nvPr/>
        </p:nvSpPr>
        <p:spPr>
          <a:xfrm>
            <a:off x="6223000" y="1905000"/>
            <a:ext cx="52070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100" b="1" spc="400" dirty="0">
                <a:solidFill>
                  <a:srgbClr val="2DD4BF"/>
                </a:solidFill>
              </a:rPr>
              <a:t>AVANTAGES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</a:rPr>
              <a:t>Primes &amp; bien-être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Des primes et jours de congés bien-être sont accordés aux salariés éligibles.</a:t>
            </a:r>
          </a:p>
        </p:txBody>
      </p:sp>
      <p:sp>
        <p:nvSpPr>
          <p:cNvPr id="212" name="Pillar_2"/>
          <p:cNvSpPr txBox="1"/>
          <p:nvPr/>
        </p:nvSpPr>
        <p:spPr>
          <a:xfrm>
            <a:off x="762000" y="4292600"/>
            <a:ext cx="52070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100" b="1" spc="400" dirty="0">
                <a:solidFill>
                  <a:srgbClr val="2DD4BF"/>
                </a:solidFill>
              </a:rPr>
              <a:t>SOURCES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</a:rPr>
              <a:t>Données RH + Sport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Les informations proviennent de fichiers RH et de relevés d'activités sportives.</a:t>
            </a:r>
          </a:p>
        </p:txBody>
      </p:sp>
      <p:sp>
        <p:nvSpPr>
          <p:cNvPr id="213" name="Pillar_3"/>
          <p:cNvSpPr txBox="1"/>
          <p:nvPr/>
        </p:nvSpPr>
        <p:spPr>
          <a:xfrm>
            <a:off x="6223000" y="4292600"/>
            <a:ext cx="52070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100" b="1" spc="400" dirty="0">
                <a:solidFill>
                  <a:srgbClr val="2DD4BF"/>
                </a:solidFill>
              </a:rPr>
              <a:t>OBJECTIF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</a:rPr>
              <a:t>Automatiser le traitement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Gagner en efficacité et en fiabilité grâce à un pipeline automatisé.</a:t>
            </a:r>
          </a:p>
        </p:txBody>
      </p:sp>
    </p:spTree>
    <p:extLst>
      <p:ext uri="{BB962C8B-B14F-4D97-AF65-F5344CB8AC3E}">
        <p14:creationId xmlns:p14="http://schemas.microsoft.com/office/powerpoint/2010/main" val="328583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75E2F-1922-0B7C-05ED-F6D3153C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01 · INTRODUCTION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Problématique métier</a:t>
            </a:r>
          </a:p>
        </p:txBody>
      </p:sp>
      <p:sp>
        <p:nvSpPr>
          <p:cNvPr id="204" name="Body"/>
          <p:cNvSpPr txBox="1"/>
          <p:nvPr/>
        </p:nvSpPr>
        <p:spPr>
          <a:xfrm>
            <a:off x="762000" y="1841500"/>
            <a:ext cx="10668000" cy="279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spcBef>
                <a:spcPts val="6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800" dirty="0">
                <a:solidFill>
                  <a:srgbClr val="FFFFFF"/>
                </a:solidFill>
              </a:rPr>
              <a:t>Les calculs sont réalisés à partir de plusieurs sources de données.</a:t>
            </a: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800" dirty="0">
                <a:solidFill>
                  <a:srgbClr val="FFFFFF"/>
                </a:solidFill>
              </a:rPr>
              <a:t>La présence d'erreurs ou de données incohérentes peut impacter les résultats.</a:t>
            </a: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800" dirty="0">
                <a:solidFill>
                  <a:srgbClr val="FFFFFF"/>
                </a:solidFill>
              </a:rPr>
              <a:t>Les traitements manuels sont longs et difficiles à reproduire.</a:t>
            </a:r>
          </a:p>
          <a:p>
            <a:pPr marL="285750" indent="-285750" algn="l">
              <a:lnSpc>
                <a:spcPct val="125000"/>
              </a:lnSpc>
              <a:spcBef>
                <a:spcPts val="6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800" dirty="0">
                <a:solidFill>
                  <a:srgbClr val="FFFFFF"/>
                </a:solidFill>
              </a:rPr>
              <a:t>L'entreprise souhaite disposer d'un processus automatisé et fiable.</a:t>
            </a:r>
          </a:p>
        </p:txBody>
      </p:sp>
      <p:sp>
        <p:nvSpPr>
          <p:cNvPr id="205" name="Callout"/>
          <p:cNvSpPr txBox="1"/>
          <p:nvPr/>
        </p:nvSpPr>
        <p:spPr>
          <a:xfrm>
            <a:off x="762000" y="4826000"/>
            <a:ext cx="10668000" cy="1651000"/>
          </a:xfrm>
          <a:prstGeom prst="roundRect">
            <a:avLst>
              <a:gd name="adj" fmla="val 8000"/>
            </a:avLst>
          </a:prstGeom>
          <a:solidFill>
            <a:srgbClr val="2DD4BF">
              <a:alpha val="15000"/>
            </a:srgbClr>
          </a:solidFill>
          <a:ln w="12700">
            <a:solidFill>
              <a:srgbClr val="2DD4BF"/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ctr">
              <a:buNone/>
            </a:pPr>
            <a:r>
              <a:rPr lang="fr-FR" sz="1400" b="1" spc="200" dirty="0">
                <a:solidFill>
                  <a:srgbClr val="2DD4BF"/>
                </a:solidFill>
              </a:rPr>
              <a:t>PROBLÉMATIQUE</a:t>
            </a:r>
          </a:p>
          <a:p>
            <a:pPr algn="ctr">
              <a:buNone/>
            </a:pPr>
            <a:r>
              <a:rPr lang="fr-FR" sz="2000" b="1" dirty="0">
                <a:solidFill>
                  <a:srgbClr val="FFFFFF"/>
                </a:solidFill>
              </a:rPr>
              <a:t>Comment automatiser le calcul des avantages sportifs tout en garantissant la qualité des données ?</a:t>
            </a:r>
          </a:p>
        </p:txBody>
      </p:sp>
    </p:spTree>
    <p:extLst>
      <p:ext uri="{BB962C8B-B14F-4D97-AF65-F5344CB8AC3E}">
        <p14:creationId xmlns:p14="http://schemas.microsoft.com/office/powerpoint/2010/main" val="838031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3CECB-E2DD-41CA-83C3-E944E860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01 · INTRODUCTION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210" name="Obj_01"/>
          <p:cNvSpPr txBox="1"/>
          <p:nvPr/>
        </p:nvSpPr>
        <p:spPr>
          <a:xfrm>
            <a:off x="762000" y="1905000"/>
            <a:ext cx="340360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Centraliser les données RH et sportives dans un même pipeline</a:t>
            </a:r>
          </a:p>
        </p:txBody>
      </p:sp>
      <p:sp>
        <p:nvSpPr>
          <p:cNvPr id="211" name="Obj_02"/>
          <p:cNvSpPr txBox="1"/>
          <p:nvPr/>
        </p:nvSpPr>
        <p:spPr>
          <a:xfrm>
            <a:off x="4394200" y="1905000"/>
            <a:ext cx="340360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Contrôler la qualité des données avant exploitation</a:t>
            </a:r>
          </a:p>
        </p:txBody>
      </p:sp>
      <p:sp>
        <p:nvSpPr>
          <p:cNvPr id="212" name="Obj_03"/>
          <p:cNvSpPr txBox="1"/>
          <p:nvPr/>
        </p:nvSpPr>
        <p:spPr>
          <a:xfrm>
            <a:off x="8026400" y="1905000"/>
            <a:ext cx="340360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Calculer automatiquement primes et jours bien-être</a:t>
            </a:r>
          </a:p>
        </p:txBody>
      </p:sp>
      <p:sp>
        <p:nvSpPr>
          <p:cNvPr id="213" name="Obj_04"/>
          <p:cNvSpPr txBox="1"/>
          <p:nvPr/>
        </p:nvSpPr>
        <p:spPr>
          <a:xfrm>
            <a:off x="762000" y="4114800"/>
            <a:ext cx="340360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04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Stocker les résultats dans PostgreSQL</a:t>
            </a:r>
          </a:p>
        </p:txBody>
      </p:sp>
      <p:sp>
        <p:nvSpPr>
          <p:cNvPr id="214" name="Obj_05"/>
          <p:cNvSpPr txBox="1"/>
          <p:nvPr/>
        </p:nvSpPr>
        <p:spPr>
          <a:xfrm>
            <a:off x="4394200" y="4114800"/>
            <a:ext cx="340360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05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Automatiser l'exécution avec Kestra</a:t>
            </a:r>
          </a:p>
        </p:txBody>
      </p:sp>
      <p:sp>
        <p:nvSpPr>
          <p:cNvPr id="215" name="Obj_06"/>
          <p:cNvSpPr txBox="1"/>
          <p:nvPr/>
        </p:nvSpPr>
        <p:spPr>
          <a:xfrm>
            <a:off x="8026400" y="4114800"/>
            <a:ext cx="340360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06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Diffuser les résultats via Slack et Power BI</a:t>
            </a:r>
          </a:p>
        </p:txBody>
      </p:sp>
    </p:spTree>
    <p:extLst>
      <p:ext uri="{BB962C8B-B14F-4D97-AF65-F5344CB8AC3E}">
        <p14:creationId xmlns:p14="http://schemas.microsoft.com/office/powerpoint/2010/main" val="2715855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5BEBF-1EAA-4570-4257-6BA072B9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02 · ORGANISATION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Structure des dossiers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780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700" dirty="0">
                <a:solidFill>
                  <a:srgbClr val="CBD5E1"/>
                </a:solidFill>
              </a:rPr>
              <a:t>Le projet sépare clairement données, scripts et configuration pour faciliter la maintenance.</a:t>
            </a:r>
          </a:p>
        </p:txBody>
      </p:sp>
      <p:sp>
        <p:nvSpPr>
          <p:cNvPr id="210" name="Folder_0"/>
          <p:cNvSpPr txBox="1"/>
          <p:nvPr/>
        </p:nvSpPr>
        <p:spPr>
          <a:xfrm>
            <a:off x="762000" y="2540000"/>
            <a:ext cx="3386667" cy="3556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DOSSIER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  <a:latin typeface="Consolas"/>
              </a:rPr>
              <a:t>/data</a:t>
            </a:r>
          </a:p>
          <a:p>
            <a:pPr marL="200000" indent="-200000" algn="l">
              <a:spcBef>
                <a:spcPts val="400"/>
              </a:spcBef>
              <a:buClr>
                <a:srgbClr val="2DD4BF"/>
              </a:buClr>
              <a:buFont typeface="Courier New"/>
              <a:buChar char="└"/>
            </a:pPr>
            <a:r>
              <a:rPr lang="fr-FR" sz="1400" dirty="0">
                <a:solidFill>
                  <a:srgbClr val="CBD5E1"/>
                </a:solidFill>
                <a:latin typeface="Consolas"/>
              </a:rPr>
              <a:t>raw/  (sources)</a:t>
            </a:r>
          </a:p>
          <a:p>
            <a:pPr marL="200000" indent="-200000" algn="l">
              <a:spcBef>
                <a:spcPts val="400"/>
              </a:spcBef>
              <a:buClr>
                <a:srgbClr val="2DD4BF"/>
              </a:buClr>
              <a:buFont typeface="Courier New"/>
              <a:buChar char="└"/>
            </a:pPr>
            <a:r>
              <a:rPr lang="fr-FR" sz="1400" dirty="0">
                <a:solidFill>
                  <a:srgbClr val="CBD5E1"/>
                </a:solidFill>
                <a:latin typeface="Consolas"/>
              </a:rPr>
              <a:t>processed/  (résultats)</a:t>
            </a:r>
          </a:p>
        </p:txBody>
      </p:sp>
      <p:sp>
        <p:nvSpPr>
          <p:cNvPr id="211" name="Folder_1"/>
          <p:cNvSpPr txBox="1"/>
          <p:nvPr/>
        </p:nvSpPr>
        <p:spPr>
          <a:xfrm>
            <a:off x="4402667" y="2540000"/>
            <a:ext cx="3386667" cy="3556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DOSSIER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  <a:latin typeface="Consolas"/>
              </a:rPr>
              <a:t>/scripts</a:t>
            </a:r>
          </a:p>
          <a:p>
            <a:pPr marL="200000" indent="-200000" algn="l">
              <a:spcBef>
                <a:spcPts val="400"/>
              </a:spcBef>
              <a:buClr>
                <a:srgbClr val="2DD4BF"/>
              </a:buClr>
              <a:buFont typeface="Courier New"/>
              <a:buChar char="└"/>
            </a:pPr>
            <a:r>
              <a:rPr lang="fr-FR" sz="1400" dirty="0">
                <a:solidFill>
                  <a:srgbClr val="CBD5E1"/>
                </a:solidFill>
                <a:latin typeface="Consolas"/>
              </a:rPr>
              <a:t>python/  (ingestion)</a:t>
            </a:r>
          </a:p>
          <a:p>
            <a:pPr marL="200000" indent="-200000" algn="l">
              <a:spcBef>
                <a:spcPts val="400"/>
              </a:spcBef>
              <a:buClr>
                <a:srgbClr val="2DD4BF"/>
              </a:buClr>
              <a:buFont typeface="Courier New"/>
              <a:buChar char="└"/>
            </a:pPr>
            <a:r>
              <a:rPr lang="fr-FR" sz="1400" dirty="0">
                <a:solidFill>
                  <a:srgbClr val="CBD5E1"/>
                </a:solidFill>
                <a:latin typeface="Consolas"/>
              </a:rPr>
              <a:t>sql/  (requêtes)</a:t>
            </a:r>
          </a:p>
        </p:txBody>
      </p:sp>
      <p:sp>
        <p:nvSpPr>
          <p:cNvPr id="212" name="Folder_2"/>
          <p:cNvSpPr txBox="1"/>
          <p:nvPr/>
        </p:nvSpPr>
        <p:spPr>
          <a:xfrm>
            <a:off x="8043333" y="2540000"/>
            <a:ext cx="3386667" cy="3556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DOSSIER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  <a:latin typeface="Consolas"/>
              </a:rPr>
              <a:t>/workflows</a:t>
            </a:r>
          </a:p>
          <a:p>
            <a:pPr marL="200000" indent="-200000" algn="l">
              <a:spcBef>
                <a:spcPts val="400"/>
              </a:spcBef>
              <a:buClr>
                <a:srgbClr val="2DD4BF"/>
              </a:buClr>
              <a:buFont typeface="Courier New"/>
              <a:buChar char="└"/>
            </a:pPr>
            <a:r>
              <a:rPr lang="fr-FR" sz="1400" dirty="0">
                <a:solidFill>
                  <a:srgbClr val="CBD5E1"/>
                </a:solidFill>
                <a:latin typeface="Consolas"/>
              </a:rPr>
              <a:t>kestra/  (YAML)</a:t>
            </a:r>
          </a:p>
          <a:p>
            <a:pPr marL="200000" indent="-200000" algn="l">
              <a:spcBef>
                <a:spcPts val="400"/>
              </a:spcBef>
              <a:buClr>
                <a:srgbClr val="2DD4BF"/>
              </a:buClr>
              <a:buFont typeface="Courier New"/>
              <a:buChar char="└"/>
            </a:pPr>
            <a:r>
              <a:rPr lang="fr-FR" sz="1400" dirty="0">
                <a:solidFill>
                  <a:srgbClr val="CBD5E1"/>
                </a:solidFill>
                <a:latin typeface="Consolas"/>
              </a:rPr>
              <a:t>config/  (paramètres)</a:t>
            </a:r>
          </a:p>
        </p:txBody>
      </p:sp>
    </p:spTree>
    <p:extLst>
      <p:ext uri="{BB962C8B-B14F-4D97-AF65-F5344CB8AC3E}">
        <p14:creationId xmlns:p14="http://schemas.microsoft.com/office/powerpoint/2010/main" val="457856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F70DB-C3E8-0595-7737-725A09D6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02 · ORGANISATION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Scripts Python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780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700" dirty="0">
                <a:solidFill>
                  <a:srgbClr val="CBD5E1"/>
                </a:solidFill>
              </a:rPr>
              <a:t>Chaque étape du pipeline est isolée dans un script — lisibilité et réutilisation maximales.</a:t>
            </a:r>
          </a:p>
        </p:txBody>
      </p:sp>
      <p:sp>
        <p:nvSpPr>
          <p:cNvPr id="210" name="Script_0"/>
          <p:cNvSpPr txBox="1"/>
          <p:nvPr/>
        </p:nvSpPr>
        <p:spPr>
          <a:xfrm>
            <a:off x="762000" y="2540000"/>
            <a:ext cx="5219700" cy="17145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2DD4BF"/>
                </a:solidFill>
                <a:latin typeface="Consolas"/>
              </a:rPr>
              <a:t>01_ingest.py</a:t>
            </a:r>
          </a:p>
          <a:p>
            <a:pPr algn="l">
              <a:buNone/>
            </a:pPr>
            <a:r>
              <a:rPr lang="fr-FR" sz="1500" dirty="0">
                <a:solidFill>
                  <a:srgbClr val="FFFFFF"/>
                </a:solidFill>
              </a:rPr>
              <a:t>Ingestion des données RH et sportives</a:t>
            </a:r>
          </a:p>
        </p:txBody>
      </p:sp>
      <p:sp>
        <p:nvSpPr>
          <p:cNvPr id="211" name="Script_1"/>
          <p:cNvSpPr txBox="1"/>
          <p:nvPr/>
        </p:nvSpPr>
        <p:spPr>
          <a:xfrm>
            <a:off x="6210300" y="2540000"/>
            <a:ext cx="5219700" cy="17145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2DD4BF"/>
                </a:solidFill>
                <a:latin typeface="Consolas"/>
              </a:rPr>
              <a:t>02_quality.py</a:t>
            </a:r>
          </a:p>
          <a:p>
            <a:pPr algn="l">
              <a:buNone/>
            </a:pPr>
            <a:r>
              <a:rPr lang="fr-FR" sz="1500" dirty="0">
                <a:solidFill>
                  <a:srgbClr val="FFFFFF"/>
                </a:solidFill>
              </a:rPr>
              <a:t>Contrôles qualité des données</a:t>
            </a:r>
          </a:p>
        </p:txBody>
      </p:sp>
      <p:sp>
        <p:nvSpPr>
          <p:cNvPr id="212" name="Script_2"/>
          <p:cNvSpPr txBox="1"/>
          <p:nvPr/>
        </p:nvSpPr>
        <p:spPr>
          <a:xfrm>
            <a:off x="762000" y="4432300"/>
            <a:ext cx="5219700" cy="17145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2DD4BF"/>
                </a:solidFill>
                <a:latin typeface="Consolas"/>
              </a:rPr>
              <a:t>03_transform.py</a:t>
            </a:r>
          </a:p>
          <a:p>
            <a:pPr algn="l">
              <a:buNone/>
            </a:pPr>
            <a:r>
              <a:rPr lang="fr-FR" sz="1500" dirty="0">
                <a:solidFill>
                  <a:srgbClr val="FFFFFF"/>
                </a:solidFill>
              </a:rPr>
              <a:t>Calcul des primes et jours bien-être</a:t>
            </a:r>
          </a:p>
        </p:txBody>
      </p:sp>
      <p:sp>
        <p:nvSpPr>
          <p:cNvPr id="213" name="Script_3"/>
          <p:cNvSpPr txBox="1"/>
          <p:nvPr/>
        </p:nvSpPr>
        <p:spPr>
          <a:xfrm>
            <a:off x="6210300" y="4432300"/>
            <a:ext cx="5219700" cy="17145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2DD4BF"/>
                </a:solidFill>
                <a:latin typeface="Consolas"/>
              </a:rPr>
              <a:t>04_notify.py</a:t>
            </a:r>
          </a:p>
          <a:p>
            <a:pPr algn="l">
              <a:buNone/>
            </a:pPr>
            <a:r>
              <a:rPr lang="fr-FR" sz="1500" dirty="0">
                <a:solidFill>
                  <a:srgbClr val="FFFFFF"/>
                </a:solidFill>
              </a:rPr>
              <a:t>Génération et envoi des rapports</a:t>
            </a:r>
          </a:p>
        </p:txBody>
      </p:sp>
    </p:spTree>
    <p:extLst>
      <p:ext uri="{BB962C8B-B14F-4D97-AF65-F5344CB8AC3E}">
        <p14:creationId xmlns:p14="http://schemas.microsoft.com/office/powerpoint/2010/main" val="3030476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8C53C-7193-1261-AC83-1D9E36D6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B4AFDE0-A158-80DB-5077-99F47A060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668" y="607060"/>
            <a:ext cx="2888332" cy="6024880"/>
          </a:xfrm>
          <a:prstGeom prst="rect">
            <a:avLst/>
          </a:prstGeom>
        </p:spPr>
      </p:pic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02 · ORGANISATION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8128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Fichiers de configuration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14500"/>
            <a:ext cx="8128000" cy="317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500" dirty="0">
                <a:solidFill>
                  <a:srgbClr val="CBD5E1"/>
                </a:solidFill>
              </a:rPr>
              <a:t>Séparation config / code métier — modifications sans impact.</a:t>
            </a:r>
          </a:p>
        </p:txBody>
      </p:sp>
      <p:sp>
        <p:nvSpPr>
          <p:cNvPr id="210" name="RowBar_0"/>
          <p:cNvSpPr/>
          <p:nvPr/>
        </p:nvSpPr>
        <p:spPr>
          <a:xfrm>
            <a:off x="762000" y="2476500"/>
            <a:ext cx="38100" cy="762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Cfg_0"/>
          <p:cNvSpPr txBox="1"/>
          <p:nvPr/>
        </p:nvSpPr>
        <p:spPr>
          <a:xfrm>
            <a:off x="1016000" y="23495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  <a:latin typeface="Consolas"/>
              </a:rPr>
              <a:t>sql/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Requêtes centralisées</a:t>
            </a:r>
          </a:p>
        </p:txBody>
      </p:sp>
      <p:sp>
        <p:nvSpPr>
          <p:cNvPr id="212" name="RowBar_1"/>
          <p:cNvSpPr/>
          <p:nvPr/>
        </p:nvSpPr>
        <p:spPr>
          <a:xfrm>
            <a:off x="762000" y="3619500"/>
            <a:ext cx="38100" cy="762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Cfg_1"/>
          <p:cNvSpPr txBox="1"/>
          <p:nvPr/>
        </p:nvSpPr>
        <p:spPr>
          <a:xfrm>
            <a:off x="1016000" y="34925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  <a:latin typeface="Consolas"/>
              </a:rPr>
              <a:t>flow_pipeline.yml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Workflow d'orchestration Kestra</a:t>
            </a:r>
          </a:p>
        </p:txBody>
      </p:sp>
      <p:sp>
        <p:nvSpPr>
          <p:cNvPr id="214" name="RowBar_2"/>
          <p:cNvSpPr/>
          <p:nvPr/>
        </p:nvSpPr>
        <p:spPr>
          <a:xfrm>
            <a:off x="762000" y="4762500"/>
            <a:ext cx="38100" cy="762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Cfg_2"/>
          <p:cNvSpPr txBox="1"/>
          <p:nvPr/>
        </p:nvSpPr>
        <p:spPr>
          <a:xfrm>
            <a:off x="1016000" y="46355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  <a:latin typeface="Consolas"/>
              </a:rPr>
              <a:t>requirements.txt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Dépendances Python</a:t>
            </a:r>
          </a:p>
        </p:txBody>
      </p:sp>
      <p:sp>
        <p:nvSpPr>
          <p:cNvPr id="216" name="RowBar_3"/>
          <p:cNvSpPr/>
          <p:nvPr/>
        </p:nvSpPr>
        <p:spPr>
          <a:xfrm>
            <a:off x="762000" y="5905500"/>
            <a:ext cx="38100" cy="762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Cfg_3"/>
          <p:cNvSpPr txBox="1"/>
          <p:nvPr/>
        </p:nvSpPr>
        <p:spPr>
          <a:xfrm>
            <a:off x="1016000" y="57785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  <a:latin typeface="Consolas"/>
              </a:rPr>
              <a:t>.env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Paramètres sensibles</a:t>
            </a:r>
          </a:p>
        </p:txBody>
      </p:sp>
    </p:spTree>
    <p:extLst>
      <p:ext uri="{BB962C8B-B14F-4D97-AF65-F5344CB8AC3E}">
        <p14:creationId xmlns:p14="http://schemas.microsoft.com/office/powerpoint/2010/main" val="1281033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BD1E7-F2B3-7BFE-5390-A3F0517C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1A70CAF-0DC2-88BE-689A-2F414345B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87" y="909320"/>
            <a:ext cx="3555153" cy="1122680"/>
          </a:xfrm>
          <a:prstGeom prst="rect">
            <a:avLst/>
          </a:prstGeom>
        </p:spPr>
      </p:pic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03 · ARCHITECTURE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914400"/>
            <a:ext cx="7493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Sources RH &amp; Sport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22225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700" dirty="0">
                <a:solidFill>
                  <a:srgbClr val="CBD5E1"/>
                </a:solidFill>
              </a:rPr>
              <a:t>Deux fichiers Excel alimentent le pipeline pour déterminer l'éligibilité aux avantages.</a:t>
            </a:r>
          </a:p>
        </p:txBody>
      </p:sp>
      <p:sp>
        <p:nvSpPr>
          <p:cNvPr id="210" name="RH_Card"/>
          <p:cNvSpPr txBox="1"/>
          <p:nvPr/>
        </p:nvSpPr>
        <p:spPr>
          <a:xfrm>
            <a:off x="762000" y="2921000"/>
            <a:ext cx="5207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50000" rIns="180000" bIns="15000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FICHIER RH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</a:rPr>
              <a:t>Données salariés</a:t>
            </a:r>
          </a:p>
          <a:p>
            <a:pPr marL="200000" indent="-200000" algn="l">
              <a:spcBef>
                <a:spcPts val="3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400" dirty="0">
                <a:solidFill>
                  <a:srgbClr val="FFFFFF"/>
                </a:solidFill>
              </a:rPr>
              <a:t>Identifiant</a:t>
            </a:r>
          </a:p>
          <a:p>
            <a:pPr marL="200000" indent="-200000" algn="l">
              <a:spcBef>
                <a:spcPts val="3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400" dirty="0">
                <a:solidFill>
                  <a:srgbClr val="FFFFFF"/>
                </a:solidFill>
              </a:rPr>
              <a:t>Département</a:t>
            </a:r>
          </a:p>
          <a:p>
            <a:pPr marL="200000" indent="-200000" algn="l">
              <a:spcBef>
                <a:spcPts val="3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400" dirty="0">
                <a:solidFill>
                  <a:srgbClr val="FFFFFF"/>
                </a:solidFill>
              </a:rPr>
              <a:t>Salaire</a:t>
            </a:r>
          </a:p>
        </p:txBody>
      </p:sp>
      <p:sp>
        <p:nvSpPr>
          <p:cNvPr id="211" name="Sport_Card"/>
          <p:cNvSpPr txBox="1"/>
          <p:nvPr/>
        </p:nvSpPr>
        <p:spPr>
          <a:xfrm>
            <a:off x="6223000" y="2921000"/>
            <a:ext cx="5207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80000" tIns="150000" rIns="180000" bIns="15000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FICHIER SPORT</a:t>
            </a:r>
          </a:p>
          <a:p>
            <a:pPr algn="l">
              <a:buNone/>
            </a:pPr>
            <a:r>
              <a:rPr lang="fr-FR" sz="2000" b="1" dirty="0">
                <a:solidFill>
                  <a:srgbClr val="FFFFFF"/>
                </a:solidFill>
              </a:rPr>
              <a:t>Activités pratiquées</a:t>
            </a:r>
          </a:p>
          <a:p>
            <a:pPr marL="200000" indent="-200000" algn="l">
              <a:spcBef>
                <a:spcPts val="3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400" dirty="0">
                <a:solidFill>
                  <a:srgbClr val="FFFFFF"/>
                </a:solidFill>
              </a:rPr>
              <a:t>Type d'activité</a:t>
            </a:r>
          </a:p>
          <a:p>
            <a:pPr marL="200000" indent="-200000" algn="l">
              <a:spcBef>
                <a:spcPts val="3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400" dirty="0">
                <a:solidFill>
                  <a:srgbClr val="FFFFFF"/>
                </a:solidFill>
              </a:rPr>
              <a:t>Fréquence</a:t>
            </a:r>
          </a:p>
          <a:p>
            <a:pPr marL="200000" indent="-200000" algn="l">
              <a:spcBef>
                <a:spcPts val="3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400" dirty="0">
                <a:solidFill>
                  <a:srgbClr val="FFFFFF"/>
                </a:solidFill>
              </a:rPr>
              <a:t>Salariés concernés</a:t>
            </a:r>
          </a:p>
        </p:txBody>
      </p:sp>
    </p:spTree>
    <p:extLst>
      <p:ext uri="{BB962C8B-B14F-4D97-AF65-F5344CB8AC3E}">
        <p14:creationId xmlns:p14="http://schemas.microsoft.com/office/powerpoint/2010/main" val="682937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68E77-48CF-61BC-CF7F-640967D6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E5ED13-E891-73FE-E800-8E99BBDA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067" y="155694"/>
            <a:ext cx="2900825" cy="6461624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03 · ARCHITECTURE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8128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200" b="1" dirty="0">
                <a:solidFill>
                  <a:srgbClr val="FFFFFF"/>
                </a:solidFill>
              </a:rPr>
              <a:t>Base de données PostgreSQL</a:t>
            </a:r>
          </a:p>
        </p:txBody>
      </p:sp>
      <p:sp>
        <p:nvSpPr>
          <p:cNvPr id="210" name="Feat_0"/>
          <p:cNvSpPr txBox="1"/>
          <p:nvPr/>
        </p:nvSpPr>
        <p:spPr>
          <a:xfrm>
            <a:off x="762000" y="1905000"/>
            <a:ext cx="35941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20000" rIns="140000" bIns="12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01 · CENTRALISATION</a:t>
            </a:r>
          </a:p>
          <a:p>
            <a:pPr algn="l">
              <a:buNone/>
            </a:pPr>
            <a:r>
              <a:rPr lang="fr-FR" sz="1400" dirty="0">
                <a:solidFill>
                  <a:srgbClr val="FFFFFF"/>
                </a:solidFill>
              </a:rPr>
              <a:t>Stockage unique de toutes les données traitées du pipeline.</a:t>
            </a:r>
          </a:p>
        </p:txBody>
      </p:sp>
      <p:sp>
        <p:nvSpPr>
          <p:cNvPr id="211" name="Feat_1"/>
          <p:cNvSpPr txBox="1"/>
          <p:nvPr/>
        </p:nvSpPr>
        <p:spPr>
          <a:xfrm>
            <a:off x="4533900" y="1905000"/>
            <a:ext cx="35941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20000" rIns="140000" bIns="12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02 · STOCKAGE COMPLET</a:t>
            </a:r>
          </a:p>
          <a:p>
            <a:pPr algn="l">
              <a:buNone/>
            </a:pPr>
            <a:r>
              <a:rPr lang="fr-FR" sz="1400" dirty="0">
                <a:solidFill>
                  <a:srgbClr val="FFFFFF"/>
                </a:solidFill>
              </a:rPr>
              <a:t>Données brutes, intermédiaires et résultats finaux.</a:t>
            </a:r>
          </a:p>
        </p:txBody>
      </p:sp>
      <p:sp>
        <p:nvSpPr>
          <p:cNvPr id="212" name="Feat_2"/>
          <p:cNvSpPr txBox="1"/>
          <p:nvPr/>
        </p:nvSpPr>
        <p:spPr>
          <a:xfrm>
            <a:off x="762000" y="4241800"/>
            <a:ext cx="35941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20000" rIns="140000" bIns="12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03 · SÉCURITÉ</a:t>
            </a:r>
          </a:p>
          <a:p>
            <a:pPr algn="l">
              <a:buNone/>
            </a:pPr>
            <a:r>
              <a:rPr lang="fr-FR" sz="1400" dirty="0">
                <a:solidFill>
                  <a:srgbClr val="FFFFFF"/>
                </a:solidFill>
              </a:rPr>
              <a:t>Structure relationnelle, accès contrôlé, intégrité garantie.</a:t>
            </a:r>
          </a:p>
        </p:txBody>
      </p:sp>
      <p:sp>
        <p:nvSpPr>
          <p:cNvPr id="213" name="Feat_3"/>
          <p:cNvSpPr txBox="1"/>
          <p:nvPr/>
        </p:nvSpPr>
        <p:spPr>
          <a:xfrm>
            <a:off x="4533900" y="4241800"/>
            <a:ext cx="35941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20000" rIns="140000" bIns="12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04 · EXPLOITATION</a:t>
            </a:r>
          </a:p>
          <a:p>
            <a:pPr algn="l">
              <a:buNone/>
            </a:pPr>
            <a:r>
              <a:rPr lang="fr-FR" sz="1400" dirty="0">
                <a:solidFill>
                  <a:srgbClr val="FFFFFF"/>
                </a:solidFill>
              </a:rPr>
              <a:t>Source unique pour le reporting Power BI et les analyses.</a:t>
            </a:r>
          </a:p>
        </p:txBody>
      </p:sp>
    </p:spTree>
    <p:extLst>
      <p:ext uri="{BB962C8B-B14F-4D97-AF65-F5344CB8AC3E}">
        <p14:creationId xmlns:p14="http://schemas.microsoft.com/office/powerpoint/2010/main" val="524678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E9E96-7E3E-0AA1-5A76-6C5BCE45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AFC0F54-7F34-C33C-6082-7D833FC1B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127071"/>
            <a:ext cx="6664960" cy="1565329"/>
          </a:xfrm>
          <a:prstGeom prst="rect">
            <a:avLst/>
          </a:prstGeom>
        </p:spPr>
      </p:pic>
      <p:sp>
        <p:nvSpPr>
          <p:cNvPr id="201" name="Eyebrow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03 · ARCHITECTURE</a:t>
            </a:r>
          </a:p>
        </p:txBody>
      </p:sp>
      <p:sp>
        <p:nvSpPr>
          <p:cNvPr id="202" name="Accent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PageTitle"/>
          <p:cNvSpPr txBox="1"/>
          <p:nvPr/>
        </p:nvSpPr>
        <p:spPr>
          <a:xfrm>
            <a:off x="762000" y="1397000"/>
            <a:ext cx="4445000" cy="101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200" b="1" dirty="0">
                <a:solidFill>
                  <a:srgbClr val="FFFFFF"/>
                </a:solidFill>
              </a:rPr>
              <a:t>Pipeline de traitement</a:t>
            </a:r>
          </a:p>
        </p:txBody>
      </p:sp>
      <p:sp>
        <p:nvSpPr>
          <p:cNvPr id="210" name="Step_1"/>
          <p:cNvSpPr txBox="1"/>
          <p:nvPr/>
        </p:nvSpPr>
        <p:spPr>
          <a:xfrm>
            <a:off x="762000" y="3429000"/>
            <a:ext cx="199136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20000" tIns="120000" rIns="120000" bIns="120000" anchor="ctr">
            <a:noAutofit/>
          </a:bodyPr>
          <a:lstStyle/>
          <a:p>
            <a:pPr algn="ctr">
              <a:buNone/>
            </a:pPr>
            <a:r>
              <a:rPr lang="fr-FR" sz="2800" b="1" dirty="0">
                <a:solidFill>
                  <a:srgbClr val="2DD4BF"/>
                </a:solidFill>
              </a:rPr>
              <a:t>1</a:t>
            </a:r>
          </a:p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Importer</a:t>
            </a:r>
          </a:p>
        </p:txBody>
      </p:sp>
      <p:sp>
        <p:nvSpPr>
          <p:cNvPr id="211" name="Step_2"/>
          <p:cNvSpPr txBox="1"/>
          <p:nvPr/>
        </p:nvSpPr>
        <p:spPr>
          <a:xfrm>
            <a:off x="2931160" y="3429000"/>
            <a:ext cx="199136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20000" tIns="120000" rIns="120000" bIns="120000" anchor="ctr">
            <a:noAutofit/>
          </a:bodyPr>
          <a:lstStyle/>
          <a:p>
            <a:pPr algn="ctr">
              <a:buNone/>
            </a:pPr>
            <a:r>
              <a:rPr lang="fr-FR" sz="2800" b="1" dirty="0">
                <a:solidFill>
                  <a:srgbClr val="2DD4BF"/>
                </a:solidFill>
              </a:rPr>
              <a:t>2</a:t>
            </a:r>
          </a:p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Contrôler</a:t>
            </a:r>
          </a:p>
        </p:txBody>
      </p:sp>
      <p:sp>
        <p:nvSpPr>
          <p:cNvPr id="212" name="Step_3"/>
          <p:cNvSpPr txBox="1"/>
          <p:nvPr/>
        </p:nvSpPr>
        <p:spPr>
          <a:xfrm>
            <a:off x="5100320" y="3429000"/>
            <a:ext cx="199136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20000" tIns="120000" rIns="120000" bIns="120000" anchor="ctr">
            <a:noAutofit/>
          </a:bodyPr>
          <a:lstStyle/>
          <a:p>
            <a:pPr algn="ctr">
              <a:buNone/>
            </a:pPr>
            <a:r>
              <a:rPr lang="fr-FR" sz="2800" b="1" dirty="0">
                <a:solidFill>
                  <a:srgbClr val="2DD4BF"/>
                </a:solidFill>
              </a:rPr>
              <a:t>3</a:t>
            </a:r>
          </a:p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Calculer</a:t>
            </a:r>
          </a:p>
        </p:txBody>
      </p:sp>
      <p:sp>
        <p:nvSpPr>
          <p:cNvPr id="213" name="Step_4"/>
          <p:cNvSpPr txBox="1"/>
          <p:nvPr/>
        </p:nvSpPr>
        <p:spPr>
          <a:xfrm>
            <a:off x="7269480" y="3429000"/>
            <a:ext cx="199136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20000" tIns="120000" rIns="120000" bIns="120000" anchor="ctr">
            <a:noAutofit/>
          </a:bodyPr>
          <a:lstStyle/>
          <a:p>
            <a:pPr algn="ctr">
              <a:buNone/>
            </a:pPr>
            <a:r>
              <a:rPr lang="fr-FR" sz="2800" b="1" dirty="0">
                <a:solidFill>
                  <a:srgbClr val="2DD4BF"/>
                </a:solidFill>
              </a:rPr>
              <a:t>4</a:t>
            </a:r>
          </a:p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Stocker</a:t>
            </a:r>
          </a:p>
        </p:txBody>
      </p:sp>
      <p:sp>
        <p:nvSpPr>
          <p:cNvPr id="214" name="Step_5"/>
          <p:cNvSpPr txBox="1"/>
          <p:nvPr/>
        </p:nvSpPr>
        <p:spPr>
          <a:xfrm>
            <a:off x="9438640" y="3429000"/>
            <a:ext cx="1991360" cy="2032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20000" tIns="120000" rIns="120000" bIns="120000" anchor="ctr">
            <a:noAutofit/>
          </a:bodyPr>
          <a:lstStyle/>
          <a:p>
            <a:pPr algn="ctr">
              <a:buNone/>
            </a:pPr>
            <a:r>
              <a:rPr lang="fr-FR" sz="2800" b="1" dirty="0">
                <a:solidFill>
                  <a:srgbClr val="2DD4BF"/>
                </a:solidFill>
              </a:rPr>
              <a:t>5</a:t>
            </a:r>
          </a:p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</a:rPr>
              <a:t>Notifier</a:t>
            </a:r>
          </a:p>
        </p:txBody>
      </p:sp>
      <p:sp>
        <p:nvSpPr>
          <p:cNvPr id="215" name="Arrow_0"/>
          <p:cNvSpPr txBox="1"/>
          <p:nvPr/>
        </p:nvSpPr>
        <p:spPr>
          <a:xfrm>
            <a:off x="2778760" y="4254500"/>
            <a:ext cx="127000" cy="381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16" name="Arrow_1"/>
          <p:cNvSpPr txBox="1"/>
          <p:nvPr/>
        </p:nvSpPr>
        <p:spPr>
          <a:xfrm>
            <a:off x="4947920" y="4254500"/>
            <a:ext cx="127000" cy="381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17" name="Arrow_2"/>
          <p:cNvSpPr txBox="1"/>
          <p:nvPr/>
        </p:nvSpPr>
        <p:spPr>
          <a:xfrm>
            <a:off x="7117080" y="4254500"/>
            <a:ext cx="127000" cy="381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18" name="Arrow_3"/>
          <p:cNvSpPr txBox="1"/>
          <p:nvPr/>
        </p:nvSpPr>
        <p:spPr>
          <a:xfrm>
            <a:off x="9286240" y="4254500"/>
            <a:ext cx="127000" cy="381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19" name="BottomNote"/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fr-FR" sz="1500" dirty="0">
                <a:solidFill>
                  <a:srgbClr val="CBD5E1"/>
                </a:solidFill>
              </a:rPr>
              <a:t>Pipeline 100% automatisé — règles métier appliquées avant stockage et notification</a:t>
            </a:r>
          </a:p>
        </p:txBody>
      </p:sp>
    </p:spTree>
    <p:extLst>
      <p:ext uri="{BB962C8B-B14F-4D97-AF65-F5344CB8AC3E}">
        <p14:creationId xmlns:p14="http://schemas.microsoft.com/office/powerpoint/2010/main" val="3984711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9839C-F6D2-3E8D-B621-CF8630AA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6444526-165D-9B24-FAF3-BFAB6371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057" y="183243"/>
            <a:ext cx="4904377" cy="6489422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03 · ARCHITECTURE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635000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200" b="1" dirty="0">
                <a:solidFill>
                  <a:srgbClr val="FFFFFF"/>
                </a:solidFill>
              </a:rPr>
              <a:t>Architecture globale</a:t>
            </a:r>
          </a:p>
        </p:txBody>
      </p:sp>
      <p:sp>
        <p:nvSpPr>
          <p:cNvPr id="210" name="Step_0"/>
          <p:cNvSpPr txBox="1"/>
          <p:nvPr/>
        </p:nvSpPr>
        <p:spPr>
          <a:xfrm>
            <a:off x="762000" y="1778000"/>
            <a:ext cx="6096000" cy="825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00000" rIns="140000" bIns="10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01 · DONNÉES</a:t>
            </a:r>
          </a:p>
          <a:p>
            <a:pPr algn="l">
              <a:buNone/>
            </a:pPr>
            <a:r>
              <a:rPr lang="fr-FR" sz="1300" dirty="0">
                <a:solidFill>
                  <a:srgbClr val="FFFFFF"/>
                </a:solidFill>
              </a:rPr>
              <a:t>Sources RH + Sport (Excel)</a:t>
            </a:r>
          </a:p>
        </p:txBody>
      </p:sp>
      <p:sp>
        <p:nvSpPr>
          <p:cNvPr id="211" name="Arrow_0"/>
          <p:cNvSpPr/>
          <p:nvPr/>
        </p:nvSpPr>
        <p:spPr>
          <a:xfrm>
            <a:off x="3695700" y="2654300"/>
            <a:ext cx="2286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D4B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Step_1"/>
          <p:cNvSpPr txBox="1"/>
          <p:nvPr/>
        </p:nvSpPr>
        <p:spPr>
          <a:xfrm>
            <a:off x="762000" y="2908300"/>
            <a:ext cx="6096000" cy="825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00000" rIns="140000" bIns="10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02 · PIPELINE</a:t>
            </a:r>
          </a:p>
          <a:p>
            <a:pPr algn="l">
              <a:buNone/>
            </a:pPr>
            <a:r>
              <a:rPr lang="fr-FR" sz="1300" dirty="0">
                <a:solidFill>
                  <a:srgbClr val="FFFFFF"/>
                </a:solidFill>
              </a:rPr>
              <a:t>Python : ingestion, qualité, transformation</a:t>
            </a:r>
          </a:p>
        </p:txBody>
      </p:sp>
      <p:sp>
        <p:nvSpPr>
          <p:cNvPr id="213" name="Arrow_1"/>
          <p:cNvSpPr/>
          <p:nvPr/>
        </p:nvSpPr>
        <p:spPr>
          <a:xfrm>
            <a:off x="3695700" y="3784600"/>
            <a:ext cx="2286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D4B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Step_2"/>
          <p:cNvSpPr txBox="1"/>
          <p:nvPr/>
        </p:nvSpPr>
        <p:spPr>
          <a:xfrm>
            <a:off x="762000" y="4038600"/>
            <a:ext cx="6096000" cy="825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00000" rIns="140000" bIns="10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03 · POSTGRESQL</a:t>
            </a:r>
          </a:p>
          <a:p>
            <a:pPr algn="l">
              <a:buNone/>
            </a:pPr>
            <a:r>
              <a:rPr lang="fr-FR" sz="1300" dirty="0">
                <a:solidFill>
                  <a:srgbClr val="FFFFFF"/>
                </a:solidFill>
              </a:rPr>
              <a:t>Stockage centralisé des résultats</a:t>
            </a:r>
          </a:p>
        </p:txBody>
      </p:sp>
      <p:sp>
        <p:nvSpPr>
          <p:cNvPr id="215" name="Arrow_2"/>
          <p:cNvSpPr/>
          <p:nvPr/>
        </p:nvSpPr>
        <p:spPr>
          <a:xfrm>
            <a:off x="3695700" y="4914900"/>
            <a:ext cx="2286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D4B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Step_3"/>
          <p:cNvSpPr txBox="1"/>
          <p:nvPr/>
        </p:nvSpPr>
        <p:spPr>
          <a:xfrm>
            <a:off x="762000" y="5168900"/>
            <a:ext cx="6096000" cy="825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40000" tIns="100000" rIns="140000" bIns="100000" anchor="ctr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04 · RESTITUTION</a:t>
            </a:r>
          </a:p>
          <a:p>
            <a:pPr algn="l">
              <a:buNone/>
            </a:pPr>
            <a:r>
              <a:rPr lang="fr-FR" sz="1300" dirty="0">
                <a:solidFill>
                  <a:srgbClr val="FFFFFF"/>
                </a:solidFill>
              </a:rPr>
              <a:t>Slack + Power BI pour les équipes</a:t>
            </a:r>
          </a:p>
        </p:txBody>
      </p:sp>
    </p:spTree>
    <p:extLst>
      <p:ext uri="{BB962C8B-B14F-4D97-AF65-F5344CB8AC3E}">
        <p14:creationId xmlns:p14="http://schemas.microsoft.com/office/powerpoint/2010/main" val="1935294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56438-5714-3EAA-72FD-FD1D613C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04 · DÉVELOPPEMENT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Ingestion des données</a:t>
            </a:r>
          </a:p>
        </p:txBody>
      </p:sp>
      <p:sp>
        <p:nvSpPr>
          <p:cNvPr id="210" name="Step_01"/>
          <p:cNvSpPr txBox="1"/>
          <p:nvPr/>
        </p:nvSpPr>
        <p:spPr>
          <a:xfrm>
            <a:off x="536917" y="1765300"/>
            <a:ext cx="2495550" cy="36830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Importation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Fichiers RH et Sport collectés automatiquement</a:t>
            </a:r>
          </a:p>
        </p:txBody>
      </p:sp>
      <p:sp>
        <p:nvSpPr>
          <p:cNvPr id="211" name="Step_02"/>
          <p:cNvSpPr txBox="1"/>
          <p:nvPr/>
        </p:nvSpPr>
        <p:spPr>
          <a:xfrm>
            <a:off x="3373608" y="1765300"/>
            <a:ext cx="2495550" cy="36830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Lecture Python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Scripts de parsing et de validation des sources</a:t>
            </a:r>
          </a:p>
        </p:txBody>
      </p:sp>
      <p:sp>
        <p:nvSpPr>
          <p:cNvPr id="212" name="Step_03"/>
          <p:cNvSpPr txBox="1"/>
          <p:nvPr/>
        </p:nvSpPr>
        <p:spPr>
          <a:xfrm>
            <a:off x="6210299" y="1765300"/>
            <a:ext cx="2495550" cy="36830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Centralisation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Sources regroupées dans un format unifié</a:t>
            </a:r>
          </a:p>
        </p:txBody>
      </p:sp>
      <p:sp>
        <p:nvSpPr>
          <p:cNvPr id="213" name="Step_04"/>
          <p:cNvSpPr txBox="1"/>
          <p:nvPr/>
        </p:nvSpPr>
        <p:spPr>
          <a:xfrm>
            <a:off x="8920382" y="1765300"/>
            <a:ext cx="2495550" cy="36830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04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Chargement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Données initiales injectées dans PostgreSQL</a:t>
            </a:r>
          </a:p>
        </p:txBody>
      </p:sp>
    </p:spTree>
    <p:extLst>
      <p:ext uri="{BB962C8B-B14F-4D97-AF65-F5344CB8AC3E}">
        <p14:creationId xmlns:p14="http://schemas.microsoft.com/office/powerpoint/2010/main" val="1696424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2F1DF-DC75-CFC6-1E8E-62AFB960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04 · DÉVELOPPEMENT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Contrôles qualité</a:t>
            </a:r>
          </a:p>
        </p:txBody>
      </p:sp>
      <p:sp>
        <p:nvSpPr>
          <p:cNvPr id="204" name="Ip"/>
          <p:cNvSpPr txBox="1"/>
          <p:nvPr/>
        </p:nvSpPr>
        <p:spPr>
          <a:xfrm>
            <a:off x="762000" y="1778000"/>
            <a:ext cx="106680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700" dirty="0">
                <a:solidFill>
                  <a:srgbClr val="CBD5E1"/>
                </a:solidFill>
              </a:rPr>
              <a:t>Vérifications systématiques avant tout traitement métier — fiabilité garantie.</a:t>
            </a:r>
          </a:p>
        </p:txBody>
      </p:sp>
      <p:sp>
        <p:nvSpPr>
          <p:cNvPr id="210" name="Chk_0"/>
          <p:cNvSpPr txBox="1"/>
          <p:nvPr/>
        </p:nvSpPr>
        <p:spPr>
          <a:xfrm>
            <a:off x="762000" y="2540000"/>
            <a:ext cx="3386667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2000" b="1" dirty="0">
                <a:solidFill>
                  <a:srgbClr val="2DD4BF"/>
                </a:solidFill>
              </a:rPr>
              <a:t>✓</a:t>
            </a:r>
            <a:r>
              <a:rPr lang="fr-FR" sz="1900" b="1" dirty="0">
                <a:solidFill>
                  <a:srgbClr val="FFFFFF"/>
                </a:solidFill>
              </a:rPr>
              <a:t> Valeurs manquantes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Identification et correction des champs vides</a:t>
            </a:r>
          </a:p>
        </p:txBody>
      </p:sp>
      <p:sp>
        <p:nvSpPr>
          <p:cNvPr id="211" name="Chk_1"/>
          <p:cNvSpPr txBox="1"/>
          <p:nvPr/>
        </p:nvSpPr>
        <p:spPr>
          <a:xfrm>
            <a:off x="4402667" y="2540000"/>
            <a:ext cx="3386667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2000" b="1" dirty="0">
                <a:solidFill>
                  <a:srgbClr val="2DD4BF"/>
                </a:solidFill>
              </a:rPr>
              <a:t>✓</a:t>
            </a:r>
            <a:r>
              <a:rPr lang="fr-FR" sz="1900" b="1" dirty="0">
                <a:solidFill>
                  <a:srgbClr val="FFFFFF"/>
                </a:solidFill>
              </a:rPr>
              <a:t> Doublons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Détection et déduplication des enregistrements</a:t>
            </a:r>
          </a:p>
        </p:txBody>
      </p:sp>
      <p:sp>
        <p:nvSpPr>
          <p:cNvPr id="212" name="Chk_2"/>
          <p:cNvSpPr txBox="1"/>
          <p:nvPr/>
        </p:nvSpPr>
        <p:spPr>
          <a:xfrm>
            <a:off x="8043333" y="2540000"/>
            <a:ext cx="3386667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50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2000" b="1" dirty="0">
                <a:solidFill>
                  <a:srgbClr val="2DD4BF"/>
                </a:solidFill>
              </a:rPr>
              <a:t>✓</a:t>
            </a:r>
            <a:r>
              <a:rPr lang="fr-FR" sz="1900" b="1" dirty="0">
                <a:solidFill>
                  <a:srgbClr val="FFFFFF"/>
                </a:solidFill>
              </a:rPr>
              <a:t> Cohérence</a:t>
            </a:r>
          </a:p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Vérification entre sources RH et Sport</a:t>
            </a:r>
          </a:p>
        </p:txBody>
      </p:sp>
    </p:spTree>
    <p:extLst>
      <p:ext uri="{BB962C8B-B14F-4D97-AF65-F5344CB8AC3E}">
        <p14:creationId xmlns:p14="http://schemas.microsoft.com/office/powerpoint/2010/main" val="1969890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38C8A-95EE-1E2C-6847-E6E3488D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04 · DÉVELOPPEMENT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Transformation des données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500" dirty="0">
                <a:solidFill>
                  <a:srgbClr val="CBD5E1"/>
                </a:solidFill>
              </a:rPr>
              <a:t>Les données brutes sont transformées en informations exploitables au travers de quatre étapes successives.</a:t>
            </a:r>
          </a:p>
        </p:txBody>
      </p:sp>
      <p:sp>
        <p:nvSpPr>
          <p:cNvPr id="210" name="Step_01"/>
          <p:cNvSpPr txBox="1"/>
          <p:nvPr/>
        </p:nvSpPr>
        <p:spPr>
          <a:xfrm>
            <a:off x="762000" y="2667000"/>
            <a:ext cx="249555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500" b="1" spc="200" dirty="0">
                <a:solidFill>
                  <a:srgbClr val="FFFFFF"/>
                </a:solidFill>
              </a:rPr>
              <a:t>FUSION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Croisement des fichiers RH et Sport pour obtenir une vue unifiée par salarié</a:t>
            </a:r>
          </a:p>
        </p:txBody>
      </p:sp>
      <p:sp>
        <p:nvSpPr>
          <p:cNvPr id="220" name="Arrow_0"/>
          <p:cNvSpPr/>
          <p:nvPr/>
        </p:nvSpPr>
        <p:spPr>
          <a:xfrm>
            <a:off x="3244850" y="4254500"/>
            <a:ext cx="254000" cy="2540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tep_02"/>
          <p:cNvSpPr txBox="1"/>
          <p:nvPr/>
        </p:nvSpPr>
        <p:spPr>
          <a:xfrm>
            <a:off x="3486150" y="2667000"/>
            <a:ext cx="249555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500" b="1" spc="200" dirty="0">
                <a:solidFill>
                  <a:srgbClr val="FFFFFF"/>
                </a:solidFill>
              </a:rPr>
              <a:t>NETTOYAGE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Formatage des champs, harmonisation des types et corrections</a:t>
            </a:r>
          </a:p>
        </p:txBody>
      </p:sp>
      <p:sp>
        <p:nvSpPr>
          <p:cNvPr id="221" name="Arrow_1"/>
          <p:cNvSpPr/>
          <p:nvPr/>
        </p:nvSpPr>
        <p:spPr>
          <a:xfrm>
            <a:off x="5969000" y="4254500"/>
            <a:ext cx="254000" cy="2540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Step_03"/>
          <p:cNvSpPr txBox="1"/>
          <p:nvPr/>
        </p:nvSpPr>
        <p:spPr>
          <a:xfrm>
            <a:off x="6210300" y="2667000"/>
            <a:ext cx="249555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500" b="1" spc="200" dirty="0">
                <a:solidFill>
                  <a:srgbClr val="FFFFFF"/>
                </a:solidFill>
              </a:rPr>
              <a:t>ENRICHISSEMENT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Création d'indicateurs sur la pratique sportive de chacun</a:t>
            </a:r>
          </a:p>
        </p:txBody>
      </p:sp>
      <p:sp>
        <p:nvSpPr>
          <p:cNvPr id="222" name="Arrow_2"/>
          <p:cNvSpPr/>
          <p:nvPr/>
        </p:nvSpPr>
        <p:spPr>
          <a:xfrm>
            <a:off x="8693150" y="4254500"/>
            <a:ext cx="254000" cy="2540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tep_04"/>
          <p:cNvSpPr txBox="1"/>
          <p:nvPr/>
        </p:nvSpPr>
        <p:spPr>
          <a:xfrm>
            <a:off x="8934450" y="2667000"/>
            <a:ext cx="249555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2DD4BF"/>
                </a:solidFill>
              </a:rPr>
              <a:t>04</a:t>
            </a:r>
          </a:p>
          <a:p>
            <a:pPr algn="l">
              <a:buNone/>
            </a:pPr>
            <a:r>
              <a:rPr lang="fr-FR" sz="1500" b="1" spc="200" dirty="0">
                <a:solidFill>
                  <a:srgbClr val="FFFFFF"/>
                </a:solidFill>
              </a:rPr>
              <a:t>PRÉPARATION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Données prêtes pour le calcul des avantages salariés</a:t>
            </a:r>
          </a:p>
        </p:txBody>
      </p:sp>
    </p:spTree>
    <p:extLst>
      <p:ext uri="{BB962C8B-B14F-4D97-AF65-F5344CB8AC3E}">
        <p14:creationId xmlns:p14="http://schemas.microsoft.com/office/powerpoint/2010/main" val="4187395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E0DF0-CB80-6EFC-E1E3-6B61E7D3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04 · DÉVELOPPEMENT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Calcul des avantages</a:t>
            </a:r>
          </a:p>
        </p:txBody>
      </p:sp>
      <p:sp>
        <p:nvSpPr>
          <p:cNvPr id="204" name="Bd"/>
          <p:cNvSpPr txBox="1"/>
          <p:nvPr/>
        </p:nvSpPr>
        <p:spPr>
          <a:xfrm>
            <a:off x="762000" y="2032000"/>
            <a:ext cx="6096000" cy="419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700" dirty="0">
                <a:solidFill>
                  <a:srgbClr val="FFFFFF"/>
                </a:solidFill>
              </a:rPr>
              <a:t>Application automatique des règles métier par salarié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700" dirty="0">
                <a:solidFill>
                  <a:srgbClr val="FFFFFF"/>
                </a:solidFill>
              </a:rPr>
              <a:t>Calcul des jours de congés bien-être éligibles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700" dirty="0">
                <a:solidFill>
                  <a:srgbClr val="FFFFFF"/>
                </a:solidFill>
              </a:rPr>
              <a:t>Enregistrement direct dans PostgreSQL pour reporting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700" dirty="0">
                <a:solidFill>
                  <a:srgbClr val="FFFFFF"/>
                </a:solidFill>
              </a:rPr>
              <a:t>Aucune intervention manuelle requise</a:t>
            </a:r>
          </a:p>
        </p:txBody>
      </p:sp>
      <p:sp>
        <p:nvSpPr>
          <p:cNvPr id="210" name="Stat"/>
          <p:cNvSpPr txBox="1"/>
          <p:nvPr/>
        </p:nvSpPr>
        <p:spPr>
          <a:xfrm>
            <a:off x="7239000" y="2222500"/>
            <a:ext cx="4191000" cy="3048000"/>
          </a:xfrm>
          <a:prstGeom prst="roundRect">
            <a:avLst>
              <a:gd name="adj" fmla="val 80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</a:ln>
        </p:spPr>
        <p:txBody>
          <a:bodyPr wrap="square" lIns="100000" tIns="120000" rIns="100000" bIns="120000" anchor="ctr">
            <a:noAutofit/>
          </a:bodyPr>
          <a:lstStyle/>
          <a:p>
            <a:pPr algn="ctr">
              <a:buNone/>
            </a:pPr>
            <a:r>
              <a:rPr lang="fr-FR" sz="4400" b="1" dirty="0">
                <a:solidFill>
                  <a:srgbClr val="2DD4BF"/>
                </a:solidFill>
              </a:rPr>
              <a:t>5%</a:t>
            </a:r>
          </a:p>
          <a:p>
            <a:pPr algn="ctr">
              <a:buNone/>
            </a:pPr>
            <a:r>
              <a:rPr lang="fr-FR" sz="1500" b="1" dirty="0">
                <a:solidFill>
                  <a:srgbClr val="FFFFFF"/>
                </a:solidFill>
              </a:rPr>
              <a:t>du salaire annuel — prime sportive</a:t>
            </a:r>
          </a:p>
        </p:txBody>
      </p:sp>
    </p:spTree>
    <p:extLst>
      <p:ext uri="{BB962C8B-B14F-4D97-AF65-F5344CB8AC3E}">
        <p14:creationId xmlns:p14="http://schemas.microsoft.com/office/powerpoint/2010/main" val="1363698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22670-A92E-00C5-191B-39AB1E6B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81CCA43-A871-60E5-64CA-B72350F35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240" y="169436"/>
            <a:ext cx="2681085" cy="6505684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05 · ORCHESTRATION KESTRA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8255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Workflow YAML</a:t>
            </a:r>
          </a:p>
        </p:txBody>
      </p:sp>
      <p:sp>
        <p:nvSpPr>
          <p:cNvPr id="210" name="Feat_0"/>
          <p:cNvSpPr txBox="1"/>
          <p:nvPr/>
        </p:nvSpPr>
        <p:spPr>
          <a:xfrm>
            <a:off x="762000" y="2032000"/>
            <a:ext cx="8255000" cy="1397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{}</a:t>
            </a:r>
          </a:p>
          <a:p>
            <a:pPr algn="l">
              <a:buNone/>
            </a:pPr>
            <a:r>
              <a:rPr lang="fr-FR" sz="1400" b="1" spc="200" dirty="0">
                <a:solidFill>
                  <a:srgbClr val="FFFFFF"/>
                </a:solidFill>
              </a:rPr>
              <a:t>DÉCLARATIF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Workflow Kestra défini en YAML, lisible et versionnable</a:t>
            </a:r>
          </a:p>
        </p:txBody>
      </p:sp>
      <p:sp>
        <p:nvSpPr>
          <p:cNvPr id="211" name="Feat_1"/>
          <p:cNvSpPr txBox="1"/>
          <p:nvPr/>
        </p:nvSpPr>
        <p:spPr>
          <a:xfrm>
            <a:off x="762000" y="3606800"/>
            <a:ext cx="8255000" cy="1397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↻</a:t>
            </a:r>
          </a:p>
          <a:p>
            <a:pPr algn="l">
              <a:buNone/>
            </a:pPr>
            <a:r>
              <a:rPr lang="fr-FR" sz="1400" b="1" spc="200" dirty="0">
                <a:solidFill>
                  <a:srgbClr val="FFFFFF"/>
                </a:solidFill>
              </a:rPr>
              <a:t>ORCHESTRÉ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Enchaîne ingestion, contrôles qualité, transformation et notifications</a:t>
            </a:r>
          </a:p>
        </p:txBody>
      </p:sp>
      <p:sp>
        <p:nvSpPr>
          <p:cNvPr id="212" name="Feat_2"/>
          <p:cNvSpPr txBox="1"/>
          <p:nvPr/>
        </p:nvSpPr>
        <p:spPr>
          <a:xfrm>
            <a:off x="762000" y="5181600"/>
            <a:ext cx="8255000" cy="1397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40000" rIns="180000" bIns="140000" anchor="ctr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✓</a:t>
            </a:r>
          </a:p>
          <a:p>
            <a:pPr algn="l">
              <a:buNone/>
            </a:pPr>
            <a:r>
              <a:rPr lang="fr-FR" sz="1400" b="1" spc="200" dirty="0">
                <a:solidFill>
                  <a:srgbClr val="FFFFFF"/>
                </a:solidFill>
              </a:rPr>
              <a:t>MAINTENABLE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Pipeline modifiable rapidement sans toucher au code métier</a:t>
            </a:r>
          </a:p>
        </p:txBody>
      </p:sp>
    </p:spTree>
    <p:extLst>
      <p:ext uri="{BB962C8B-B14F-4D97-AF65-F5344CB8AC3E}">
        <p14:creationId xmlns:p14="http://schemas.microsoft.com/office/powerpoint/2010/main" val="2689998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49E22-C3A1-B805-D24E-C7D8E5BF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BDFEA84-FBB0-13DC-35FE-6FBB5C555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0" y="4669929"/>
            <a:ext cx="7269480" cy="1787053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05 · ORCHESTRATION KESTRA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668000" cy="101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200" b="1" dirty="0">
                <a:solidFill>
                  <a:srgbClr val="FFFFFF"/>
                </a:solidFill>
              </a:rPr>
              <a:t>Déclenchement automatique mensuel</a:t>
            </a:r>
          </a:p>
        </p:txBody>
      </p:sp>
      <p:sp>
        <p:nvSpPr>
          <p:cNvPr id="210" name="Step_01"/>
          <p:cNvSpPr txBox="1"/>
          <p:nvPr/>
        </p:nvSpPr>
        <p:spPr>
          <a:xfrm>
            <a:off x="762000" y="1905000"/>
            <a:ext cx="2533650" cy="24765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Auto chaque mois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Pipeline lancé sans intervention humaine</a:t>
            </a:r>
          </a:p>
        </p:txBody>
      </p:sp>
      <p:sp>
        <p:nvSpPr>
          <p:cNvPr id="211" name="Step_02"/>
          <p:cNvSpPr txBox="1"/>
          <p:nvPr/>
        </p:nvSpPr>
        <p:spPr>
          <a:xfrm>
            <a:off x="3473450" y="1905000"/>
            <a:ext cx="2533650" cy="24765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Sans manuel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Aucune relance, aucune supervision continue</a:t>
            </a:r>
          </a:p>
        </p:txBody>
      </p:sp>
      <p:sp>
        <p:nvSpPr>
          <p:cNvPr id="212" name="Step_03"/>
          <p:cNvSpPr txBox="1"/>
          <p:nvPr/>
        </p:nvSpPr>
        <p:spPr>
          <a:xfrm>
            <a:off x="6184900" y="1905000"/>
            <a:ext cx="2533650" cy="24765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Reproductible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Mêmes règles, mêmes contrôles à chaque run</a:t>
            </a:r>
          </a:p>
        </p:txBody>
      </p:sp>
      <p:sp>
        <p:nvSpPr>
          <p:cNvPr id="213" name="Step_04"/>
          <p:cNvSpPr txBox="1"/>
          <p:nvPr/>
        </p:nvSpPr>
        <p:spPr>
          <a:xfrm>
            <a:off x="8896350" y="1905000"/>
            <a:ext cx="2533650" cy="2476500"/>
          </a:xfrm>
          <a:prstGeom prst="roundRect">
            <a:avLst>
              <a:gd name="adj" fmla="val 6000"/>
            </a:avLst>
          </a:prstGeom>
          <a:solidFill>
            <a:srgbClr val="0B1F33">
              <a:alpha val="85000"/>
            </a:srgbClr>
          </a:solidFill>
          <a:ln w="9525">
            <a:solidFill>
              <a:srgbClr val="2DD4BF">
                <a:alpha val="55000"/>
              </a:srgbClr>
            </a:solidFill>
          </a:ln>
        </p:spPr>
        <p:txBody>
          <a:bodyPr wrap="square" lIns="160000" tIns="140000" rIns="160000" bIns="140000" anchor="t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04</a:t>
            </a:r>
          </a:p>
          <a:p>
            <a:pPr algn="l">
              <a:buNone/>
            </a:pPr>
            <a:r>
              <a:rPr lang="fr-FR" sz="1600" b="1" dirty="0">
                <a:solidFill>
                  <a:srgbClr val="FFFFFF"/>
                </a:solidFill>
              </a:rPr>
              <a:t>Suivi continu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Avantages salariés actualisés en permanence</a:t>
            </a:r>
          </a:p>
        </p:txBody>
      </p:sp>
    </p:spTree>
    <p:extLst>
      <p:ext uri="{BB962C8B-B14F-4D97-AF65-F5344CB8AC3E}">
        <p14:creationId xmlns:p14="http://schemas.microsoft.com/office/powerpoint/2010/main" val="3220667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23102-7542-7144-F2B5-DAA325D2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05 · ORCHESTRATION KESTRA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Suivi de l'exécution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500" dirty="0">
                <a:solidFill>
                  <a:srgbClr val="CBD5E1"/>
                </a:solidFill>
              </a:rPr>
              <a:t>Kestra suit l'avancement du pipeline étape par étape : statut, durée et traçabilité de chaque tâche.</a:t>
            </a:r>
          </a:p>
        </p:txBody>
      </p:sp>
      <p:sp>
        <p:nvSpPr>
          <p:cNvPr id="210" name="Stat_0"/>
          <p:cNvSpPr txBox="1"/>
          <p:nvPr/>
        </p:nvSpPr>
        <p:spPr>
          <a:xfrm>
            <a:off x="762000" y="2730500"/>
            <a:ext cx="3386667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/>
            </a:solidFill>
          </a:ln>
        </p:spPr>
        <p:txBody>
          <a:bodyPr wrap="square" lIns="200000" tIns="180000" rIns="200000" bIns="180000" anchor="ctr">
            <a:noAutofit/>
          </a:bodyPr>
          <a:lstStyle/>
          <a:p>
            <a:pPr algn="ctr">
              <a:buNone/>
            </a:pPr>
            <a:r>
              <a:rPr lang="fr-FR" sz="4400" b="1" dirty="0">
                <a:solidFill>
                  <a:srgbClr val="2DD4BF"/>
                </a:solidFill>
              </a:rPr>
              <a:t>✓</a:t>
            </a:r>
          </a:p>
          <a:p>
            <a:pPr algn="ctr">
              <a:buNone/>
            </a:pPr>
            <a:r>
              <a:rPr lang="fr-FR" sz="1600" b="1" spc="200" dirty="0">
                <a:solidFill>
                  <a:srgbClr val="FFFFFF"/>
                </a:solidFill>
              </a:rPr>
              <a:t>RÉUSSITE</a:t>
            </a:r>
          </a:p>
          <a:p>
            <a:pPr algn="ctr">
              <a:buNone/>
            </a:pPr>
            <a:r>
              <a:rPr lang="fr-FR" sz="1300" dirty="0">
                <a:solidFill>
                  <a:srgbClr val="CBD5E1"/>
                </a:solidFill>
              </a:rPr>
              <a:t>Tâche exécutée avec succès</a:t>
            </a:r>
          </a:p>
        </p:txBody>
      </p:sp>
      <p:sp>
        <p:nvSpPr>
          <p:cNvPr id="211" name="Stat_1"/>
          <p:cNvSpPr txBox="1"/>
          <p:nvPr/>
        </p:nvSpPr>
        <p:spPr>
          <a:xfrm>
            <a:off x="4402667" y="2730500"/>
            <a:ext cx="3386667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C107"/>
            </a:solidFill>
          </a:ln>
        </p:spPr>
        <p:txBody>
          <a:bodyPr wrap="square" lIns="200000" tIns="180000" rIns="200000" bIns="180000" anchor="ctr">
            <a:noAutofit/>
          </a:bodyPr>
          <a:lstStyle/>
          <a:p>
            <a:pPr algn="ctr">
              <a:buNone/>
            </a:pPr>
            <a:r>
              <a:rPr lang="fr-FR" sz="4400" b="1" dirty="0">
                <a:solidFill>
                  <a:srgbClr val="FFC107"/>
                </a:solidFill>
              </a:rPr>
              <a:t>⟳</a:t>
            </a:r>
          </a:p>
          <a:p>
            <a:pPr algn="ctr">
              <a:buNone/>
            </a:pPr>
            <a:r>
              <a:rPr lang="fr-FR" sz="1600" b="1" spc="200" dirty="0">
                <a:solidFill>
                  <a:srgbClr val="FFFFFF"/>
                </a:solidFill>
              </a:rPr>
              <a:t>EN COURS</a:t>
            </a:r>
          </a:p>
          <a:p>
            <a:pPr algn="ctr">
              <a:buNone/>
            </a:pPr>
            <a:r>
              <a:rPr lang="fr-FR" sz="1300" dirty="0">
                <a:solidFill>
                  <a:srgbClr val="CBD5E1"/>
                </a:solidFill>
              </a:rPr>
              <a:t>Traitement en exécution</a:t>
            </a:r>
          </a:p>
        </p:txBody>
      </p:sp>
      <p:sp>
        <p:nvSpPr>
          <p:cNvPr id="212" name="Stat_2"/>
          <p:cNvSpPr txBox="1"/>
          <p:nvPr/>
        </p:nvSpPr>
        <p:spPr>
          <a:xfrm>
            <a:off x="8043333" y="2730500"/>
            <a:ext cx="3386667" cy="2921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87171"/>
            </a:solidFill>
          </a:ln>
        </p:spPr>
        <p:txBody>
          <a:bodyPr wrap="square" lIns="200000" tIns="180000" rIns="200000" bIns="180000" anchor="ctr">
            <a:noAutofit/>
          </a:bodyPr>
          <a:lstStyle/>
          <a:p>
            <a:pPr algn="ctr">
              <a:buNone/>
            </a:pPr>
            <a:r>
              <a:rPr lang="fr-FR" sz="4400" b="1" dirty="0">
                <a:solidFill>
                  <a:srgbClr val="F87171"/>
                </a:solidFill>
              </a:rPr>
              <a:t>✕</a:t>
            </a:r>
          </a:p>
          <a:p>
            <a:pPr algn="ctr">
              <a:buNone/>
            </a:pPr>
            <a:r>
              <a:rPr lang="fr-FR" sz="1600" b="1" spc="200" dirty="0">
                <a:solidFill>
                  <a:srgbClr val="FFFFFF"/>
                </a:solidFill>
              </a:rPr>
              <a:t>ERREUR</a:t>
            </a:r>
          </a:p>
          <a:p>
            <a:pPr algn="ctr">
              <a:buNone/>
            </a:pPr>
            <a:r>
              <a:rPr lang="fr-FR" sz="1300" dirty="0">
                <a:solidFill>
                  <a:srgbClr val="CBD5E1"/>
                </a:solidFill>
              </a:rPr>
              <a:t>Échec identifié et tracé</a:t>
            </a:r>
          </a:p>
        </p:txBody>
      </p:sp>
      <p:sp>
        <p:nvSpPr>
          <p:cNvPr id="220" name="Foot"/>
          <p:cNvSpPr txBox="1"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300" dirty="0">
                <a:solidFill>
                  <a:srgbClr val="94A3B8"/>
                </a:solidFill>
              </a:rPr>
              <a:t>Diagramme de Gantt intégré pour visualiser durée et ordre des traitements.</a:t>
            </a:r>
          </a:p>
        </p:txBody>
      </p:sp>
    </p:spTree>
    <p:extLst>
      <p:ext uri="{BB962C8B-B14F-4D97-AF65-F5344CB8AC3E}">
        <p14:creationId xmlns:p14="http://schemas.microsoft.com/office/powerpoint/2010/main" val="343481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9215A-AF3A-0906-78DA-9F09D338B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58B30B3-777E-12DE-3676-ACA99E6B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720" y="428118"/>
            <a:ext cx="3718560" cy="5860921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06 · RESTITUTION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7112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Notification Slack</a:t>
            </a:r>
          </a:p>
        </p:txBody>
      </p:sp>
      <p:sp>
        <p:nvSpPr>
          <p:cNvPr id="210" name="Step_0"/>
          <p:cNvSpPr txBox="1"/>
          <p:nvPr/>
        </p:nvSpPr>
        <p:spPr>
          <a:xfrm>
            <a:off x="762000" y="1905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60000" tIns="120000" rIns="160000" bIns="120000" anchor="ctr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Fin du pipeline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Le traitement mensuel se termine avec succès dans Kestra</a:t>
            </a:r>
          </a:p>
        </p:txBody>
      </p:sp>
      <p:sp>
        <p:nvSpPr>
          <p:cNvPr id="220" name="Arr_0"/>
          <p:cNvSpPr/>
          <p:nvPr/>
        </p:nvSpPr>
        <p:spPr>
          <a:xfrm>
            <a:off x="4216400" y="3225800"/>
            <a:ext cx="203200" cy="177800"/>
          </a:xfrm>
          <a:prstGeom prst="downArrow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tep_1"/>
          <p:cNvSpPr txBox="1"/>
          <p:nvPr/>
        </p:nvSpPr>
        <p:spPr>
          <a:xfrm>
            <a:off x="762000" y="36576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60000" tIns="120000" rIns="160000" bIns="120000" anchor="ctr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Notification Slack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Un message automatique récapitule les résultats clés</a:t>
            </a:r>
          </a:p>
        </p:txBody>
      </p:sp>
      <p:sp>
        <p:nvSpPr>
          <p:cNvPr id="221" name="Arr_1"/>
          <p:cNvSpPr/>
          <p:nvPr/>
        </p:nvSpPr>
        <p:spPr>
          <a:xfrm>
            <a:off x="4216400" y="4978400"/>
            <a:ext cx="203200" cy="177800"/>
          </a:xfrm>
          <a:prstGeom prst="downArrow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Step_2"/>
          <p:cNvSpPr txBox="1"/>
          <p:nvPr/>
        </p:nvSpPr>
        <p:spPr>
          <a:xfrm>
            <a:off x="762000" y="54102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60000" tIns="120000" rIns="160000" bIns="120000" anchor="ctr">
            <a:noAutofit/>
          </a:bodyPr>
          <a:lstStyle/>
          <a:p>
            <a:pPr algn="l">
              <a:buNone/>
            </a:pPr>
            <a:r>
              <a:rPr lang="fr-FR" sz="12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700" b="1" dirty="0">
                <a:solidFill>
                  <a:srgbClr val="FFFFFF"/>
                </a:solidFill>
              </a:rPr>
              <a:t>Équipes informées</a:t>
            </a:r>
          </a:p>
          <a:p>
            <a:pPr algn="l">
              <a:buNone/>
            </a:pPr>
            <a:r>
              <a:rPr lang="fr-FR" sz="1300" dirty="0">
                <a:solidFill>
                  <a:srgbClr val="CBD5E1"/>
                </a:solidFill>
              </a:rPr>
              <a:t>RH et métiers reçoivent l'info sans intervention manuelle</a:t>
            </a:r>
          </a:p>
        </p:txBody>
      </p:sp>
    </p:spTree>
    <p:extLst>
      <p:ext uri="{BB962C8B-B14F-4D97-AF65-F5344CB8AC3E}">
        <p14:creationId xmlns:p14="http://schemas.microsoft.com/office/powerpoint/2010/main" val="2911698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CF5BF-61B1-7841-5537-8C24C676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BD6ED1A-1F04-F528-EEEC-4228CB162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810" y="575826"/>
            <a:ext cx="3670300" cy="1701800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06 · RESTITUTION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7366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Base PostgreSQL finale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2540000"/>
            <a:ext cx="10668000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500" dirty="0">
                <a:solidFill>
                  <a:srgbClr val="CBD5E1"/>
                </a:solidFill>
              </a:rPr>
              <a:t>Les résultats du pipeline sont enregistrés dans une table dédiée, source unique pour analyses et reporting.</a:t>
            </a:r>
          </a:p>
        </p:txBody>
      </p:sp>
      <p:sp>
        <p:nvSpPr>
          <p:cNvPr id="210" name="C_01"/>
          <p:cNvSpPr txBox="1"/>
          <p:nvPr/>
        </p:nvSpPr>
        <p:spPr>
          <a:xfrm>
            <a:off x="762000" y="3429000"/>
            <a:ext cx="5219700" cy="1460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TABLE DÉDIÉE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Centralise salariés et avantages calculés</a:t>
            </a:r>
          </a:p>
        </p:txBody>
      </p:sp>
      <p:sp>
        <p:nvSpPr>
          <p:cNvPr id="211" name="C_02"/>
          <p:cNvSpPr txBox="1"/>
          <p:nvPr/>
        </p:nvSpPr>
        <p:spPr>
          <a:xfrm>
            <a:off x="6210300" y="3429000"/>
            <a:ext cx="5219700" cy="1460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STRUCTURÉ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Données prêtes pour exploitation et requêtes SQL</a:t>
            </a:r>
          </a:p>
        </p:txBody>
      </p:sp>
      <p:sp>
        <p:nvSpPr>
          <p:cNvPr id="212" name="C_03"/>
          <p:cNvSpPr txBox="1"/>
          <p:nvPr/>
        </p:nvSpPr>
        <p:spPr>
          <a:xfrm>
            <a:off x="762000" y="5118100"/>
            <a:ext cx="5219700" cy="1460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PÉRENNE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Conservation longue durée et disponibilité continue</a:t>
            </a:r>
          </a:p>
        </p:txBody>
      </p:sp>
      <p:sp>
        <p:nvSpPr>
          <p:cNvPr id="213" name="C_04"/>
          <p:cNvSpPr txBox="1"/>
          <p:nvPr/>
        </p:nvSpPr>
        <p:spPr>
          <a:xfrm>
            <a:off x="6210300" y="5118100"/>
            <a:ext cx="5219700" cy="1460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04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SOURCE UNIQUE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Référence pour analyses et reporting Power BI</a:t>
            </a:r>
          </a:p>
        </p:txBody>
      </p:sp>
    </p:spTree>
    <p:extLst>
      <p:ext uri="{BB962C8B-B14F-4D97-AF65-F5344CB8AC3E}">
        <p14:creationId xmlns:p14="http://schemas.microsoft.com/office/powerpoint/2010/main" val="140046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45E3D-CBC6-F0E9-3AC4-6FF1A0F7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554DF4D1-5ED3-1359-FDC2-D8AFEED7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40" y="575826"/>
            <a:ext cx="5357836" cy="3213854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06 · RESTITUTION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5715000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200" b="1" dirty="0">
                <a:solidFill>
                  <a:srgbClr val="FFFFFF"/>
                </a:solidFill>
              </a:rPr>
              <a:t>Visualisation Power BI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498600"/>
            <a:ext cx="5715000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400" dirty="0">
                <a:solidFill>
                  <a:srgbClr val="CBD5E1"/>
                </a:solidFill>
              </a:rPr>
              <a:t>PostgreSQL alimente des tableaux de bord pour l'analyse RH.</a:t>
            </a:r>
          </a:p>
        </p:txBody>
      </p:sp>
      <p:sp>
        <p:nvSpPr>
          <p:cNvPr id="210" name="C_01"/>
          <p:cNvSpPr txBox="1"/>
          <p:nvPr/>
        </p:nvSpPr>
        <p:spPr>
          <a:xfrm>
            <a:off x="762000" y="4064000"/>
            <a:ext cx="3403600" cy="2222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TABLEAUX DE BORD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Indicateurs clés du programme bien-être</a:t>
            </a:r>
          </a:p>
        </p:txBody>
      </p:sp>
      <p:sp>
        <p:nvSpPr>
          <p:cNvPr id="211" name="C_02"/>
          <p:cNvSpPr txBox="1"/>
          <p:nvPr/>
        </p:nvSpPr>
        <p:spPr>
          <a:xfrm>
            <a:off x="4394200" y="4064000"/>
            <a:ext cx="3403600" cy="2222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ANALYSES MULTI-AXES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Par département, activité et type d'avantage</a:t>
            </a:r>
          </a:p>
        </p:txBody>
      </p:sp>
      <p:sp>
        <p:nvSpPr>
          <p:cNvPr id="212" name="C_03"/>
          <p:cNvSpPr txBox="1"/>
          <p:nvPr/>
        </p:nvSpPr>
        <p:spPr>
          <a:xfrm>
            <a:off x="8026400" y="4064000"/>
            <a:ext cx="3403600" cy="2222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80000" rIns="180000" bIns="18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AIDE À LA DÉCISION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Données transformées en informations exploitables</a:t>
            </a:r>
          </a:p>
        </p:txBody>
      </p:sp>
    </p:spTree>
    <p:extLst>
      <p:ext uri="{BB962C8B-B14F-4D97-AF65-F5344CB8AC3E}">
        <p14:creationId xmlns:p14="http://schemas.microsoft.com/office/powerpoint/2010/main" val="3740289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9B34C-00D7-D26A-3ACC-9521F541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07 · RÉSULTATS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Employés éligibles aux primes</a:t>
            </a:r>
          </a:p>
        </p:txBody>
      </p:sp>
      <p:sp>
        <p:nvSpPr>
          <p:cNvPr id="210" name="Stat1"/>
          <p:cNvSpPr txBox="1"/>
          <p:nvPr/>
        </p:nvSpPr>
        <p:spPr>
          <a:xfrm>
            <a:off x="762000" y="2032000"/>
            <a:ext cx="5207000" cy="2794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ctr">
            <a:noAutofit/>
          </a:bodyPr>
          <a:lstStyle/>
          <a:p>
            <a:pPr algn="ctr">
              <a:buNone/>
            </a:pPr>
            <a:r>
              <a:rPr lang="fr-FR" sz="7200" b="1" dirty="0">
                <a:solidFill>
                  <a:srgbClr val="2DD4BF"/>
                </a:solidFill>
              </a:rPr>
              <a:t>161</a:t>
            </a:r>
          </a:p>
          <a:p>
            <a:pPr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salariés analysés</a:t>
            </a:r>
          </a:p>
        </p:txBody>
      </p:sp>
      <p:sp>
        <p:nvSpPr>
          <p:cNvPr id="211" name="Stat2"/>
          <p:cNvSpPr txBox="1"/>
          <p:nvPr/>
        </p:nvSpPr>
        <p:spPr>
          <a:xfrm>
            <a:off x="6223000" y="2032000"/>
            <a:ext cx="5207000" cy="2794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ctr">
            <a:noAutofit/>
          </a:bodyPr>
          <a:lstStyle/>
          <a:p>
            <a:pPr algn="ctr">
              <a:buNone/>
            </a:pPr>
            <a:r>
              <a:rPr lang="fr-FR" sz="7200" b="1" dirty="0">
                <a:solidFill>
                  <a:srgbClr val="2DD4BF"/>
                </a:solidFill>
              </a:rPr>
              <a:t>95</a:t>
            </a:r>
          </a:p>
          <a:p>
            <a:pPr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éligibles à la prime sportive</a:t>
            </a:r>
          </a:p>
        </p:txBody>
      </p:sp>
      <p:sp>
        <p:nvSpPr>
          <p:cNvPr id="204" name="Bd"/>
          <p:cNvSpPr txBox="1"/>
          <p:nvPr/>
        </p:nvSpPr>
        <p:spPr>
          <a:xfrm>
            <a:off x="762000" y="5080000"/>
            <a:ext cx="10668000" cy="152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600" dirty="0">
                <a:solidFill>
                  <a:srgbClr val="FFFFFF"/>
                </a:solidFill>
              </a:rPr>
              <a:t>Critères appliqués automatiquement à chaque exécution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600" dirty="0">
                <a:solidFill>
                  <a:srgbClr val="FFFFFF"/>
                </a:solidFill>
              </a:rPr>
              <a:t>Résultats stockés dans PostgreSQL et Power BI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600" dirty="0">
                <a:solidFill>
                  <a:srgbClr val="FFFFFF"/>
                </a:solidFill>
              </a:rPr>
              <a:t>Traitement homogène pour tous les salariés</a:t>
            </a:r>
          </a:p>
        </p:txBody>
      </p:sp>
    </p:spTree>
    <p:extLst>
      <p:ext uri="{BB962C8B-B14F-4D97-AF65-F5344CB8AC3E}">
        <p14:creationId xmlns:p14="http://schemas.microsoft.com/office/powerpoint/2010/main" val="1639123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C334F-7074-AF2A-E5CC-332975C3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07 · RÉSULTATS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Coût total des avantages</a:t>
            </a:r>
          </a:p>
        </p:txBody>
      </p:sp>
      <p:sp>
        <p:nvSpPr>
          <p:cNvPr id="210" name="Stat1"/>
          <p:cNvSpPr txBox="1"/>
          <p:nvPr/>
        </p:nvSpPr>
        <p:spPr>
          <a:xfrm>
            <a:off x="762000" y="2032000"/>
            <a:ext cx="5207000" cy="2794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ctr">
            <a:noAutofit/>
          </a:bodyPr>
          <a:lstStyle/>
          <a:p>
            <a:pPr algn="ctr">
              <a:buNone/>
            </a:pPr>
            <a:r>
              <a:rPr lang="fr-FR" sz="6400" b="1" dirty="0">
                <a:solidFill>
                  <a:srgbClr val="2DD4BF"/>
                </a:solidFill>
              </a:rPr>
              <a:t>239 076 €</a:t>
            </a:r>
          </a:p>
          <a:p>
            <a:pPr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montant total des primes</a:t>
            </a:r>
          </a:p>
        </p:txBody>
      </p:sp>
      <p:sp>
        <p:nvSpPr>
          <p:cNvPr id="211" name="Stat2"/>
          <p:cNvSpPr txBox="1"/>
          <p:nvPr/>
        </p:nvSpPr>
        <p:spPr>
          <a:xfrm>
            <a:off x="6223000" y="2032000"/>
            <a:ext cx="5207000" cy="27940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80000" rIns="180000" bIns="180000" anchor="ctr">
            <a:noAutofit/>
          </a:bodyPr>
          <a:lstStyle/>
          <a:p>
            <a:pPr algn="ctr">
              <a:buNone/>
            </a:pPr>
            <a:r>
              <a:rPr lang="fr-FR" sz="6400" b="1" dirty="0">
                <a:solidFill>
                  <a:srgbClr val="2DD4BF"/>
                </a:solidFill>
              </a:rPr>
              <a:t>50 430 €</a:t>
            </a:r>
          </a:p>
          <a:p>
            <a:pPr algn="ctr">
              <a:buNone/>
            </a:pPr>
            <a:r>
              <a:rPr lang="fr-FR" sz="1600" dirty="0">
                <a:solidFill>
                  <a:srgbClr val="FFFFFF"/>
                </a:solidFill>
              </a:rPr>
              <a:t>salaire moyen observé</a:t>
            </a:r>
          </a:p>
        </p:txBody>
      </p:sp>
      <p:sp>
        <p:nvSpPr>
          <p:cNvPr id="204" name="Bd"/>
          <p:cNvSpPr txBox="1"/>
          <p:nvPr/>
        </p:nvSpPr>
        <p:spPr>
          <a:xfrm>
            <a:off x="762000" y="5080000"/>
            <a:ext cx="10668000" cy="152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600" dirty="0">
                <a:solidFill>
                  <a:srgbClr val="FFFFFF"/>
                </a:solidFill>
              </a:rPr>
              <a:t>Calculs automatiques à partir des données RH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600" dirty="0">
                <a:solidFill>
                  <a:srgbClr val="FFFFFF"/>
                </a:solidFill>
              </a:rPr>
              <a:t>Coût global disponible immédiatement après le pipeline</a:t>
            </a:r>
          </a:p>
          <a:p>
            <a:pPr marL="285750" indent="-285750" algn="l">
              <a:lnSpc>
                <a:spcPct val="125000"/>
              </a:lnSpc>
              <a:spcBef>
                <a:spcPts val="500"/>
              </a:spcBef>
              <a:buClr>
                <a:srgbClr val="2DD4BF"/>
              </a:buClr>
              <a:buFont typeface="Arial"/>
              <a:buChar char="▸"/>
            </a:pPr>
            <a:r>
              <a:rPr lang="fr-FR" sz="1600" dirty="0">
                <a:solidFill>
                  <a:srgbClr val="FFFFFF"/>
                </a:solidFill>
              </a:rPr>
              <a:t>Indicateurs pour le suivi budgétaire</a:t>
            </a:r>
          </a:p>
        </p:txBody>
      </p:sp>
    </p:spTree>
    <p:extLst>
      <p:ext uri="{BB962C8B-B14F-4D97-AF65-F5344CB8AC3E}">
        <p14:creationId xmlns:p14="http://schemas.microsoft.com/office/powerpoint/2010/main" val="1837367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1D9C2-A3F6-F240-FF46-83996B6A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07 · RÉSULTATS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Répartition par sport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676400"/>
            <a:ext cx="10668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400" dirty="0">
                <a:solidFill>
                  <a:srgbClr val="94A3B8"/>
                </a:solidFill>
              </a:rPr>
              <a:t>Nombre de salariés par discipline sportive pratiquée</a:t>
            </a:r>
          </a:p>
        </p:txBody>
      </p:sp>
      <p:sp>
        <p:nvSpPr>
          <p:cNvPr id="210" name="L0"/>
          <p:cNvSpPr txBox="1"/>
          <p:nvPr/>
        </p:nvSpPr>
        <p:spPr>
          <a:xfrm>
            <a:off x="762000" y="22225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Running</a:t>
            </a:r>
          </a:p>
        </p:txBody>
      </p:sp>
      <p:sp>
        <p:nvSpPr>
          <p:cNvPr id="211" name="Tr0"/>
          <p:cNvSpPr/>
          <p:nvPr/>
        </p:nvSpPr>
        <p:spPr>
          <a:xfrm>
            <a:off x="2794000" y="22479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Fi0"/>
          <p:cNvSpPr/>
          <p:nvPr/>
        </p:nvSpPr>
        <p:spPr>
          <a:xfrm>
            <a:off x="2794000" y="22479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V0"/>
          <p:cNvSpPr txBox="1"/>
          <p:nvPr/>
        </p:nvSpPr>
        <p:spPr>
          <a:xfrm>
            <a:off x="10083800" y="22225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18</a:t>
            </a:r>
          </a:p>
        </p:txBody>
      </p:sp>
      <p:sp>
        <p:nvSpPr>
          <p:cNvPr id="214" name="L1"/>
          <p:cNvSpPr txBox="1"/>
          <p:nvPr/>
        </p:nvSpPr>
        <p:spPr>
          <a:xfrm>
            <a:off x="762000" y="26289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Randonnée</a:t>
            </a:r>
          </a:p>
        </p:txBody>
      </p:sp>
      <p:sp>
        <p:nvSpPr>
          <p:cNvPr id="215" name="Tr1"/>
          <p:cNvSpPr/>
          <p:nvPr/>
        </p:nvSpPr>
        <p:spPr>
          <a:xfrm>
            <a:off x="2794000" y="26543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Fi1"/>
          <p:cNvSpPr/>
          <p:nvPr/>
        </p:nvSpPr>
        <p:spPr>
          <a:xfrm>
            <a:off x="2794000" y="2654300"/>
            <a:ext cx="63246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V1"/>
          <p:cNvSpPr txBox="1"/>
          <p:nvPr/>
        </p:nvSpPr>
        <p:spPr>
          <a:xfrm>
            <a:off x="10083800" y="26289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16</a:t>
            </a:r>
          </a:p>
        </p:txBody>
      </p:sp>
      <p:sp>
        <p:nvSpPr>
          <p:cNvPr id="218" name="L2"/>
          <p:cNvSpPr txBox="1"/>
          <p:nvPr/>
        </p:nvSpPr>
        <p:spPr>
          <a:xfrm>
            <a:off x="762000" y="30353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Tennis</a:t>
            </a:r>
          </a:p>
        </p:txBody>
      </p:sp>
      <p:sp>
        <p:nvSpPr>
          <p:cNvPr id="219" name="Tr2"/>
          <p:cNvSpPr/>
          <p:nvPr/>
        </p:nvSpPr>
        <p:spPr>
          <a:xfrm>
            <a:off x="2794000" y="30607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Fi2"/>
          <p:cNvSpPr/>
          <p:nvPr/>
        </p:nvSpPr>
        <p:spPr>
          <a:xfrm>
            <a:off x="2794000" y="3060700"/>
            <a:ext cx="43434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V2"/>
          <p:cNvSpPr txBox="1"/>
          <p:nvPr/>
        </p:nvSpPr>
        <p:spPr>
          <a:xfrm>
            <a:off x="10083800" y="30353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11</a:t>
            </a:r>
          </a:p>
        </p:txBody>
      </p:sp>
      <p:sp>
        <p:nvSpPr>
          <p:cNvPr id="222" name="L3"/>
          <p:cNvSpPr txBox="1"/>
          <p:nvPr/>
        </p:nvSpPr>
        <p:spPr>
          <a:xfrm>
            <a:off x="762000" y="34417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Natation</a:t>
            </a:r>
          </a:p>
        </p:txBody>
      </p:sp>
      <p:sp>
        <p:nvSpPr>
          <p:cNvPr id="223" name="Tr3"/>
          <p:cNvSpPr/>
          <p:nvPr/>
        </p:nvSpPr>
        <p:spPr>
          <a:xfrm>
            <a:off x="2794000" y="34671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Fi3"/>
          <p:cNvSpPr/>
          <p:nvPr/>
        </p:nvSpPr>
        <p:spPr>
          <a:xfrm>
            <a:off x="2794000" y="3467100"/>
            <a:ext cx="31623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V3"/>
          <p:cNvSpPr txBox="1"/>
          <p:nvPr/>
        </p:nvSpPr>
        <p:spPr>
          <a:xfrm>
            <a:off x="10083800" y="34417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8</a:t>
            </a:r>
          </a:p>
        </p:txBody>
      </p:sp>
      <p:sp>
        <p:nvSpPr>
          <p:cNvPr id="226" name="L4"/>
          <p:cNvSpPr txBox="1"/>
          <p:nvPr/>
        </p:nvSpPr>
        <p:spPr>
          <a:xfrm>
            <a:off x="762000" y="38481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Football</a:t>
            </a:r>
          </a:p>
        </p:txBody>
      </p:sp>
      <p:sp>
        <p:nvSpPr>
          <p:cNvPr id="227" name="Tr4"/>
          <p:cNvSpPr/>
          <p:nvPr/>
        </p:nvSpPr>
        <p:spPr>
          <a:xfrm>
            <a:off x="2794000" y="38735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Fi4"/>
          <p:cNvSpPr/>
          <p:nvPr/>
        </p:nvSpPr>
        <p:spPr>
          <a:xfrm>
            <a:off x="2794000" y="3873500"/>
            <a:ext cx="23749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V4"/>
          <p:cNvSpPr txBox="1"/>
          <p:nvPr/>
        </p:nvSpPr>
        <p:spPr>
          <a:xfrm>
            <a:off x="10083800" y="38481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6</a:t>
            </a:r>
          </a:p>
        </p:txBody>
      </p:sp>
      <p:sp>
        <p:nvSpPr>
          <p:cNvPr id="230" name="L5"/>
          <p:cNvSpPr txBox="1"/>
          <p:nvPr/>
        </p:nvSpPr>
        <p:spPr>
          <a:xfrm>
            <a:off x="762000" y="42545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Rugby</a:t>
            </a:r>
          </a:p>
        </p:txBody>
      </p:sp>
      <p:sp>
        <p:nvSpPr>
          <p:cNvPr id="231" name="Tr5"/>
          <p:cNvSpPr/>
          <p:nvPr/>
        </p:nvSpPr>
        <p:spPr>
          <a:xfrm>
            <a:off x="2794000" y="42799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Fi5"/>
          <p:cNvSpPr/>
          <p:nvPr/>
        </p:nvSpPr>
        <p:spPr>
          <a:xfrm>
            <a:off x="2794000" y="4279900"/>
            <a:ext cx="23749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V5"/>
          <p:cNvSpPr txBox="1"/>
          <p:nvPr/>
        </p:nvSpPr>
        <p:spPr>
          <a:xfrm>
            <a:off x="10083800" y="42545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6</a:t>
            </a:r>
          </a:p>
        </p:txBody>
      </p:sp>
      <p:sp>
        <p:nvSpPr>
          <p:cNvPr id="234" name="L6"/>
          <p:cNvSpPr txBox="1"/>
          <p:nvPr/>
        </p:nvSpPr>
        <p:spPr>
          <a:xfrm>
            <a:off x="762000" y="4660900"/>
            <a:ext cx="1905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FFFFFF"/>
                </a:solidFill>
              </a:rPr>
              <a:t>Badminton</a:t>
            </a:r>
          </a:p>
        </p:txBody>
      </p:sp>
      <p:sp>
        <p:nvSpPr>
          <p:cNvPr id="235" name="Tr6"/>
          <p:cNvSpPr/>
          <p:nvPr/>
        </p:nvSpPr>
        <p:spPr>
          <a:xfrm>
            <a:off x="2794000" y="4686300"/>
            <a:ext cx="7112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Fi6"/>
          <p:cNvSpPr/>
          <p:nvPr/>
        </p:nvSpPr>
        <p:spPr>
          <a:xfrm>
            <a:off x="2794000" y="4686300"/>
            <a:ext cx="198120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V6"/>
          <p:cNvSpPr txBox="1"/>
          <p:nvPr/>
        </p:nvSpPr>
        <p:spPr>
          <a:xfrm>
            <a:off x="10083800" y="4660900"/>
            <a:ext cx="1016000" cy="355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1" dirty="0">
                <a:solidFill>
                  <a:srgbClr val="2DD4BF"/>
                </a:solidFill>
              </a:rPr>
              <a:t>5</a:t>
            </a:r>
          </a:p>
        </p:txBody>
      </p:sp>
      <p:sp>
        <p:nvSpPr>
          <p:cNvPr id="280" name="InsightBox"/>
          <p:cNvSpPr/>
          <p:nvPr/>
        </p:nvSpPr>
        <p:spPr>
          <a:xfrm>
            <a:off x="762000" y="5143500"/>
            <a:ext cx="10668000" cy="114300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1" name="InsightTxt"/>
          <p:cNvSpPr txBox="1"/>
          <p:nvPr/>
        </p:nvSpPr>
        <p:spPr>
          <a:xfrm>
            <a:off x="1066800" y="5372100"/>
            <a:ext cx="10160000" cy="762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F59E0B"/>
                </a:solidFill>
              </a:rPr>
              <a:t>OPPORTUNITÉ D'ENGAGEMENT</a:t>
            </a:r>
          </a:p>
          <a:p>
            <a:pPr algn="l">
              <a:buNone/>
            </a:pPr>
            <a:r>
              <a:rPr lang="fr-FR" sz="1500" dirty="0">
                <a:solidFill>
                  <a:srgbClr val="FFFFFF"/>
                </a:solidFill>
              </a:rPr>
              <a:t>≈ 70 salariés n'ont aucun sport renseigné — un levier majeur pour le programme bien-être.</a:t>
            </a:r>
          </a:p>
        </p:txBody>
      </p:sp>
    </p:spTree>
    <p:extLst>
      <p:ext uri="{BB962C8B-B14F-4D97-AF65-F5344CB8AC3E}">
        <p14:creationId xmlns:p14="http://schemas.microsoft.com/office/powerpoint/2010/main" val="510257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DA99C-A60D-CED9-5F28-9864C0F6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07 · RÉSULTATS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Analyse par département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676400"/>
            <a:ext cx="10668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400" dirty="0">
                <a:solidFill>
                  <a:srgbClr val="94A3B8"/>
                </a:solidFill>
              </a:rPr>
              <a:t>Somme des primes sportives versées par département</a:t>
            </a:r>
          </a:p>
        </p:txBody>
      </p:sp>
      <p:sp>
        <p:nvSpPr>
          <p:cNvPr id="210" name="L0"/>
          <p:cNvSpPr txBox="1"/>
          <p:nvPr/>
        </p:nvSpPr>
        <p:spPr>
          <a:xfrm>
            <a:off x="762000" y="2222500"/>
            <a:ext cx="1905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600" b="1" dirty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211" name="Tr0"/>
          <p:cNvSpPr/>
          <p:nvPr/>
        </p:nvSpPr>
        <p:spPr>
          <a:xfrm>
            <a:off x="2794000" y="2298700"/>
            <a:ext cx="7112000" cy="330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Fi0"/>
          <p:cNvSpPr/>
          <p:nvPr/>
        </p:nvSpPr>
        <p:spPr>
          <a:xfrm>
            <a:off x="2794000" y="2298700"/>
            <a:ext cx="7112000" cy="330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V0"/>
          <p:cNvSpPr txBox="1"/>
          <p:nvPr/>
        </p:nvSpPr>
        <p:spPr>
          <a:xfrm>
            <a:off x="10083800" y="2222500"/>
            <a:ext cx="1397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</a:rPr>
              <a:t>70 K€</a:t>
            </a:r>
          </a:p>
        </p:txBody>
      </p:sp>
      <p:sp>
        <p:nvSpPr>
          <p:cNvPr id="214" name="L1"/>
          <p:cNvSpPr txBox="1"/>
          <p:nvPr/>
        </p:nvSpPr>
        <p:spPr>
          <a:xfrm>
            <a:off x="762000" y="2806700"/>
            <a:ext cx="1905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600" b="1" dirty="0">
                <a:solidFill>
                  <a:srgbClr val="FFFFFF"/>
                </a:solidFill>
              </a:rPr>
              <a:t>Ventes</a:t>
            </a:r>
          </a:p>
        </p:txBody>
      </p:sp>
      <p:sp>
        <p:nvSpPr>
          <p:cNvPr id="215" name="Tr1"/>
          <p:cNvSpPr/>
          <p:nvPr/>
        </p:nvSpPr>
        <p:spPr>
          <a:xfrm>
            <a:off x="2794000" y="2882900"/>
            <a:ext cx="7112000" cy="330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Fi1"/>
          <p:cNvSpPr/>
          <p:nvPr/>
        </p:nvSpPr>
        <p:spPr>
          <a:xfrm>
            <a:off x="2794000" y="2882900"/>
            <a:ext cx="5080000" cy="330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V1"/>
          <p:cNvSpPr txBox="1"/>
          <p:nvPr/>
        </p:nvSpPr>
        <p:spPr>
          <a:xfrm>
            <a:off x="10083800" y="2806700"/>
            <a:ext cx="1397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</a:rPr>
              <a:t>50 K€</a:t>
            </a:r>
          </a:p>
        </p:txBody>
      </p:sp>
      <p:sp>
        <p:nvSpPr>
          <p:cNvPr id="218" name="L2"/>
          <p:cNvSpPr txBox="1"/>
          <p:nvPr/>
        </p:nvSpPr>
        <p:spPr>
          <a:xfrm>
            <a:off x="762000" y="3390900"/>
            <a:ext cx="1905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600" b="1" dirty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219" name="Tr2"/>
          <p:cNvSpPr/>
          <p:nvPr/>
        </p:nvSpPr>
        <p:spPr>
          <a:xfrm>
            <a:off x="2794000" y="3467100"/>
            <a:ext cx="7112000" cy="330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Fi2"/>
          <p:cNvSpPr/>
          <p:nvPr/>
        </p:nvSpPr>
        <p:spPr>
          <a:xfrm>
            <a:off x="2794000" y="3467100"/>
            <a:ext cx="4572000" cy="330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V2"/>
          <p:cNvSpPr txBox="1"/>
          <p:nvPr/>
        </p:nvSpPr>
        <p:spPr>
          <a:xfrm>
            <a:off x="10083800" y="3390900"/>
            <a:ext cx="1397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</a:rPr>
              <a:t>45 K€</a:t>
            </a:r>
          </a:p>
        </p:txBody>
      </p:sp>
      <p:sp>
        <p:nvSpPr>
          <p:cNvPr id="222" name="L3"/>
          <p:cNvSpPr txBox="1"/>
          <p:nvPr/>
        </p:nvSpPr>
        <p:spPr>
          <a:xfrm>
            <a:off x="762000" y="3975100"/>
            <a:ext cx="1905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600" b="1" dirty="0">
                <a:solidFill>
                  <a:srgbClr val="FFFFFF"/>
                </a:solidFill>
              </a:rPr>
              <a:t>R&amp;D</a:t>
            </a:r>
          </a:p>
        </p:txBody>
      </p:sp>
      <p:sp>
        <p:nvSpPr>
          <p:cNvPr id="223" name="Tr3"/>
          <p:cNvSpPr/>
          <p:nvPr/>
        </p:nvSpPr>
        <p:spPr>
          <a:xfrm>
            <a:off x="2794000" y="4051300"/>
            <a:ext cx="7112000" cy="330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Fi3"/>
          <p:cNvSpPr/>
          <p:nvPr/>
        </p:nvSpPr>
        <p:spPr>
          <a:xfrm>
            <a:off x="2794000" y="4051300"/>
            <a:ext cx="3556000" cy="330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V3"/>
          <p:cNvSpPr txBox="1"/>
          <p:nvPr/>
        </p:nvSpPr>
        <p:spPr>
          <a:xfrm>
            <a:off x="10083800" y="3975100"/>
            <a:ext cx="1397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</a:rPr>
              <a:t>35 K€</a:t>
            </a:r>
          </a:p>
        </p:txBody>
      </p:sp>
      <p:sp>
        <p:nvSpPr>
          <p:cNvPr id="226" name="L4"/>
          <p:cNvSpPr txBox="1"/>
          <p:nvPr/>
        </p:nvSpPr>
        <p:spPr>
          <a:xfrm>
            <a:off x="762000" y="4559300"/>
            <a:ext cx="1905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600" b="1" dirty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227" name="Tr4"/>
          <p:cNvSpPr/>
          <p:nvPr/>
        </p:nvSpPr>
        <p:spPr>
          <a:xfrm>
            <a:off x="2794000" y="4635500"/>
            <a:ext cx="7112000" cy="330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Fi4"/>
          <p:cNvSpPr/>
          <p:nvPr/>
        </p:nvSpPr>
        <p:spPr>
          <a:xfrm>
            <a:off x="2794000" y="4635500"/>
            <a:ext cx="3251200" cy="330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V4"/>
          <p:cNvSpPr txBox="1"/>
          <p:nvPr/>
        </p:nvSpPr>
        <p:spPr>
          <a:xfrm>
            <a:off x="10083800" y="4559300"/>
            <a:ext cx="1397000" cy="482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600" b="1" dirty="0">
                <a:solidFill>
                  <a:srgbClr val="2DD4BF"/>
                </a:solidFill>
              </a:rPr>
              <a:t>32 K€</a:t>
            </a:r>
          </a:p>
        </p:txBody>
      </p:sp>
      <p:sp>
        <p:nvSpPr>
          <p:cNvPr id="280" name="TotalBox"/>
          <p:cNvSpPr/>
          <p:nvPr/>
        </p:nvSpPr>
        <p:spPr>
          <a:xfrm>
            <a:off x="762000" y="5207000"/>
            <a:ext cx="10668000" cy="1206500"/>
          </a:xfrm>
          <a:prstGeom prst="roundRect">
            <a:avLst>
              <a:gd name="adj" fmla="val 50000"/>
            </a:avLst>
          </a:prstGeom>
          <a:solidFill>
            <a:srgbClr val="2DD4BF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1" name="TotalTxt"/>
          <p:cNvSpPr txBox="1"/>
          <p:nvPr/>
        </p:nvSpPr>
        <p:spPr>
          <a:xfrm>
            <a:off x="1066800" y="5435600"/>
            <a:ext cx="10160000" cy="82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100" b="1" spc="300" dirty="0">
                <a:solidFill>
                  <a:srgbClr val="2DD4BF"/>
                </a:solidFill>
              </a:rPr>
              <a:t>LECTURE</a:t>
            </a:r>
          </a:p>
          <a:p>
            <a:pPr algn="l">
              <a:buNone/>
            </a:pPr>
            <a:r>
              <a:rPr lang="fr-FR" sz="1500" dirty="0">
                <a:solidFill>
                  <a:srgbClr val="FFFFFF"/>
                </a:solidFill>
              </a:rPr>
              <a:t>Finance concentre les primes les plus élevées ; les écarts reflètent la participation au programme.</a:t>
            </a:r>
          </a:p>
        </p:txBody>
      </p:sp>
    </p:spTree>
    <p:extLst>
      <p:ext uri="{BB962C8B-B14F-4D97-AF65-F5344CB8AC3E}">
        <p14:creationId xmlns:p14="http://schemas.microsoft.com/office/powerpoint/2010/main" val="122298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FB528-98A5-F87C-ACC4-17C20989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4321FA6-559D-D87D-AB9B-1CC0A054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18" y="664071"/>
            <a:ext cx="10674656" cy="5939929"/>
          </a:xfrm>
          <a:prstGeom prst="rect">
            <a:avLst/>
          </a:prstGeom>
        </p:spPr>
      </p:pic>
      <p:sp>
        <p:nvSpPr>
          <p:cNvPr id="201" name="Eb"/>
          <p:cNvSpPr txBox="1"/>
          <p:nvPr/>
        </p:nvSpPr>
        <p:spPr>
          <a:xfrm>
            <a:off x="762000" y="254000"/>
            <a:ext cx="1016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07 · RÉSULTATS  ·  TABLEAU DE BORD POWER BI</a:t>
            </a:r>
          </a:p>
        </p:txBody>
      </p:sp>
    </p:spTree>
    <p:extLst>
      <p:ext uri="{BB962C8B-B14F-4D97-AF65-F5344CB8AC3E}">
        <p14:creationId xmlns:p14="http://schemas.microsoft.com/office/powerpoint/2010/main" val="3825368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9EEE1-B555-0516-5ABC-47BFB23A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08 · CONCLUSION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Bilan du projet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500" dirty="0">
                <a:solidFill>
                  <a:srgbClr val="CBD5E1"/>
                </a:solidFill>
              </a:rPr>
              <a:t>Le pipeline répond pleinement aux objectifs définis en début de projet.</a:t>
            </a:r>
          </a:p>
        </p:txBody>
      </p:sp>
      <p:sp>
        <p:nvSpPr>
          <p:cNvPr id="210" name="C_0"/>
          <p:cNvSpPr txBox="1"/>
          <p:nvPr/>
        </p:nvSpPr>
        <p:spPr>
          <a:xfrm>
            <a:off x="762000" y="2667000"/>
            <a:ext cx="52197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✓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PIPELINE COMPLET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Développé et automatisé de bout en bout, sans intervention manuelle</a:t>
            </a:r>
          </a:p>
        </p:txBody>
      </p:sp>
      <p:sp>
        <p:nvSpPr>
          <p:cNvPr id="211" name="C_1"/>
          <p:cNvSpPr txBox="1"/>
          <p:nvPr/>
        </p:nvSpPr>
        <p:spPr>
          <a:xfrm>
            <a:off x="6210300" y="2667000"/>
            <a:ext cx="52197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✓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DONNÉES INTÉGRÉES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Sources RH et sportives contrôlées, fusionnées, transformées</a:t>
            </a:r>
          </a:p>
        </p:txBody>
      </p:sp>
      <p:sp>
        <p:nvSpPr>
          <p:cNvPr id="212" name="C_2"/>
          <p:cNvSpPr txBox="1"/>
          <p:nvPr/>
        </p:nvSpPr>
        <p:spPr>
          <a:xfrm>
            <a:off x="762000" y="4737100"/>
            <a:ext cx="52197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✓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CALCUL AUTOMATISÉ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Primes et jours de congés bien-être calculés sans erreur</a:t>
            </a:r>
          </a:p>
        </p:txBody>
      </p:sp>
      <p:sp>
        <p:nvSpPr>
          <p:cNvPr id="213" name="C_3"/>
          <p:cNvSpPr txBox="1"/>
          <p:nvPr/>
        </p:nvSpPr>
        <p:spPr>
          <a:xfrm>
            <a:off x="6210300" y="4737100"/>
            <a:ext cx="52197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5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2DD4BF"/>
                </a:solidFill>
              </a:rPr>
              <a:t>✓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RESTITUTION FLUIDE</a:t>
            </a:r>
          </a:p>
          <a:p>
            <a:pPr algn="l">
              <a:buNone/>
            </a:pPr>
            <a:r>
              <a:rPr lang="fr-FR" sz="1200" dirty="0">
                <a:solidFill>
                  <a:srgbClr val="CBD5E1"/>
                </a:solidFill>
              </a:rPr>
              <a:t>Résultats centralisés en PostgreSQL, diffusés via Slack et Power BI</a:t>
            </a:r>
          </a:p>
        </p:txBody>
      </p:sp>
    </p:spTree>
    <p:extLst>
      <p:ext uri="{BB962C8B-B14F-4D97-AF65-F5344CB8AC3E}">
        <p14:creationId xmlns:p14="http://schemas.microsoft.com/office/powerpoint/2010/main" val="2067597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FB53D-7D33-6714-D88E-EBB4E692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08 · CONCLUSION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Difficultés rencontrées</a:t>
            </a:r>
          </a:p>
        </p:txBody>
      </p:sp>
      <p:sp>
        <p:nvSpPr>
          <p:cNvPr id="204" name="Intro"/>
          <p:cNvSpPr txBox="1"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500" dirty="0">
                <a:solidFill>
                  <a:srgbClr val="CBD5E1"/>
                </a:solidFill>
              </a:rPr>
              <a:t>Cinq défis majeurs ont rythmé la mise en œuvre du projet.</a:t>
            </a:r>
          </a:p>
        </p:txBody>
      </p:sp>
      <p:sp>
        <p:nvSpPr>
          <p:cNvPr id="210" name="Ch_01"/>
          <p:cNvSpPr txBox="1"/>
          <p:nvPr/>
        </p:nvSpPr>
        <p:spPr>
          <a:xfrm>
            <a:off x="762000" y="2540000"/>
            <a:ext cx="34036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C107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FFC107"/>
                </a:solidFill>
              </a:rPr>
              <a:t>01</a:t>
            </a:r>
          </a:p>
          <a:p>
            <a:pPr algn="l">
              <a:buNone/>
            </a:pPr>
            <a:r>
              <a:rPr lang="fr-FR" sz="1400" b="1" dirty="0">
                <a:solidFill>
                  <a:srgbClr val="FFFFFF"/>
                </a:solidFill>
              </a:rPr>
              <a:t>RÈGLES MÉTIER</a:t>
            </a:r>
          </a:p>
          <a:p>
            <a:pPr algn="l">
              <a:buNone/>
            </a:pPr>
            <a:r>
              <a:rPr lang="fr-FR" sz="1100" dirty="0">
                <a:solidFill>
                  <a:srgbClr val="CBD5E1"/>
                </a:solidFill>
              </a:rPr>
              <a:t>Comprendre et traduire correctement les politiques RH en code</a:t>
            </a:r>
          </a:p>
        </p:txBody>
      </p:sp>
      <p:sp>
        <p:nvSpPr>
          <p:cNvPr id="211" name="Ch_02"/>
          <p:cNvSpPr txBox="1"/>
          <p:nvPr/>
        </p:nvSpPr>
        <p:spPr>
          <a:xfrm>
            <a:off x="4394200" y="2540000"/>
            <a:ext cx="34036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C107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FFC107"/>
                </a:solidFill>
              </a:rPr>
              <a:t>02</a:t>
            </a:r>
          </a:p>
          <a:p>
            <a:pPr algn="l">
              <a:buNone/>
            </a:pPr>
            <a:r>
              <a:rPr lang="fr-FR" sz="1400" b="1" dirty="0">
                <a:solidFill>
                  <a:srgbClr val="FFFFFF"/>
                </a:solidFill>
              </a:rPr>
              <a:t>QUALITÉ DES DONNÉES</a:t>
            </a:r>
          </a:p>
          <a:p>
            <a:pPr algn="l">
              <a:buNone/>
            </a:pPr>
            <a:r>
              <a:rPr lang="fr-FR" sz="1100" dirty="0">
                <a:solidFill>
                  <a:srgbClr val="CBD5E1"/>
                </a:solidFill>
              </a:rPr>
              <a:t>Garantir la fiabilité de sources hétérogènes</a:t>
            </a:r>
          </a:p>
        </p:txBody>
      </p:sp>
      <p:sp>
        <p:nvSpPr>
          <p:cNvPr id="212" name="Ch_03"/>
          <p:cNvSpPr txBox="1"/>
          <p:nvPr/>
        </p:nvSpPr>
        <p:spPr>
          <a:xfrm>
            <a:off x="8026400" y="2540000"/>
            <a:ext cx="34036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C107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FFC107"/>
                </a:solidFill>
              </a:rPr>
              <a:t>03</a:t>
            </a:r>
          </a:p>
          <a:p>
            <a:pPr algn="l">
              <a:buNone/>
            </a:pPr>
            <a:r>
              <a:rPr lang="fr-FR" sz="1400" b="1" dirty="0">
                <a:solidFill>
                  <a:srgbClr val="FFFFFF"/>
                </a:solidFill>
              </a:rPr>
              <a:t>COHÉRENCE INTER-SOURCES</a:t>
            </a:r>
          </a:p>
          <a:p>
            <a:pPr algn="l">
              <a:buNone/>
            </a:pPr>
            <a:r>
              <a:rPr lang="fr-FR" sz="1100" dirty="0">
                <a:solidFill>
                  <a:srgbClr val="CBD5E1"/>
                </a:solidFill>
              </a:rPr>
              <a:t>Aligner les fichiers RH et sportifs sur des clés communes</a:t>
            </a:r>
          </a:p>
        </p:txBody>
      </p:sp>
      <p:sp>
        <p:nvSpPr>
          <p:cNvPr id="220" name="Ch_04"/>
          <p:cNvSpPr txBox="1"/>
          <p:nvPr/>
        </p:nvSpPr>
        <p:spPr>
          <a:xfrm>
            <a:off x="2578100" y="4572000"/>
            <a:ext cx="34036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C107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FFC107"/>
                </a:solidFill>
              </a:rPr>
              <a:t>04</a:t>
            </a:r>
          </a:p>
          <a:p>
            <a:pPr algn="l">
              <a:buNone/>
            </a:pPr>
            <a:r>
              <a:rPr lang="fr-FR" sz="1400" b="1" dirty="0">
                <a:solidFill>
                  <a:srgbClr val="FFFFFF"/>
                </a:solidFill>
              </a:rPr>
              <a:t>ORCHESTRATION</a:t>
            </a:r>
          </a:p>
          <a:p>
            <a:pPr algn="l">
              <a:buNone/>
            </a:pPr>
            <a:r>
              <a:rPr lang="fr-FR" sz="1100" dirty="0">
                <a:solidFill>
                  <a:srgbClr val="CBD5E1"/>
                </a:solidFill>
              </a:rPr>
              <a:t>Mettre en place un suivi fiable avec Kestra</a:t>
            </a:r>
          </a:p>
        </p:txBody>
      </p:sp>
      <p:sp>
        <p:nvSpPr>
          <p:cNvPr id="221" name="Ch_05"/>
          <p:cNvSpPr txBox="1"/>
          <p:nvPr/>
        </p:nvSpPr>
        <p:spPr>
          <a:xfrm>
            <a:off x="6210300" y="4572000"/>
            <a:ext cx="3403600" cy="18415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C107">
                <a:alpha val="50000"/>
              </a:srgbClr>
            </a:solidFill>
          </a:ln>
        </p:spPr>
        <p:txBody>
          <a:bodyPr wrap="square" lIns="180000" tIns="160000" rIns="180000" bIns="160000" anchor="t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FFC107"/>
                </a:solidFill>
              </a:rPr>
              <a:t>05</a:t>
            </a:r>
          </a:p>
          <a:p>
            <a:pPr algn="l">
              <a:buNone/>
            </a:pPr>
            <a:r>
              <a:rPr lang="fr-FR" sz="1400" b="1" dirty="0">
                <a:solidFill>
                  <a:srgbClr val="FFFFFF"/>
                </a:solidFill>
              </a:rPr>
              <a:t>INDICATEURS</a:t>
            </a:r>
          </a:p>
          <a:p>
            <a:pPr algn="l">
              <a:buNone/>
            </a:pPr>
            <a:r>
              <a:rPr lang="fr-FR" sz="1100" dirty="0">
                <a:solidFill>
                  <a:srgbClr val="CBD5E1"/>
                </a:solidFill>
              </a:rPr>
              <a:t>Concevoir des KPIs pertinents pour le pilotage</a:t>
            </a:r>
          </a:p>
        </p:txBody>
      </p:sp>
    </p:spTree>
    <p:extLst>
      <p:ext uri="{BB962C8B-B14F-4D97-AF65-F5344CB8AC3E}">
        <p14:creationId xmlns:p14="http://schemas.microsoft.com/office/powerpoint/2010/main" val="2230744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9E273-590D-3FA7-CF27-9693E23A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b"/>
          <p:cNvSpPr txBox="1"/>
          <p:nvPr/>
        </p:nvSpPr>
        <p:spPr>
          <a:xfrm>
            <a:off x="762000" y="444500"/>
            <a:ext cx="5080000" cy="25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200" b="1" spc="400" dirty="0">
                <a:solidFill>
                  <a:srgbClr val="2DD4BF"/>
                </a:solidFill>
              </a:rPr>
              <a:t>08 · CONCLUSION</a:t>
            </a:r>
          </a:p>
        </p:txBody>
      </p:sp>
      <p:sp>
        <p:nvSpPr>
          <p:cNvPr id="202" name="Bar"/>
          <p:cNvSpPr/>
          <p:nvPr/>
        </p:nvSpPr>
        <p:spPr>
          <a:xfrm>
            <a:off x="762000" y="762000"/>
            <a:ext cx="635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t"/>
          <p:cNvSpPr txBox="1"/>
          <p:nvPr/>
        </p:nvSpPr>
        <p:spPr>
          <a:xfrm>
            <a:off x="762000" y="914400"/>
            <a:ext cx="1016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3600" b="1" dirty="0">
                <a:solidFill>
                  <a:srgbClr val="FFFFFF"/>
                </a:solidFill>
              </a:rPr>
              <a:t>Améliorations futures</a:t>
            </a:r>
          </a:p>
        </p:txBody>
      </p:sp>
      <p:sp>
        <p:nvSpPr>
          <p:cNvPr id="210" name="Card_01"/>
          <p:cNvSpPr txBox="1"/>
          <p:nvPr/>
        </p:nvSpPr>
        <p:spPr>
          <a:xfrm>
            <a:off x="762000" y="2032000"/>
            <a:ext cx="34036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01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Ajouter de nouvelles sources de données</a:t>
            </a:r>
          </a:p>
        </p:txBody>
      </p:sp>
      <p:sp>
        <p:nvSpPr>
          <p:cNvPr id="211" name="Card_02"/>
          <p:cNvSpPr txBox="1"/>
          <p:nvPr/>
        </p:nvSpPr>
        <p:spPr>
          <a:xfrm>
            <a:off x="4394200" y="2032000"/>
            <a:ext cx="34036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02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Déployer le pipeline dans le cloud</a:t>
            </a:r>
          </a:p>
        </p:txBody>
      </p:sp>
      <p:sp>
        <p:nvSpPr>
          <p:cNvPr id="212" name="Card_03"/>
          <p:cNvSpPr txBox="1"/>
          <p:nvPr/>
        </p:nvSpPr>
        <p:spPr>
          <a:xfrm>
            <a:off x="8026400" y="2032000"/>
            <a:ext cx="34036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03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Mettre en place des alertes automatiques</a:t>
            </a:r>
          </a:p>
        </p:txBody>
      </p:sp>
      <p:sp>
        <p:nvSpPr>
          <p:cNvPr id="220" name="Card_04"/>
          <p:cNvSpPr txBox="1"/>
          <p:nvPr/>
        </p:nvSpPr>
        <p:spPr>
          <a:xfrm>
            <a:off x="2578100" y="4191000"/>
            <a:ext cx="34036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04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Enrichir Power BI avec tableaux interactifs</a:t>
            </a:r>
          </a:p>
        </p:txBody>
      </p:sp>
      <p:sp>
        <p:nvSpPr>
          <p:cNvPr id="221" name="Card_05"/>
          <p:cNvSpPr txBox="1"/>
          <p:nvPr/>
        </p:nvSpPr>
        <p:spPr>
          <a:xfrm>
            <a:off x="6210300" y="4191000"/>
            <a:ext cx="34036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algn="l">
              <a:buNone/>
            </a:pPr>
            <a:r>
              <a:rPr lang="fr-FR" sz="1400" b="1" spc="300" dirty="0">
                <a:solidFill>
                  <a:srgbClr val="2DD4BF"/>
                </a:solidFill>
              </a:rPr>
              <a:t>05</a:t>
            </a:r>
          </a:p>
          <a:p>
            <a:pPr algn="l">
              <a:buNone/>
            </a:pPr>
            <a:r>
              <a:rPr lang="fr-FR" sz="1500" b="1" dirty="0">
                <a:solidFill>
                  <a:srgbClr val="FFFFFF"/>
                </a:solidFill>
              </a:rPr>
              <a:t>Étendre la démarche à d'autres programmes</a:t>
            </a:r>
          </a:p>
        </p:txBody>
      </p:sp>
      <p:sp>
        <p:nvSpPr>
          <p:cNvPr id="230" name="Closing"/>
          <p:cNvSpPr txBox="1"/>
          <p:nvPr/>
        </p:nvSpPr>
        <p:spPr>
          <a:xfrm>
            <a:off x="762000" y="6286500"/>
            <a:ext cx="10668000" cy="381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1600" b="1" spc="300" dirty="0">
                <a:solidFill>
                  <a:srgbClr val="2DD4BF"/>
                </a:solidFill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49284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D1F56E-0B14-A344-B3EC-EAA92ABB471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5ebf7c1-9e1a-4557-8a5b-e8838ab5f7d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1427</Words>
  <Application>Microsoft Macintosh PowerPoint</Application>
  <PresentationFormat>Grand écran</PresentationFormat>
  <Paragraphs>379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Aime ENDAYE MAZINA</dc:creator>
  <cp:lastModifiedBy>Aime ENDAYE MAZINA</cp:lastModifiedBy>
  <cp:revision>3</cp:revision>
  <dcterms:created xsi:type="dcterms:W3CDTF">2026-06-12T16:17:22Z</dcterms:created>
  <dcterms:modified xsi:type="dcterms:W3CDTF">2026-06-13T13:19:21Z</dcterms:modified>
</cp:coreProperties>
</file>