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sldIdLst>
    <p:sldId id="326" r:id="rId2"/>
    <p:sldId id="349" r:id="rId3"/>
    <p:sldId id="350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72" r:id="rId20"/>
    <p:sldId id="367" r:id="rId21"/>
    <p:sldId id="368" r:id="rId22"/>
    <p:sldId id="369" r:id="rId23"/>
    <p:sldId id="370" r:id="rId24"/>
    <p:sldId id="371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703"/>
  </p:normalViewPr>
  <p:slideViewPr>
    <p:cSldViewPr snapToGrid="0">
      <p:cViewPr varScale="1">
        <p:scale>
          <a:sx n="88" d="100"/>
          <a:sy n="88" d="100"/>
        </p:scale>
        <p:origin x="208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233B75-5889-3F74-349B-5D855C354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D0D62F-6337-E51E-4B8C-66FCDAF8B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EE8264-22A9-23C9-C55F-7ED646AA4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D31E34-9775-D5A6-DA95-0E76417A5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C6E2F3-49E2-7B1F-D49F-952077E12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70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14C055-7E5B-BEA9-A3A7-3C58716B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4C218F-ED96-95AE-860A-E918F9885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3523FF-F5EB-D814-E8B7-9E03CFF4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115187-33A7-7A2E-07EF-4E39C9CBE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2684EC-41F2-3F44-CFF2-952596B57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74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3E3359-F327-5F89-1B8F-3824FDD62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7CFE28-D3B6-35FD-D7EE-5D876CDE3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369091-D6EA-F1A6-D0D9-4A27ED6FB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9D18E2-4907-54C3-873B-D2DD4D3E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623AB4-53D4-EC9A-F7EB-B5E22634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32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43F22F-F4FD-9DE1-6379-D23FF2978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C14BA9-4C97-388B-3024-8D9CF0C59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42FCE75-721D-BB17-B895-84355920F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54F1B6-8233-D4B4-84E0-19D5642BD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D3FB2C-9C8D-886C-6271-83E9DF31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5B2B5A-80A3-38EC-EBA5-1E6B74C0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98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34303B-56AA-9B77-54B1-A9873BD59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54C87B-7F2D-4FA7-E5E3-5FBAF419A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A86CF8-8FAF-B46A-8F1D-8EC4E7189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4508086-F72D-990B-EC6D-5948B3145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9A95DBD-2E61-5275-5F85-7DF381747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89CFF0-92DA-119C-3069-CD88D6D1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3F0975E-1A4D-2B62-05FB-E26152C73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E1210A2-E68B-CBD7-9944-4799D161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394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FA69E-4039-AB4D-421E-BFAD6A513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B45875B-5E71-F575-3CD0-E82FE495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22E107B-C9E4-6105-D8FE-CD796A489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51AA1F-9BA6-A3D6-9529-C9194D07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392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0ACD70F-5EB0-10B6-ECA8-8F15A6FA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0088713-14CE-6470-CFD1-68B121B4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0BC226-D3BE-BCC2-2BBF-0F2C795D4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066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FCF559-AFCD-84AE-D2BD-EBC702B6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D233A4-D14A-1CA6-2232-6AAC9EBA3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6FE842-B93B-A07D-EDB4-E6E3AE95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FF17A3-6DEE-DDD0-0558-4FD1FDCE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A8D326-8487-73F8-C9BD-FABB117E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809D76-0AF3-AE71-CABF-D63935E1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271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5A1EB7-8B98-3AF1-FA90-E597A92DC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C7197CB-5076-7D02-ED0B-A47AB6578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B85690-4FE4-42C1-98AF-5D67992DF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C6A3E-5F3C-279B-A936-FA6B1629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55F99A-7948-BAD2-7EFC-346EE5CF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D8680D-CE05-0D24-31CC-C2E20C8E5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55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BE99D0-8391-DB39-A889-6120B188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FCA7159-90AB-8073-7E2A-256EE6845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759386-7B70-7D74-138A-E4309731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713C86-9AC7-1A19-B8E2-59803A9AC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018714-F406-E903-2E86-0DA185F4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2837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39BE7AE-561B-632C-008F-283BE4BE3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3FF1272-D9AD-9F2D-E1F1-FA2401D4C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B43F35-A033-2491-DACA-795A8174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068-4347-CC46-A343-B65BB75200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3A2798-6DB3-BDBD-54FE-3E58AD94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FE4A10-1764-350B-2244-84E42722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261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11E3F"/>
            </a:gs>
            <a:gs pos="100000">
              <a:srgbClr val="050918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F8DC647-09CC-7618-0C0E-FEC8FF4B3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50FB6D-F1FC-4CF6-4F08-2A53BE740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A20A9C-65B3-D834-9995-FA4ABF6E1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02068-4347-CC46-A343-B65BB7520018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48496C-322F-D382-6F76-CD8350ADF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C5063D-7050-8E80-B62C-EF8DA5D21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62F7C-06B6-9D43-A009-E221C660077F}" type="slidenum">
              <a:rPr lang="fr-FR" smtClean="0"/>
              <a:t>‹N°›</a:t>
            </a:fld>
            <a:endParaRPr lang="fr-FR"/>
          </a:p>
        </p:txBody>
      </p:sp>
      <p:sp>
        <p:nvSpPr>
          <p:cNvPr id="9001" name="AccentBar"/>
          <p:cNvSpPr>
            <a:spLocks noGrp="1"/>
          </p:cNvSpPr>
          <p:nvPr userDrawn="1"/>
        </p:nvSpPr>
        <p:spPr>
          <a:xfrm>
            <a:off x="0" y="0"/>
            <a:ext cx="9144000" cy="76200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 wrap="square"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6754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58B2828B-27F5-B856-BE77-3B20A0FBD000}"/>
              </a:ext>
            </a:extLst>
          </p:cNvPr>
          <p:cNvSpPr txBox="1"/>
          <p:nvPr/>
        </p:nvSpPr>
        <p:spPr>
          <a:xfrm>
            <a:off x="609600" y="2438400"/>
            <a:ext cx="109728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fr-FR" sz="4400" b="1" dirty="0">
                <a:solidFill>
                  <a:srgbClr val="F8FAFC"/>
                </a:solidFill>
              </a:rPr>
              <a:t>Chatbot intelligent</a:t>
            </a:r>
          </a:p>
          <a:p>
            <a:pPr algn="l">
              <a:lnSpc>
                <a:spcPct val="100000"/>
              </a:lnSpc>
              <a:buNone/>
            </a:pPr>
            <a:r>
              <a:rPr lang="fr-FR" sz="4400" b="1" dirty="0">
                <a:solidFill>
                  <a:srgbClr val="60A5FA"/>
                </a:solidFill>
              </a:rPr>
              <a:t>de recommandation culturelle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C3433A9-0EA0-412C-D345-82A3A3FCF060}"/>
              </a:ext>
            </a:extLst>
          </p:cNvPr>
          <p:cNvSpPr txBox="1"/>
          <p:nvPr/>
        </p:nvSpPr>
        <p:spPr>
          <a:xfrm>
            <a:off x="609600" y="4572000"/>
            <a:ext cx="10972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400" dirty="0">
                <a:solidFill>
                  <a:srgbClr val="CBD5E1"/>
                </a:solidFill>
              </a:rPr>
              <a:t>Architecture RAG avec Mistral AI, FAISS et LangChain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EA00569-F111-6840-B757-49F75272F3D5}"/>
              </a:ext>
            </a:extLst>
          </p:cNvPr>
          <p:cNvSpPr/>
          <p:nvPr/>
        </p:nvSpPr>
        <p:spPr>
          <a:xfrm>
            <a:off x="609600" y="1778000"/>
            <a:ext cx="2438400" cy="406400"/>
          </a:xfrm>
          <a:prstGeom prst="roundRect">
            <a:avLst/>
          </a:prstGeom>
          <a:solidFill>
            <a:srgbClr val="EFF6FF"/>
          </a:solidFill>
          <a:ln w="9525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2563EB"/>
                </a:solidFill>
              </a:rPr>
              <a:t>PROJET IA · RAG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B7B7AB-E2E1-CF4E-BA95-C63654CD7A94}"/>
              </a:ext>
            </a:extLst>
          </p:cNvPr>
          <p:cNvSpPr/>
          <p:nvPr/>
        </p:nvSpPr>
        <p:spPr>
          <a:xfrm>
            <a:off x="609600" y="5283200"/>
            <a:ext cx="1219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255D611-AC60-AA47-B9EC-9075B88F1A94}"/>
              </a:ext>
            </a:extLst>
          </p:cNvPr>
          <p:cNvSpPr/>
          <p:nvPr/>
        </p:nvSpPr>
        <p:spPr>
          <a:xfrm>
            <a:off x="609600" y="5969000"/>
            <a:ext cx="1625600" cy="4572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7C3AED"/>
                </a:solidFill>
              </a:rPr>
              <a:t>Mistral AI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9AFF7AB-7157-1D4D-98F7-E2A50DB537DA}"/>
              </a:ext>
            </a:extLst>
          </p:cNvPr>
          <p:cNvSpPr/>
          <p:nvPr/>
        </p:nvSpPr>
        <p:spPr>
          <a:xfrm>
            <a:off x="2641600" y="5969000"/>
            <a:ext cx="1625600" cy="4572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06B6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06B6D4"/>
                </a:solidFill>
              </a:rPr>
              <a:t>FAISS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0F5909DC-F7CA-EF49-8828-2E61530AC623}"/>
              </a:ext>
            </a:extLst>
          </p:cNvPr>
          <p:cNvSpPr/>
          <p:nvPr/>
        </p:nvSpPr>
        <p:spPr>
          <a:xfrm>
            <a:off x="4673600" y="5969000"/>
            <a:ext cx="1625600" cy="4572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10B9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10B981"/>
                </a:solidFill>
              </a:rPr>
              <a:t>LangChain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67DA8AF-42CB-4A43-869B-2521E2D81F37}"/>
              </a:ext>
            </a:extLst>
          </p:cNvPr>
          <p:cNvSpPr/>
          <p:nvPr/>
        </p:nvSpPr>
        <p:spPr>
          <a:xfrm>
            <a:off x="6705600" y="5969000"/>
            <a:ext cx="1625600" cy="4572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F59E0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F59E0B"/>
                </a:solidFill>
              </a:rPr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4240331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8D743-F73E-7950-BB2F-BA2F4EA8A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5F36732-5BB4-274E-B860-2D0DCC0343FE}"/>
              </a:ext>
            </a:extLst>
          </p:cNvPr>
          <p:cNvSpPr/>
          <p:nvPr/>
        </p:nvSpPr>
        <p:spPr>
          <a:xfrm>
            <a:off x="609600" y="304800"/>
            <a:ext cx="18288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60A5FA"/>
                </a:solidFill>
              </a:rPr>
              <a:t>SOMMAIRE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6C74628-FD1D-E940-98A7-06D041ED6603}"/>
              </a:ext>
            </a:extLst>
          </p:cNvPr>
          <p:cNvSpPr/>
          <p:nvPr/>
        </p:nvSpPr>
        <p:spPr>
          <a:xfrm>
            <a:off x="609600" y="1651000"/>
            <a:ext cx="3429000" cy="22225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A250105-383B-DE48-851D-BF78C0A86990}"/>
              </a:ext>
            </a:extLst>
          </p:cNvPr>
          <p:cNvSpPr txBox="1"/>
          <p:nvPr/>
        </p:nvSpPr>
        <p:spPr>
          <a:xfrm>
            <a:off x="838200" y="1828800"/>
            <a:ext cx="1016000" cy="558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3200" b="1">
                <a:solidFill>
                  <a:srgbClr val="60A5FA"/>
                </a:solidFill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F9B5C8-4BCD-224C-8CC9-91E14FDA441A}"/>
              </a:ext>
            </a:extLst>
          </p:cNvPr>
          <p:cNvSpPr/>
          <p:nvPr/>
        </p:nvSpPr>
        <p:spPr>
          <a:xfrm>
            <a:off x="838200" y="2438400"/>
            <a:ext cx="406400" cy="3810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F38673B-AA62-334C-A00F-31C715ED4CA5}"/>
              </a:ext>
            </a:extLst>
          </p:cNvPr>
          <p:cNvSpPr txBox="1"/>
          <p:nvPr/>
        </p:nvSpPr>
        <p:spPr>
          <a:xfrm>
            <a:off x="838200" y="2616200"/>
            <a:ext cx="29718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</a:rPr>
              <a:t>Introduction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0DD2B06-6F3E-304C-9001-E37B1123F855}"/>
              </a:ext>
            </a:extLst>
          </p:cNvPr>
          <p:cNvSpPr txBox="1"/>
          <p:nvPr/>
        </p:nvSpPr>
        <p:spPr>
          <a:xfrm>
            <a:off x="838200" y="3098800"/>
            <a:ext cx="2971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</a:rPr>
              <a:t>Contexte, problématique, objectifs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EFDFD0A-C17E-F141-829A-0C45643E09F4}"/>
              </a:ext>
            </a:extLst>
          </p:cNvPr>
          <p:cNvSpPr/>
          <p:nvPr/>
        </p:nvSpPr>
        <p:spPr>
          <a:xfrm>
            <a:off x="4267200" y="1651000"/>
            <a:ext cx="3429000" cy="22225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B0C8D1-03F1-A14C-B0F9-22FE5DD87991}"/>
              </a:ext>
            </a:extLst>
          </p:cNvPr>
          <p:cNvSpPr txBox="1"/>
          <p:nvPr/>
        </p:nvSpPr>
        <p:spPr>
          <a:xfrm>
            <a:off x="4495800" y="1828800"/>
            <a:ext cx="1016000" cy="558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3200" b="1">
                <a:solidFill>
                  <a:srgbClr val="A78BFA"/>
                </a:solidFill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BF6BF1-2EA4-404F-AF53-4D70786B6961}"/>
              </a:ext>
            </a:extLst>
          </p:cNvPr>
          <p:cNvSpPr/>
          <p:nvPr/>
        </p:nvSpPr>
        <p:spPr>
          <a:xfrm>
            <a:off x="4495800" y="2438400"/>
            <a:ext cx="406400" cy="38100"/>
          </a:xfrm>
          <a:prstGeom prst="rect">
            <a:avLst/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097F4E4-2C0D-444F-8A23-77AAAD696F2C}"/>
              </a:ext>
            </a:extLst>
          </p:cNvPr>
          <p:cNvSpPr txBox="1"/>
          <p:nvPr/>
        </p:nvSpPr>
        <p:spPr>
          <a:xfrm>
            <a:off x="4495800" y="2616200"/>
            <a:ext cx="29718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</a:rPr>
              <a:t>Système RAG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DA7D70F-C149-3A4F-8486-FCDB7344D8CE}"/>
              </a:ext>
            </a:extLst>
          </p:cNvPr>
          <p:cNvSpPr txBox="1"/>
          <p:nvPr/>
        </p:nvSpPr>
        <p:spPr>
          <a:xfrm>
            <a:off x="4495800" y="3098800"/>
            <a:ext cx="2971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</a:rPr>
              <a:t>Mistral AI, FAISS, LangChain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FD19630-A3C2-F44A-92C4-729653919BE5}"/>
              </a:ext>
            </a:extLst>
          </p:cNvPr>
          <p:cNvSpPr/>
          <p:nvPr/>
        </p:nvSpPr>
        <p:spPr>
          <a:xfrm>
            <a:off x="7924800" y="1651000"/>
            <a:ext cx="3429000" cy="22225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5FFD645-F611-894D-B8E9-ADE32A7EA300}"/>
              </a:ext>
            </a:extLst>
          </p:cNvPr>
          <p:cNvSpPr txBox="1"/>
          <p:nvPr/>
        </p:nvSpPr>
        <p:spPr>
          <a:xfrm>
            <a:off x="8153400" y="1828800"/>
            <a:ext cx="1016000" cy="558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3200" b="1">
                <a:solidFill>
                  <a:srgbClr val="22D3EE"/>
                </a:solidFill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212AA4-DC8C-4446-B827-BC87A6D1ABE4}"/>
              </a:ext>
            </a:extLst>
          </p:cNvPr>
          <p:cNvSpPr/>
          <p:nvPr/>
        </p:nvSpPr>
        <p:spPr>
          <a:xfrm>
            <a:off x="8153400" y="2438400"/>
            <a:ext cx="4064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BD03CEF-CAE2-FB4C-88CE-BB4F3D006064}"/>
              </a:ext>
            </a:extLst>
          </p:cNvPr>
          <p:cNvSpPr txBox="1"/>
          <p:nvPr/>
        </p:nvSpPr>
        <p:spPr>
          <a:xfrm>
            <a:off x="8153400" y="2616200"/>
            <a:ext cx="29718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</a:rPr>
              <a:t>Données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8136BC6-30E5-9E4C-BEBE-0748D5FE9749}"/>
              </a:ext>
            </a:extLst>
          </p:cNvPr>
          <p:cNvSpPr txBox="1"/>
          <p:nvPr/>
        </p:nvSpPr>
        <p:spPr>
          <a:xfrm>
            <a:off x="8153400" y="3098800"/>
            <a:ext cx="2971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</a:rPr>
              <a:t>Collecte, prétraitement, embeddings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C1919E5D-F56A-4C45-8744-320250BF87BB}"/>
              </a:ext>
            </a:extLst>
          </p:cNvPr>
          <p:cNvSpPr/>
          <p:nvPr/>
        </p:nvSpPr>
        <p:spPr>
          <a:xfrm>
            <a:off x="609600" y="4076700"/>
            <a:ext cx="3429000" cy="22225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84F194D-1DA4-784B-9204-8F1F8622C3C2}"/>
              </a:ext>
            </a:extLst>
          </p:cNvPr>
          <p:cNvSpPr txBox="1"/>
          <p:nvPr/>
        </p:nvSpPr>
        <p:spPr>
          <a:xfrm>
            <a:off x="838200" y="4254500"/>
            <a:ext cx="1016000" cy="558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3200" b="1">
                <a:solidFill>
                  <a:srgbClr val="F472B6"/>
                </a:solidFill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A3EC2A-0143-EC48-BD99-5D24332A24BE}"/>
              </a:ext>
            </a:extLst>
          </p:cNvPr>
          <p:cNvSpPr/>
          <p:nvPr/>
        </p:nvSpPr>
        <p:spPr>
          <a:xfrm>
            <a:off x="838200" y="4864100"/>
            <a:ext cx="406400" cy="38100"/>
          </a:xfrm>
          <a:prstGeom prst="rect">
            <a:avLst/>
          </a:prstGeom>
          <a:solidFill>
            <a:srgbClr val="F472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DFA7DAE-DA84-E645-BF6F-EADBD6FE2927}"/>
              </a:ext>
            </a:extLst>
          </p:cNvPr>
          <p:cNvSpPr txBox="1"/>
          <p:nvPr/>
        </p:nvSpPr>
        <p:spPr>
          <a:xfrm>
            <a:off x="838200" y="5041900"/>
            <a:ext cx="29718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</a:rPr>
              <a:t>Construction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0BC85D9-205F-544B-8839-439CDDF898AA}"/>
              </a:ext>
            </a:extLst>
          </p:cNvPr>
          <p:cNvSpPr txBox="1"/>
          <p:nvPr/>
        </p:nvSpPr>
        <p:spPr>
          <a:xfrm>
            <a:off x="838200" y="5524500"/>
            <a:ext cx="2971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</a:rPr>
              <a:t>Base vectorielle, recherche, génération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C27B642-F3AB-5A49-AD51-4EF16EC15173}"/>
              </a:ext>
            </a:extLst>
          </p:cNvPr>
          <p:cNvSpPr/>
          <p:nvPr/>
        </p:nvSpPr>
        <p:spPr>
          <a:xfrm>
            <a:off x="4267200" y="4076700"/>
            <a:ext cx="3429000" cy="22225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325331E-F5CF-684B-A441-C9FD267AB543}"/>
              </a:ext>
            </a:extLst>
          </p:cNvPr>
          <p:cNvSpPr txBox="1"/>
          <p:nvPr/>
        </p:nvSpPr>
        <p:spPr>
          <a:xfrm>
            <a:off x="4495800" y="4254500"/>
            <a:ext cx="1016000" cy="558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3200" b="1">
                <a:solidFill>
                  <a:srgbClr val="34D399"/>
                </a:solidFill>
              </a:rPr>
              <a:t>05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CBF95-3775-3448-A1CB-B10E5FCABC66}"/>
              </a:ext>
            </a:extLst>
          </p:cNvPr>
          <p:cNvSpPr/>
          <p:nvPr/>
        </p:nvSpPr>
        <p:spPr>
          <a:xfrm>
            <a:off x="4495800" y="4864100"/>
            <a:ext cx="406400" cy="381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AA646557-BF65-1E43-8759-46DC6AC29E81}"/>
              </a:ext>
            </a:extLst>
          </p:cNvPr>
          <p:cNvSpPr txBox="1"/>
          <p:nvPr/>
        </p:nvSpPr>
        <p:spPr>
          <a:xfrm>
            <a:off x="4495800" y="5041900"/>
            <a:ext cx="29718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</a:rPr>
              <a:t>Résultats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1904DF53-D7F5-814F-AC88-5EC25786C528}"/>
              </a:ext>
            </a:extLst>
          </p:cNvPr>
          <p:cNvSpPr txBox="1"/>
          <p:nvPr/>
        </p:nvSpPr>
        <p:spPr>
          <a:xfrm>
            <a:off x="4495800" y="5524500"/>
            <a:ext cx="2971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</a:rPr>
              <a:t>Tests, exemples, évaluation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B6D44CE9-7935-A04F-808A-B0512B714A2A}"/>
              </a:ext>
            </a:extLst>
          </p:cNvPr>
          <p:cNvSpPr/>
          <p:nvPr/>
        </p:nvSpPr>
        <p:spPr>
          <a:xfrm>
            <a:off x="7924800" y="4076700"/>
            <a:ext cx="3429000" cy="22225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F7FE062-921E-AD48-A0E6-CD0A9F98907A}"/>
              </a:ext>
            </a:extLst>
          </p:cNvPr>
          <p:cNvSpPr txBox="1"/>
          <p:nvPr/>
        </p:nvSpPr>
        <p:spPr>
          <a:xfrm>
            <a:off x="8153400" y="4254500"/>
            <a:ext cx="1016000" cy="558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3200" b="1">
                <a:solidFill>
                  <a:srgbClr val="FBBF24"/>
                </a:solidFill>
              </a:rPr>
              <a:t>06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4324C4-177C-444D-B815-248C44AE534C}"/>
              </a:ext>
            </a:extLst>
          </p:cNvPr>
          <p:cNvSpPr/>
          <p:nvPr/>
        </p:nvSpPr>
        <p:spPr>
          <a:xfrm>
            <a:off x="8153400" y="4864100"/>
            <a:ext cx="406400" cy="38100"/>
          </a:xfrm>
          <a:prstGeom prst="rect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BF991A0-8088-A246-A0D9-E613DC026FEA}"/>
              </a:ext>
            </a:extLst>
          </p:cNvPr>
          <p:cNvSpPr txBox="1"/>
          <p:nvPr/>
        </p:nvSpPr>
        <p:spPr>
          <a:xfrm>
            <a:off x="8153400" y="5041900"/>
            <a:ext cx="29718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</a:rPr>
              <a:t>Conclusion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C9F55C1-3A37-A244-A558-596676A3D6E0}"/>
              </a:ext>
            </a:extLst>
          </p:cNvPr>
          <p:cNvSpPr txBox="1"/>
          <p:nvPr/>
        </p:nvSpPr>
        <p:spPr>
          <a:xfrm>
            <a:off x="8153400" y="5524500"/>
            <a:ext cx="2971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</a:rPr>
              <a:t>Bilan, difficultés, améliorations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459554-C0E2-EFB5-FD9D-EFF4830BA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7620000" cy="6858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Sommaire</a:t>
            </a:r>
          </a:p>
        </p:txBody>
      </p:sp>
    </p:spTree>
    <p:extLst>
      <p:ext uri="{BB962C8B-B14F-4D97-AF65-F5344CB8AC3E}">
        <p14:creationId xmlns:p14="http://schemas.microsoft.com/office/powerpoint/2010/main" val="4164262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44978-6E46-1745-D210-75BE85DC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939497-8D5D-B748-6F8B-9473312EA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699C97B-C48E-4C4A-AB4B-36A7DFD74F17}"/>
              </a:ext>
            </a:extLst>
          </p:cNvPr>
          <p:cNvSpPr/>
          <p:nvPr/>
        </p:nvSpPr>
        <p:spPr>
          <a:xfrm>
            <a:off x="609600" y="304800"/>
            <a:ext cx="2540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60A5FA"/>
                </a:solidFill>
              </a:rPr>
              <a:t>01 · INTRODUCTION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2285E09-5E23-A34C-BDCC-D68FE306F8FF}"/>
              </a:ext>
            </a:extLst>
          </p:cNvPr>
          <p:cNvSpPr/>
          <p:nvPr/>
        </p:nvSpPr>
        <p:spPr>
          <a:xfrm>
            <a:off x="609600" y="1778000"/>
            <a:ext cx="10972800" cy="4064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8673DAA-FBBC-4D4F-AD75-879E3BBB3A1C}"/>
              </a:ext>
            </a:extLst>
          </p:cNvPr>
          <p:cNvSpPr txBox="1"/>
          <p:nvPr/>
        </p:nvSpPr>
        <p:spPr>
          <a:xfrm>
            <a:off x="1117600" y="2286000"/>
            <a:ext cx="1270000" cy="762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800" b="1">
                <a:solidFill>
                  <a:srgbClr val="60A5FA"/>
                </a:solidFill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A6AD5A-DE11-624C-8B85-49E2166F3244}"/>
              </a:ext>
            </a:extLst>
          </p:cNvPr>
          <p:cNvSpPr/>
          <p:nvPr/>
        </p:nvSpPr>
        <p:spPr>
          <a:xfrm>
            <a:off x="1117600" y="3200400"/>
            <a:ext cx="711200" cy="5080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7C472A7-A12B-3F48-9B20-24306091649F}"/>
              </a:ext>
            </a:extLst>
          </p:cNvPr>
          <p:cNvSpPr txBox="1"/>
          <p:nvPr/>
        </p:nvSpPr>
        <p:spPr>
          <a:xfrm>
            <a:off x="1117600" y="3429000"/>
            <a:ext cx="8890000" cy="558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200" b="1">
                <a:solidFill>
                  <a:srgbClr val="F8FAFC"/>
                </a:solidFill>
              </a:rPr>
              <a:t>Contexte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CB3415C-6093-2342-98BD-892E8FDB0081}"/>
              </a:ext>
            </a:extLst>
          </p:cNvPr>
          <p:cNvSpPr txBox="1"/>
          <p:nvPr/>
        </p:nvSpPr>
        <p:spPr>
          <a:xfrm>
            <a:off x="1117600" y="4140200"/>
            <a:ext cx="93472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</a:rPr>
              <a:t>Grand volume d'événements culturels disponibles en ligne, mais difficiles à trier pour l'utilisateur.</a:t>
            </a:r>
          </a:p>
        </p:txBody>
      </p:sp>
    </p:spTree>
    <p:extLst>
      <p:ext uri="{BB962C8B-B14F-4D97-AF65-F5344CB8AC3E}">
        <p14:creationId xmlns:p14="http://schemas.microsoft.com/office/powerpoint/2010/main" val="1686158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E1F17-23C5-DF5B-304B-C64E2C3CD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329091-4F34-95CE-B077-A01C442A8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Problématique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ABF068A6-0D35-2D41-8F38-E242C6FAB2A1}"/>
              </a:ext>
            </a:extLst>
          </p:cNvPr>
          <p:cNvSpPr/>
          <p:nvPr/>
        </p:nvSpPr>
        <p:spPr>
          <a:xfrm>
            <a:off x="609600" y="304800"/>
            <a:ext cx="2794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A78BFA"/>
                </a:solidFill>
                <a:latin typeface="Inter"/>
              </a:rPr>
              <a:t>02 · PROBLÉMATIQUE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286A152-9D60-FD4D-BE00-49EF3DC5728D}"/>
              </a:ext>
            </a:extLst>
          </p:cNvPr>
          <p:cNvSpPr/>
          <p:nvPr/>
        </p:nvSpPr>
        <p:spPr>
          <a:xfrm>
            <a:off x="609600" y="1778000"/>
            <a:ext cx="109728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1ABE8ED-9800-2646-8467-BDDA3486FF9E}"/>
              </a:ext>
            </a:extLst>
          </p:cNvPr>
          <p:cNvSpPr txBox="1"/>
          <p:nvPr/>
        </p:nvSpPr>
        <p:spPr>
          <a:xfrm>
            <a:off x="1016000" y="1905000"/>
            <a:ext cx="1270000" cy="1270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9600" b="1">
                <a:solidFill>
                  <a:srgbClr val="A78BFA"/>
                </a:solidFill>
                <a:latin typeface="Inter"/>
              </a:rPr>
              <a:t>“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083DBE6-88F4-4243-8F24-EC2A1D4A2418}"/>
              </a:ext>
            </a:extLst>
          </p:cNvPr>
          <p:cNvSpPr txBox="1"/>
          <p:nvPr/>
        </p:nvSpPr>
        <p:spPr>
          <a:xfrm>
            <a:off x="2540000" y="2222500"/>
            <a:ext cx="5080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300" b="1">
                <a:solidFill>
                  <a:srgbClr val="A78BFA"/>
                </a:solidFill>
                <a:latin typeface="Inter"/>
              </a:rPr>
              <a:t>Question à résoudre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2D60F64-2D05-0148-B82C-DB89B841109B}"/>
              </a:ext>
            </a:extLst>
          </p:cNvPr>
          <p:cNvSpPr txBox="1"/>
          <p:nvPr/>
        </p:nvSpPr>
        <p:spPr>
          <a:xfrm>
            <a:off x="2540000" y="2667000"/>
            <a:ext cx="86360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 b="1">
                <a:solidFill>
                  <a:srgbClr val="F8FAFC"/>
                </a:solidFill>
                <a:latin typeface="Inter"/>
              </a:rPr>
              <a:t>Comment développer un chatbot intelligent capable de recommander des événements culturels pertinents à partir d'une base de données d'événements tout en fournissant des réponses naturelles et contextualisées ?</a:t>
            </a:r>
          </a:p>
        </p:txBody>
      </p:sp>
    </p:spTree>
    <p:extLst>
      <p:ext uri="{BB962C8B-B14F-4D97-AF65-F5344CB8AC3E}">
        <p14:creationId xmlns:p14="http://schemas.microsoft.com/office/powerpoint/2010/main" val="1605260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C7C9-FAF3-D6C1-8309-ABDE60EE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F3867-8FF7-E9EF-DCE0-325119F35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Objectifs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91FE8B8-52FE-D948-B31B-68510CAB2D13}"/>
              </a:ext>
            </a:extLst>
          </p:cNvPr>
          <p:cNvSpPr/>
          <p:nvPr/>
        </p:nvSpPr>
        <p:spPr>
          <a:xfrm>
            <a:off x="609600" y="304800"/>
            <a:ext cx="2540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22D3EE"/>
                </a:solidFill>
                <a:latin typeface="Inter"/>
              </a:rPr>
              <a:t>03 · OBJECTIFS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0701D74-2B50-7540-9C97-D1CAAD19E8E2}"/>
              </a:ext>
            </a:extLst>
          </p:cNvPr>
          <p:cNvSpPr txBox="1"/>
          <p:nvPr/>
        </p:nvSpPr>
        <p:spPr>
          <a:xfrm>
            <a:off x="609600" y="1587500"/>
            <a:ext cx="7620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600" b="1">
                <a:solidFill>
                  <a:srgbClr val="22D3EE"/>
                </a:solidFill>
                <a:latin typeface="Inter"/>
              </a:rPr>
              <a:t>Résultats attendus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40A9663-41AB-EE4F-9885-F63F4A7EABDA}"/>
              </a:ext>
            </a:extLst>
          </p:cNvPr>
          <p:cNvSpPr/>
          <p:nvPr/>
        </p:nvSpPr>
        <p:spPr>
          <a:xfrm>
            <a:off x="609600" y="2095500"/>
            <a:ext cx="2133600" cy="3810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9B65F90-E850-2A40-9F55-E8C530A9B024}"/>
              </a:ext>
            </a:extLst>
          </p:cNvPr>
          <p:cNvSpPr/>
          <p:nvPr/>
        </p:nvSpPr>
        <p:spPr>
          <a:xfrm>
            <a:off x="812800" y="2400300"/>
            <a:ext cx="558800" cy="558800"/>
          </a:xfrm>
          <a:prstGeom prst="ellipse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0B1226"/>
                </a:solidFill>
                <a:latin typeface="Inter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0153D4-DE52-354E-948C-203064CEE9EC}"/>
              </a:ext>
            </a:extLst>
          </p:cNvPr>
          <p:cNvSpPr/>
          <p:nvPr/>
        </p:nvSpPr>
        <p:spPr>
          <a:xfrm>
            <a:off x="812800" y="3213100"/>
            <a:ext cx="406400" cy="3810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675F147-2681-5D4B-B8B8-E2A0F06A849B}"/>
              </a:ext>
            </a:extLst>
          </p:cNvPr>
          <p:cNvSpPr txBox="1"/>
          <p:nvPr/>
        </p:nvSpPr>
        <p:spPr>
          <a:xfrm>
            <a:off x="812800" y="3441700"/>
            <a:ext cx="17272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F8FAFC"/>
                </a:solidFill>
                <a:latin typeface="Inter"/>
              </a:rPr>
              <a:t>Collecter et préparer les données d'événements culturels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8AC94F4-AA82-F349-94A4-3EC60B85B548}"/>
              </a:ext>
            </a:extLst>
          </p:cNvPr>
          <p:cNvSpPr/>
          <p:nvPr/>
        </p:nvSpPr>
        <p:spPr>
          <a:xfrm>
            <a:off x="2857500" y="2095500"/>
            <a:ext cx="2133600" cy="3810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BE08306-0CDD-2749-B3F7-EBD0126174C8}"/>
              </a:ext>
            </a:extLst>
          </p:cNvPr>
          <p:cNvSpPr/>
          <p:nvPr/>
        </p:nvSpPr>
        <p:spPr>
          <a:xfrm>
            <a:off x="3060700" y="2400300"/>
            <a:ext cx="558800" cy="558800"/>
          </a:xfrm>
          <a:prstGeom prst="ellipse">
            <a:avLst/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0B1226"/>
                </a:solidFill>
                <a:latin typeface="Inter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1B7DD9-C63B-C340-A63B-BD2B89F0D501}"/>
              </a:ext>
            </a:extLst>
          </p:cNvPr>
          <p:cNvSpPr/>
          <p:nvPr/>
        </p:nvSpPr>
        <p:spPr>
          <a:xfrm>
            <a:off x="3060700" y="3213100"/>
            <a:ext cx="406400" cy="38100"/>
          </a:xfrm>
          <a:prstGeom prst="rect">
            <a:avLst/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7191759-467D-DF44-85D7-FA7F005396DA}"/>
              </a:ext>
            </a:extLst>
          </p:cNvPr>
          <p:cNvSpPr txBox="1"/>
          <p:nvPr/>
        </p:nvSpPr>
        <p:spPr>
          <a:xfrm>
            <a:off x="3060700" y="3441700"/>
            <a:ext cx="17272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F8FAFC"/>
                </a:solidFill>
                <a:latin typeface="Inter"/>
              </a:rPr>
              <a:t>Indexer les événements dans une base vectorielle FAISS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FC3044F-5C42-A44E-AF90-D6DD39C901B2}"/>
              </a:ext>
            </a:extLst>
          </p:cNvPr>
          <p:cNvSpPr/>
          <p:nvPr/>
        </p:nvSpPr>
        <p:spPr>
          <a:xfrm>
            <a:off x="5105400" y="2095500"/>
            <a:ext cx="2133600" cy="3810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97E8F90-91CA-A848-9EA5-725B955957AD}"/>
              </a:ext>
            </a:extLst>
          </p:cNvPr>
          <p:cNvSpPr/>
          <p:nvPr/>
        </p:nvSpPr>
        <p:spPr>
          <a:xfrm>
            <a:off x="5308600" y="2400300"/>
            <a:ext cx="558800" cy="558800"/>
          </a:xfrm>
          <a:prstGeom prst="ellipse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0B1226"/>
                </a:solidFill>
                <a:latin typeface="Inter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C2A18B-2FAB-CD46-B07D-988645BDFED9}"/>
              </a:ext>
            </a:extLst>
          </p:cNvPr>
          <p:cNvSpPr/>
          <p:nvPr/>
        </p:nvSpPr>
        <p:spPr>
          <a:xfrm>
            <a:off x="5308600" y="3213100"/>
            <a:ext cx="4064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B02A6EF-083E-3142-893A-5F19BE108305}"/>
              </a:ext>
            </a:extLst>
          </p:cNvPr>
          <p:cNvSpPr txBox="1"/>
          <p:nvPr/>
        </p:nvSpPr>
        <p:spPr>
          <a:xfrm>
            <a:off x="5308600" y="3441700"/>
            <a:ext cx="17272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F8FAFC"/>
                </a:solidFill>
                <a:latin typeface="Inter"/>
              </a:rPr>
              <a:t>Mettre en place une architecture RAG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E4AA8C1-D6B0-F54B-981B-D76F3F339014}"/>
              </a:ext>
            </a:extLst>
          </p:cNvPr>
          <p:cNvSpPr/>
          <p:nvPr/>
        </p:nvSpPr>
        <p:spPr>
          <a:xfrm>
            <a:off x="7353300" y="2095500"/>
            <a:ext cx="2133600" cy="3810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076C83F-C566-7545-92CF-66833614A977}"/>
              </a:ext>
            </a:extLst>
          </p:cNvPr>
          <p:cNvSpPr/>
          <p:nvPr/>
        </p:nvSpPr>
        <p:spPr>
          <a:xfrm>
            <a:off x="7556500" y="2400300"/>
            <a:ext cx="558800" cy="5588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0B1226"/>
                </a:solidFill>
                <a:latin typeface="Inter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B43555-53EC-0943-B146-BE7757A63181}"/>
              </a:ext>
            </a:extLst>
          </p:cNvPr>
          <p:cNvSpPr/>
          <p:nvPr/>
        </p:nvSpPr>
        <p:spPr>
          <a:xfrm>
            <a:off x="7556500" y="3213100"/>
            <a:ext cx="406400" cy="381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19B2E30-E710-4941-99EF-104A075C0351}"/>
              </a:ext>
            </a:extLst>
          </p:cNvPr>
          <p:cNvSpPr txBox="1"/>
          <p:nvPr/>
        </p:nvSpPr>
        <p:spPr>
          <a:xfrm>
            <a:off x="7556500" y="3441700"/>
            <a:ext cx="17272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F8FAFC"/>
                </a:solidFill>
                <a:latin typeface="Inter"/>
              </a:rPr>
              <a:t>Générer des réponses naturelles avec Mistral AI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1D80C87B-7A97-954C-9129-EB9DE9236F21}"/>
              </a:ext>
            </a:extLst>
          </p:cNvPr>
          <p:cNvSpPr/>
          <p:nvPr/>
        </p:nvSpPr>
        <p:spPr>
          <a:xfrm>
            <a:off x="9601200" y="2095500"/>
            <a:ext cx="2133600" cy="3810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2CA25C6-B1F2-F940-A6F7-14119EF5EF8E}"/>
              </a:ext>
            </a:extLst>
          </p:cNvPr>
          <p:cNvSpPr/>
          <p:nvPr/>
        </p:nvSpPr>
        <p:spPr>
          <a:xfrm>
            <a:off x="9804400" y="2400300"/>
            <a:ext cx="558800" cy="558800"/>
          </a:xfrm>
          <a:prstGeom prst="ellipse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0B1226"/>
                </a:solidFill>
                <a:latin typeface="Inter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78C038-10BC-B749-BC46-1065726FC904}"/>
              </a:ext>
            </a:extLst>
          </p:cNvPr>
          <p:cNvSpPr/>
          <p:nvPr/>
        </p:nvSpPr>
        <p:spPr>
          <a:xfrm>
            <a:off x="9804400" y="3213100"/>
            <a:ext cx="406400" cy="38100"/>
          </a:xfrm>
          <a:prstGeom prst="rect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823A2BD-E8DE-D840-BCAD-162E07BBF56C}"/>
              </a:ext>
            </a:extLst>
          </p:cNvPr>
          <p:cNvSpPr txBox="1"/>
          <p:nvPr/>
        </p:nvSpPr>
        <p:spPr>
          <a:xfrm>
            <a:off x="9804400" y="3441700"/>
            <a:ext cx="17272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F8FAFC"/>
                </a:solidFill>
                <a:latin typeface="Inter"/>
              </a:rPr>
              <a:t>Fournir des recommandations personnalisées aux utilisateurs</a:t>
            </a:r>
          </a:p>
        </p:txBody>
      </p:sp>
    </p:spTree>
    <p:extLst>
      <p:ext uri="{BB962C8B-B14F-4D97-AF65-F5344CB8AC3E}">
        <p14:creationId xmlns:p14="http://schemas.microsoft.com/office/powerpoint/2010/main" val="3488186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21FD-726C-B122-D37F-E52B4AE55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39D9C8-A5D0-2AF1-C406-B3813C6A3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Présentation du RAG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9AA7C73-E20C-FD4A-BB8A-BB2F76A5C4CA}"/>
              </a:ext>
            </a:extLst>
          </p:cNvPr>
          <p:cNvSpPr/>
          <p:nvPr/>
        </p:nvSpPr>
        <p:spPr>
          <a:xfrm>
            <a:off x="609600" y="304800"/>
            <a:ext cx="3556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60A5FA"/>
                </a:solidFill>
                <a:latin typeface="Inter"/>
              </a:rPr>
              <a:t>04 · COMPRÉHENSION DU SYSTÈME RAG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67A0F8E-7FE9-9641-B1A6-1F8DD3EA5CCB}"/>
              </a:ext>
            </a:extLst>
          </p:cNvPr>
          <p:cNvSpPr/>
          <p:nvPr/>
        </p:nvSpPr>
        <p:spPr>
          <a:xfrm>
            <a:off x="6096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DC80B21-A96F-7744-8AAC-8315D0A294E0}"/>
              </a:ext>
            </a:extLst>
          </p:cNvPr>
          <p:cNvSpPr txBox="1"/>
          <p:nvPr/>
        </p:nvSpPr>
        <p:spPr>
          <a:xfrm>
            <a:off x="8636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60A5FA"/>
                </a:solidFill>
                <a:latin typeface="Inter"/>
              </a:rPr>
              <a:t>DÉFINITION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92A54E-D98A-4140-9369-926843FC9F0C}"/>
              </a:ext>
            </a:extLst>
          </p:cNvPr>
          <p:cNvSpPr/>
          <p:nvPr/>
        </p:nvSpPr>
        <p:spPr>
          <a:xfrm>
            <a:off x="863600" y="2362200"/>
            <a:ext cx="508000" cy="3810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72FFFB4-F085-4441-83BB-412E2528AB1D}"/>
              </a:ext>
            </a:extLst>
          </p:cNvPr>
          <p:cNvSpPr txBox="1"/>
          <p:nvPr/>
        </p:nvSpPr>
        <p:spPr>
          <a:xfrm>
            <a:off x="8636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Qu'est-ce que le RAG ?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7B3428B-AAC7-AF40-A3E2-FD7FEAA4BC5A}"/>
              </a:ext>
            </a:extLst>
          </p:cNvPr>
          <p:cNvSpPr txBox="1"/>
          <p:nvPr/>
        </p:nvSpPr>
        <p:spPr>
          <a:xfrm>
            <a:off x="8636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Le RAG (Retrieval-Augmented Generation) est une architecture qui combine la recherche d'informations et la génération de texte par un modèle de langage.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FA527BD-A8BA-B64A-A1FC-0C6224C28DBD}"/>
              </a:ext>
            </a:extLst>
          </p:cNvPr>
          <p:cNvSpPr/>
          <p:nvPr/>
        </p:nvSpPr>
        <p:spPr>
          <a:xfrm>
            <a:off x="43053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B687066-6258-1840-8671-5C9ABD487561}"/>
              </a:ext>
            </a:extLst>
          </p:cNvPr>
          <p:cNvSpPr txBox="1"/>
          <p:nvPr/>
        </p:nvSpPr>
        <p:spPr>
          <a:xfrm>
            <a:off x="45593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A78BFA"/>
                </a:solidFill>
                <a:latin typeface="Inter"/>
              </a:rPr>
              <a:t>FONCTIONNEMENT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271080-2CD6-1B4B-A3C9-90CCA2D67369}"/>
              </a:ext>
            </a:extLst>
          </p:cNvPr>
          <p:cNvSpPr/>
          <p:nvPr/>
        </p:nvSpPr>
        <p:spPr>
          <a:xfrm>
            <a:off x="4559300" y="2362200"/>
            <a:ext cx="508000" cy="38100"/>
          </a:xfrm>
          <a:prstGeom prst="rect">
            <a:avLst/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EBC93DD-7E7A-F44D-8820-477A42DA9F06}"/>
              </a:ext>
            </a:extLst>
          </p:cNvPr>
          <p:cNvSpPr txBox="1"/>
          <p:nvPr/>
        </p:nvSpPr>
        <p:spPr>
          <a:xfrm>
            <a:off x="45593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Comment ça marche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1A235B2-E825-7D48-9338-19FB824D5280}"/>
              </a:ext>
            </a:extLst>
          </p:cNvPr>
          <p:cNvSpPr txBox="1"/>
          <p:nvPr/>
        </p:nvSpPr>
        <p:spPr>
          <a:xfrm>
            <a:off x="45593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• Recherche des informations pertinentes dans une base de connaissances
• Transmission au modèle de langage
• Génération d'une réponse contextualisée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D27256F-1D4C-7F45-911F-2517C15BA675}"/>
              </a:ext>
            </a:extLst>
          </p:cNvPr>
          <p:cNvSpPr/>
          <p:nvPr/>
        </p:nvSpPr>
        <p:spPr>
          <a:xfrm>
            <a:off x="80010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0A1CEB7-CE0B-F841-AA86-5C5E6FB1FF0D}"/>
              </a:ext>
            </a:extLst>
          </p:cNvPr>
          <p:cNvSpPr txBox="1"/>
          <p:nvPr/>
        </p:nvSpPr>
        <p:spPr>
          <a:xfrm>
            <a:off x="82550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22D3EE"/>
                </a:solidFill>
                <a:latin typeface="Inter"/>
              </a:rPr>
              <a:t>AVANTAGES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4A0506-10F9-6D45-8F66-F268FBDB8435}"/>
              </a:ext>
            </a:extLst>
          </p:cNvPr>
          <p:cNvSpPr/>
          <p:nvPr/>
        </p:nvSpPr>
        <p:spPr>
          <a:xfrm>
            <a:off x="8255000" y="2362200"/>
            <a:ext cx="508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ED34DFC-D035-FE4D-9FC9-99BC2BB3497D}"/>
              </a:ext>
            </a:extLst>
          </p:cNvPr>
          <p:cNvSpPr txBox="1"/>
          <p:nvPr/>
        </p:nvSpPr>
        <p:spPr>
          <a:xfrm>
            <a:off x="82550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Pourquoi le choisir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6FCF019-2490-004D-B8B4-CEEA94A954F0}"/>
              </a:ext>
            </a:extLst>
          </p:cNvPr>
          <p:cNvSpPr txBox="1"/>
          <p:nvPr/>
        </p:nvSpPr>
        <p:spPr>
          <a:xfrm>
            <a:off x="82550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• Réponses plus précises
• Réduction des hallucinations
• Utilisation de données actualisées</a:t>
            </a:r>
          </a:p>
        </p:txBody>
      </p:sp>
    </p:spTree>
    <p:extLst>
      <p:ext uri="{BB962C8B-B14F-4D97-AF65-F5344CB8AC3E}">
        <p14:creationId xmlns:p14="http://schemas.microsoft.com/office/powerpoint/2010/main" val="318388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A2C81-2641-115E-427F-FCCEA0F7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C86A33-B541-4B96-3B0F-3F5D1E7F4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Présentation de Mistral AI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3A04466-A7BD-E049-B994-16835950AB2D}"/>
              </a:ext>
            </a:extLst>
          </p:cNvPr>
          <p:cNvSpPr/>
          <p:nvPr/>
        </p:nvSpPr>
        <p:spPr>
          <a:xfrm>
            <a:off x="609600" y="304800"/>
            <a:ext cx="3556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A78BFA"/>
                </a:solidFill>
                <a:latin typeface="Inter"/>
              </a:rPr>
              <a:t>04 · COMPRÉHENSION DU SYSTÈME RAG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CC02ACA-5F1C-F344-98B2-E073DE9BA809}"/>
              </a:ext>
            </a:extLst>
          </p:cNvPr>
          <p:cNvSpPr/>
          <p:nvPr/>
        </p:nvSpPr>
        <p:spPr>
          <a:xfrm>
            <a:off x="6096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24BC441-4911-5643-9A9E-4B62B866735B}"/>
              </a:ext>
            </a:extLst>
          </p:cNvPr>
          <p:cNvSpPr txBox="1"/>
          <p:nvPr/>
        </p:nvSpPr>
        <p:spPr>
          <a:xfrm>
            <a:off x="8636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A78BFA"/>
                </a:solidFill>
                <a:latin typeface="Inter"/>
              </a:rPr>
              <a:t>RÔLE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A80941-5B3C-1F41-93D1-F4EB90E54561}"/>
              </a:ext>
            </a:extLst>
          </p:cNvPr>
          <p:cNvSpPr/>
          <p:nvPr/>
        </p:nvSpPr>
        <p:spPr>
          <a:xfrm>
            <a:off x="863600" y="2362200"/>
            <a:ext cx="508000" cy="38100"/>
          </a:xfrm>
          <a:prstGeom prst="rect">
            <a:avLst/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695905A-92FF-7E40-A47F-4B6981298FA8}"/>
              </a:ext>
            </a:extLst>
          </p:cNvPr>
          <p:cNvSpPr txBox="1"/>
          <p:nvPr/>
        </p:nvSpPr>
        <p:spPr>
          <a:xfrm>
            <a:off x="8636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Le moteur du chatbot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B0223C1-9189-AF4D-898A-5DB084F8B85F}"/>
              </a:ext>
            </a:extLst>
          </p:cNvPr>
          <p:cNvSpPr txBox="1"/>
          <p:nvPr/>
        </p:nvSpPr>
        <p:spPr>
          <a:xfrm>
            <a:off x="8636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Mistral AI est un modèle de langage open source français utilisé pour générer les réponses du chatbot à partir des informations récupérées.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5B7E9A24-D4A3-4D48-B4D6-B2222F4C23D2}"/>
              </a:ext>
            </a:extLst>
          </p:cNvPr>
          <p:cNvSpPr/>
          <p:nvPr/>
        </p:nvSpPr>
        <p:spPr>
          <a:xfrm>
            <a:off x="43053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68C2869-8F1C-3E48-82CC-77D59EFD034A}"/>
              </a:ext>
            </a:extLst>
          </p:cNvPr>
          <p:cNvSpPr txBox="1"/>
          <p:nvPr/>
        </p:nvSpPr>
        <p:spPr>
          <a:xfrm>
            <a:off x="45593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7C3AED"/>
                </a:solidFill>
                <a:latin typeface="Inter"/>
              </a:rPr>
              <a:t>CARACTÉRISTIQUES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AFCCA6-2473-5E4B-85B6-657B39AB5F42}"/>
              </a:ext>
            </a:extLst>
          </p:cNvPr>
          <p:cNvSpPr/>
          <p:nvPr/>
        </p:nvSpPr>
        <p:spPr>
          <a:xfrm>
            <a:off x="4559300" y="2362200"/>
            <a:ext cx="508000" cy="381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CE65967-D89B-0042-8169-57C733ACAE15}"/>
              </a:ext>
            </a:extLst>
          </p:cNvPr>
          <p:cNvSpPr txBox="1"/>
          <p:nvPr/>
        </p:nvSpPr>
        <p:spPr>
          <a:xfrm>
            <a:off x="45593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Points forts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F6E6CBB-F2EE-5B4C-BC14-5D5E66D05129}"/>
              </a:ext>
            </a:extLst>
          </p:cNvPr>
          <p:cNvSpPr txBox="1"/>
          <p:nvPr/>
        </p:nvSpPr>
        <p:spPr>
          <a:xfrm>
            <a:off x="45593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• Performant et rapide
• Open source
• Adapté au français
• Léger en ressources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7731BB7-AB20-EB44-B350-746C6D1B5C4C}"/>
              </a:ext>
            </a:extLst>
          </p:cNvPr>
          <p:cNvSpPr/>
          <p:nvPr/>
        </p:nvSpPr>
        <p:spPr>
          <a:xfrm>
            <a:off x="80010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767B7CC-7069-FD4D-B198-39C45FC9F98D}"/>
              </a:ext>
            </a:extLst>
          </p:cNvPr>
          <p:cNvSpPr txBox="1"/>
          <p:nvPr/>
        </p:nvSpPr>
        <p:spPr>
          <a:xfrm>
            <a:off x="82550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472B6"/>
                </a:solidFill>
                <a:latin typeface="Inter"/>
              </a:rPr>
              <a:t>RÉSULTAT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75A3FB-DA21-8648-B180-CEA8E4410EE8}"/>
              </a:ext>
            </a:extLst>
          </p:cNvPr>
          <p:cNvSpPr/>
          <p:nvPr/>
        </p:nvSpPr>
        <p:spPr>
          <a:xfrm>
            <a:off x="8255000" y="2362200"/>
            <a:ext cx="508000" cy="38100"/>
          </a:xfrm>
          <a:prstGeom prst="rect">
            <a:avLst/>
          </a:prstGeom>
          <a:solidFill>
            <a:srgbClr val="F472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A76C0AD-425C-AB45-8D35-33B53FE29791}"/>
              </a:ext>
            </a:extLst>
          </p:cNvPr>
          <p:cNvSpPr txBox="1"/>
          <p:nvPr/>
        </p:nvSpPr>
        <p:spPr>
          <a:xfrm>
            <a:off x="82550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Dans notre projet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9BD8A60-538E-F745-B10D-5087A3B39527}"/>
              </a:ext>
            </a:extLst>
          </p:cNvPr>
          <p:cNvSpPr txBox="1"/>
          <p:nvPr/>
        </p:nvSpPr>
        <p:spPr>
          <a:xfrm>
            <a:off x="82550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Mistral produit des recommandations culturelles personnalisées et contextuelles, en s'appuyant sur les événements récupérés par FAISS.</a:t>
            </a:r>
          </a:p>
        </p:txBody>
      </p:sp>
    </p:spTree>
    <p:extLst>
      <p:ext uri="{BB962C8B-B14F-4D97-AF65-F5344CB8AC3E}">
        <p14:creationId xmlns:p14="http://schemas.microsoft.com/office/powerpoint/2010/main" val="239214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D60CE-A207-79F7-F140-2A095B21F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1518FD-C961-8D7D-0D46-BDD74ADF1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Présentation de FAISS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0751089-B5E4-DE46-9C03-EFDC3A127D4E}"/>
              </a:ext>
            </a:extLst>
          </p:cNvPr>
          <p:cNvSpPr/>
          <p:nvPr/>
        </p:nvSpPr>
        <p:spPr>
          <a:xfrm>
            <a:off x="609600" y="304800"/>
            <a:ext cx="3556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22D3EE"/>
                </a:solidFill>
                <a:latin typeface="Inter"/>
              </a:rPr>
              <a:t>04 · COMPRÉHENSION DU SYSTÈME RAG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B031D3B-01F7-944F-BF78-F6AE40201152}"/>
              </a:ext>
            </a:extLst>
          </p:cNvPr>
          <p:cNvSpPr/>
          <p:nvPr/>
        </p:nvSpPr>
        <p:spPr>
          <a:xfrm>
            <a:off x="6096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203D738-838C-EA45-8484-E81C128CC506}"/>
              </a:ext>
            </a:extLst>
          </p:cNvPr>
          <p:cNvSpPr txBox="1"/>
          <p:nvPr/>
        </p:nvSpPr>
        <p:spPr>
          <a:xfrm>
            <a:off x="8636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22D3EE"/>
                </a:solidFill>
                <a:latin typeface="Inter"/>
              </a:rPr>
              <a:t>DÉFINITION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3D276F-61A3-404A-8212-5BEF43CF0F4D}"/>
              </a:ext>
            </a:extLst>
          </p:cNvPr>
          <p:cNvSpPr/>
          <p:nvPr/>
        </p:nvSpPr>
        <p:spPr>
          <a:xfrm>
            <a:off x="863600" y="2362200"/>
            <a:ext cx="508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7C0DCCB-30CD-044B-B6FE-B2C72E4EAAC8}"/>
              </a:ext>
            </a:extLst>
          </p:cNvPr>
          <p:cNvSpPr txBox="1"/>
          <p:nvPr/>
        </p:nvSpPr>
        <p:spPr>
          <a:xfrm>
            <a:off x="8636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Qu'est-ce que FAISS ?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2CD8E9-740F-794C-96A9-26193521F6BE}"/>
              </a:ext>
            </a:extLst>
          </p:cNvPr>
          <p:cNvSpPr txBox="1"/>
          <p:nvPr/>
        </p:nvSpPr>
        <p:spPr>
          <a:xfrm>
            <a:off x="8636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FAISS (Facebook AI Similarity Search) est une bibliothèque open source de recherche par similarité dans des espaces vectoriels.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BFFA856-C088-4646-93C2-3AB6AAF607A2}"/>
              </a:ext>
            </a:extLst>
          </p:cNvPr>
          <p:cNvSpPr/>
          <p:nvPr/>
        </p:nvSpPr>
        <p:spPr>
          <a:xfrm>
            <a:off x="43053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06B6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58F0AE1-A19B-3249-BAB0-2B1D45189BF5}"/>
              </a:ext>
            </a:extLst>
          </p:cNvPr>
          <p:cNvSpPr txBox="1"/>
          <p:nvPr/>
        </p:nvSpPr>
        <p:spPr>
          <a:xfrm>
            <a:off x="45593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06B6D4"/>
                </a:solidFill>
                <a:latin typeface="Inter"/>
              </a:rPr>
              <a:t>RÔLE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4A166F-0A5E-6F43-8A98-87042A8F58FF}"/>
              </a:ext>
            </a:extLst>
          </p:cNvPr>
          <p:cNvSpPr/>
          <p:nvPr/>
        </p:nvSpPr>
        <p:spPr>
          <a:xfrm>
            <a:off x="4559300" y="2362200"/>
            <a:ext cx="508000" cy="381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5FC063-4B95-2B4A-8D23-5B1979D552CC}"/>
              </a:ext>
            </a:extLst>
          </p:cNvPr>
          <p:cNvSpPr txBox="1"/>
          <p:nvPr/>
        </p:nvSpPr>
        <p:spPr>
          <a:xfrm>
            <a:off x="45593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Sa fonction dans le projet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B64FC63-C65C-E74E-8B5B-8DFE011E6842}"/>
              </a:ext>
            </a:extLst>
          </p:cNvPr>
          <p:cNvSpPr txBox="1"/>
          <p:nvPr/>
        </p:nvSpPr>
        <p:spPr>
          <a:xfrm>
            <a:off x="45593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FAISS indexe les embeddings des événements culturels et permet de retrouver rapidement les plus pertinents par rapport à la requête de l'utilisateur.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14E5F31-17E5-DF40-8B2D-9237DC658331}"/>
              </a:ext>
            </a:extLst>
          </p:cNvPr>
          <p:cNvSpPr/>
          <p:nvPr/>
        </p:nvSpPr>
        <p:spPr>
          <a:xfrm>
            <a:off x="80010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E9125BE-8E23-4446-91A9-3E1E0818A805}"/>
              </a:ext>
            </a:extLst>
          </p:cNvPr>
          <p:cNvSpPr txBox="1"/>
          <p:nvPr/>
        </p:nvSpPr>
        <p:spPr>
          <a:xfrm>
            <a:off x="82550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34D399"/>
                </a:solidFill>
                <a:latin typeface="Inter"/>
              </a:rPr>
              <a:t>AVANTAGES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E861B-5651-E749-AB65-212A7CBB9BD2}"/>
              </a:ext>
            </a:extLst>
          </p:cNvPr>
          <p:cNvSpPr/>
          <p:nvPr/>
        </p:nvSpPr>
        <p:spPr>
          <a:xfrm>
            <a:off x="8255000" y="2362200"/>
            <a:ext cx="508000" cy="381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506D696-D732-D147-837F-5D5D494F611D}"/>
              </a:ext>
            </a:extLst>
          </p:cNvPr>
          <p:cNvSpPr txBox="1"/>
          <p:nvPr/>
        </p:nvSpPr>
        <p:spPr>
          <a:xfrm>
            <a:off x="82550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Pourquoi FAISS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A8338A5-134C-0544-A3D9-0CB13ADFE3BB}"/>
              </a:ext>
            </a:extLst>
          </p:cNvPr>
          <p:cNvSpPr txBox="1"/>
          <p:nvPr/>
        </p:nvSpPr>
        <p:spPr>
          <a:xfrm>
            <a:off x="82550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• Recherche rapide à grande échelle
• Optimisé pour les vecteurs
• Open source et performant
• Intégration simple</a:t>
            </a:r>
          </a:p>
        </p:txBody>
      </p:sp>
    </p:spTree>
    <p:extLst>
      <p:ext uri="{BB962C8B-B14F-4D97-AF65-F5344CB8AC3E}">
        <p14:creationId xmlns:p14="http://schemas.microsoft.com/office/powerpoint/2010/main" val="10675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CE47-B88F-A2DD-54CC-6A184570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3F2B5F-7821-E7F2-3024-4C69B4BD2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Présentation de LangChain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592535C-FC33-B24E-9B83-D5FA8BEA5EDA}"/>
              </a:ext>
            </a:extLst>
          </p:cNvPr>
          <p:cNvSpPr/>
          <p:nvPr/>
        </p:nvSpPr>
        <p:spPr>
          <a:xfrm>
            <a:off x="609600" y="304800"/>
            <a:ext cx="3556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472B6"/>
                </a:solidFill>
                <a:latin typeface="Inter"/>
              </a:rPr>
              <a:t>04 · COMPRÉHENSION DU SYSTÈME RAG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2804AA5-20A6-AC49-AACD-A8B7DBB76CB7}"/>
              </a:ext>
            </a:extLst>
          </p:cNvPr>
          <p:cNvSpPr/>
          <p:nvPr/>
        </p:nvSpPr>
        <p:spPr>
          <a:xfrm>
            <a:off x="6096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FFF954B-F2F3-0749-922F-87FC564AEE79}"/>
              </a:ext>
            </a:extLst>
          </p:cNvPr>
          <p:cNvSpPr txBox="1"/>
          <p:nvPr/>
        </p:nvSpPr>
        <p:spPr>
          <a:xfrm>
            <a:off x="8636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472B6"/>
                </a:solidFill>
                <a:latin typeface="Inter"/>
              </a:rPr>
              <a:t>DÉFINITION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2DA736-DD5C-D541-AE77-3E21926E4F8B}"/>
              </a:ext>
            </a:extLst>
          </p:cNvPr>
          <p:cNvSpPr/>
          <p:nvPr/>
        </p:nvSpPr>
        <p:spPr>
          <a:xfrm>
            <a:off x="863600" y="2362200"/>
            <a:ext cx="508000" cy="38100"/>
          </a:xfrm>
          <a:prstGeom prst="rect">
            <a:avLst/>
          </a:prstGeom>
          <a:solidFill>
            <a:srgbClr val="F472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7FFB93C-032D-ED48-9470-437AE9E3F102}"/>
              </a:ext>
            </a:extLst>
          </p:cNvPr>
          <p:cNvSpPr txBox="1"/>
          <p:nvPr/>
        </p:nvSpPr>
        <p:spPr>
          <a:xfrm>
            <a:off x="8636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Qu'est-ce que LangChain ?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127EC93-9FCE-4F44-BBBF-8943BA43E396}"/>
              </a:ext>
            </a:extLst>
          </p:cNvPr>
          <p:cNvSpPr txBox="1"/>
          <p:nvPr/>
        </p:nvSpPr>
        <p:spPr>
          <a:xfrm>
            <a:off x="8636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LangChain est un framework permettant d'orchestrer les interactions entre les différents composants d'un système RAG.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946A719-1213-9C47-B1F1-CC43892E0CA2}"/>
              </a:ext>
            </a:extLst>
          </p:cNvPr>
          <p:cNvSpPr/>
          <p:nvPr/>
        </p:nvSpPr>
        <p:spPr>
          <a:xfrm>
            <a:off x="43053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EC48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28B254E-609E-BC40-8C89-976245A8005B}"/>
              </a:ext>
            </a:extLst>
          </p:cNvPr>
          <p:cNvSpPr txBox="1"/>
          <p:nvPr/>
        </p:nvSpPr>
        <p:spPr>
          <a:xfrm>
            <a:off x="45593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EC4899"/>
                </a:solidFill>
                <a:latin typeface="Inter"/>
              </a:rPr>
              <a:t>RÔLE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69E058-5219-184C-8AEA-8CAAC56B6B5C}"/>
              </a:ext>
            </a:extLst>
          </p:cNvPr>
          <p:cNvSpPr/>
          <p:nvPr/>
        </p:nvSpPr>
        <p:spPr>
          <a:xfrm>
            <a:off x="4559300" y="2362200"/>
            <a:ext cx="508000" cy="38100"/>
          </a:xfrm>
          <a:prstGeom prst="rect">
            <a:avLst/>
          </a:prstGeom>
          <a:solidFill>
            <a:srgbClr val="EC48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E6B16A3-0EF1-9C4C-97EA-5B0E21007487}"/>
              </a:ext>
            </a:extLst>
          </p:cNvPr>
          <p:cNvSpPr txBox="1"/>
          <p:nvPr/>
        </p:nvSpPr>
        <p:spPr>
          <a:xfrm>
            <a:off x="45593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Son rôle dans le projet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6D8C358-75EF-4D4F-A938-F9005711FAB7}"/>
              </a:ext>
            </a:extLst>
          </p:cNvPr>
          <p:cNvSpPr txBox="1"/>
          <p:nvPr/>
        </p:nvSpPr>
        <p:spPr>
          <a:xfrm>
            <a:off x="45593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• Connexion entre FAISS et Mistral
• Gestion du pipeline de recherche
• Construction du chatbot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CF694D85-0E4C-B54C-A2C0-1AEB076BE70D}"/>
              </a:ext>
            </a:extLst>
          </p:cNvPr>
          <p:cNvSpPr/>
          <p:nvPr/>
        </p:nvSpPr>
        <p:spPr>
          <a:xfrm>
            <a:off x="80010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F3C7943-D6FB-B94C-9B1B-036191EACA8E}"/>
              </a:ext>
            </a:extLst>
          </p:cNvPr>
          <p:cNvSpPr txBox="1"/>
          <p:nvPr/>
        </p:nvSpPr>
        <p:spPr>
          <a:xfrm>
            <a:off x="82550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BBF24"/>
                </a:solidFill>
                <a:latin typeface="Inter"/>
              </a:rPr>
              <a:t>AVANTAGES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726301-415B-E447-8CE9-CF95547F6D9D}"/>
              </a:ext>
            </a:extLst>
          </p:cNvPr>
          <p:cNvSpPr/>
          <p:nvPr/>
        </p:nvSpPr>
        <p:spPr>
          <a:xfrm>
            <a:off x="8255000" y="2362200"/>
            <a:ext cx="508000" cy="38100"/>
          </a:xfrm>
          <a:prstGeom prst="rect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283B974-19F4-2B46-A3EE-1C056A448DF5}"/>
              </a:ext>
            </a:extLst>
          </p:cNvPr>
          <p:cNvSpPr txBox="1"/>
          <p:nvPr/>
        </p:nvSpPr>
        <p:spPr>
          <a:xfrm>
            <a:off x="82550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Pourquoi LangChain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C472BCC-0FBE-3C45-92F5-ECBB489BAC85}"/>
              </a:ext>
            </a:extLst>
          </p:cNvPr>
          <p:cNvSpPr txBox="1"/>
          <p:nvPr/>
        </p:nvSpPr>
        <p:spPr>
          <a:xfrm>
            <a:off x="82550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• Simplification du développement
• Modularité
• Intégration des modèles IA</a:t>
            </a:r>
          </a:p>
        </p:txBody>
      </p:sp>
    </p:spTree>
    <p:extLst>
      <p:ext uri="{BB962C8B-B14F-4D97-AF65-F5344CB8AC3E}">
        <p14:creationId xmlns:p14="http://schemas.microsoft.com/office/powerpoint/2010/main" val="3224583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AD6B-E87E-88FF-FE0F-D7F08DA96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772C10-781F-3D43-FBDC-A405FD0B5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Architecture globale du système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8B26910-FCE3-C444-B6E6-4F6A51C20B8C}"/>
              </a:ext>
            </a:extLst>
          </p:cNvPr>
          <p:cNvSpPr/>
          <p:nvPr/>
        </p:nvSpPr>
        <p:spPr>
          <a:xfrm>
            <a:off x="609600" y="304800"/>
            <a:ext cx="3556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60A5FA"/>
                </a:solidFill>
                <a:latin typeface="Inter"/>
              </a:rPr>
              <a:t>04 · COMPRÉHENSION DU SYSTÈME RAG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CBDB3DF-E04F-CC42-B504-185D88A75A9C}"/>
              </a:ext>
            </a:extLst>
          </p:cNvPr>
          <p:cNvSpPr/>
          <p:nvPr/>
        </p:nvSpPr>
        <p:spPr>
          <a:xfrm>
            <a:off x="939800" y="2286000"/>
            <a:ext cx="1549400" cy="1397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A1801EE-A0D6-0F45-A177-BF084B81052F}"/>
              </a:ext>
            </a:extLst>
          </p:cNvPr>
          <p:cNvSpPr txBox="1"/>
          <p:nvPr/>
        </p:nvSpPr>
        <p:spPr>
          <a:xfrm>
            <a:off x="939800" y="2489200"/>
            <a:ext cx="15494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200" b="1">
                <a:solidFill>
                  <a:srgbClr val="60A5FA"/>
                </a:solidFill>
                <a:latin typeface="Inter"/>
              </a:rPr>
              <a:t>01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2A019B1-94D4-AF49-9597-AD3C6881CFE1}"/>
              </a:ext>
            </a:extLst>
          </p:cNvPr>
          <p:cNvSpPr txBox="1"/>
          <p:nvPr/>
        </p:nvSpPr>
        <p:spPr>
          <a:xfrm>
            <a:off x="1016000" y="29972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8FAFC"/>
                </a:solidFill>
                <a:latin typeface="Inter"/>
              </a:rPr>
              <a:t>Question</a:t>
            </a:r>
          </a:p>
        </p:txBody>
      </p:sp>
      <p:sp>
        <p:nvSpPr>
          <p:cNvPr id="10" name="Flèche vers la droite 9">
            <a:extLst>
              <a:ext uri="{FF2B5EF4-FFF2-40B4-BE49-F238E27FC236}">
                <a16:creationId xmlns:a16="http://schemas.microsoft.com/office/drawing/2014/main" id="{84361EA4-8896-754A-9BA3-7AE52B8EE687}"/>
              </a:ext>
            </a:extLst>
          </p:cNvPr>
          <p:cNvSpPr/>
          <p:nvPr/>
        </p:nvSpPr>
        <p:spPr>
          <a:xfrm>
            <a:off x="2514600" y="2882900"/>
            <a:ext cx="152400" cy="203200"/>
          </a:xfrm>
          <a:prstGeom prst="rightArrow">
            <a:avLst/>
          </a:prstGeom>
          <a:solidFill>
            <a:srgbClr val="4755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E508EBD-3B9D-CE40-A66C-532453B66056}"/>
              </a:ext>
            </a:extLst>
          </p:cNvPr>
          <p:cNvSpPr/>
          <p:nvPr/>
        </p:nvSpPr>
        <p:spPr>
          <a:xfrm>
            <a:off x="2692400" y="2286000"/>
            <a:ext cx="1549400" cy="1397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A5A1887-94E2-7349-B981-9865B21B7019}"/>
              </a:ext>
            </a:extLst>
          </p:cNvPr>
          <p:cNvSpPr txBox="1"/>
          <p:nvPr/>
        </p:nvSpPr>
        <p:spPr>
          <a:xfrm>
            <a:off x="2692400" y="2489200"/>
            <a:ext cx="15494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200" b="1">
                <a:solidFill>
                  <a:srgbClr val="A78BFA"/>
                </a:solidFill>
                <a:latin typeface="Inter"/>
              </a:rPr>
              <a:t>02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4724D4E-3AD4-8A43-B390-FBC8ABD2EED9}"/>
              </a:ext>
            </a:extLst>
          </p:cNvPr>
          <p:cNvSpPr txBox="1"/>
          <p:nvPr/>
        </p:nvSpPr>
        <p:spPr>
          <a:xfrm>
            <a:off x="2768600" y="29972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8FAFC"/>
                </a:solidFill>
                <a:latin typeface="Inter"/>
              </a:rPr>
              <a:t>Embedding</a:t>
            </a:r>
          </a:p>
        </p:txBody>
      </p:sp>
      <p:sp>
        <p:nvSpPr>
          <p:cNvPr id="14" name="Flèche vers la droite 13">
            <a:extLst>
              <a:ext uri="{FF2B5EF4-FFF2-40B4-BE49-F238E27FC236}">
                <a16:creationId xmlns:a16="http://schemas.microsoft.com/office/drawing/2014/main" id="{3268065A-06A5-2748-A3E5-F33EE9BAE379}"/>
              </a:ext>
            </a:extLst>
          </p:cNvPr>
          <p:cNvSpPr/>
          <p:nvPr/>
        </p:nvSpPr>
        <p:spPr>
          <a:xfrm>
            <a:off x="4267200" y="2882900"/>
            <a:ext cx="152400" cy="203200"/>
          </a:xfrm>
          <a:prstGeom prst="rightArrow">
            <a:avLst/>
          </a:prstGeom>
          <a:solidFill>
            <a:srgbClr val="4755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2FE5EB6-E2C8-6940-B63E-50649F05FD29}"/>
              </a:ext>
            </a:extLst>
          </p:cNvPr>
          <p:cNvSpPr/>
          <p:nvPr/>
        </p:nvSpPr>
        <p:spPr>
          <a:xfrm>
            <a:off x="4445000" y="2286000"/>
            <a:ext cx="1549400" cy="1397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8D81C97-3D4B-1848-9B7C-45A6A94CB52F}"/>
              </a:ext>
            </a:extLst>
          </p:cNvPr>
          <p:cNvSpPr txBox="1"/>
          <p:nvPr/>
        </p:nvSpPr>
        <p:spPr>
          <a:xfrm>
            <a:off x="4445000" y="2489200"/>
            <a:ext cx="15494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200" b="1">
                <a:solidFill>
                  <a:srgbClr val="22D3EE"/>
                </a:solidFill>
                <a:latin typeface="Inter"/>
              </a:rPr>
              <a:t>03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F4EDBEB-3DD7-6341-803A-DFC297F8018F}"/>
              </a:ext>
            </a:extLst>
          </p:cNvPr>
          <p:cNvSpPr txBox="1"/>
          <p:nvPr/>
        </p:nvSpPr>
        <p:spPr>
          <a:xfrm>
            <a:off x="4521200" y="29972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8FAFC"/>
                </a:solidFill>
                <a:latin typeface="Inter"/>
              </a:rPr>
              <a:t>Recherche FAISS</a:t>
            </a:r>
          </a:p>
        </p:txBody>
      </p:sp>
      <p:sp>
        <p:nvSpPr>
          <p:cNvPr id="18" name="Flèche vers la droite 17">
            <a:extLst>
              <a:ext uri="{FF2B5EF4-FFF2-40B4-BE49-F238E27FC236}">
                <a16:creationId xmlns:a16="http://schemas.microsoft.com/office/drawing/2014/main" id="{5F222A01-52BB-E441-83C9-AE7FD17B0BDC}"/>
              </a:ext>
            </a:extLst>
          </p:cNvPr>
          <p:cNvSpPr/>
          <p:nvPr/>
        </p:nvSpPr>
        <p:spPr>
          <a:xfrm>
            <a:off x="6019800" y="2882900"/>
            <a:ext cx="152400" cy="203200"/>
          </a:xfrm>
          <a:prstGeom prst="rightArrow">
            <a:avLst/>
          </a:prstGeom>
          <a:solidFill>
            <a:srgbClr val="4755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C31465C-14A4-C84C-B9CE-BA8A60A14F19}"/>
              </a:ext>
            </a:extLst>
          </p:cNvPr>
          <p:cNvSpPr/>
          <p:nvPr/>
        </p:nvSpPr>
        <p:spPr>
          <a:xfrm>
            <a:off x="6197600" y="2286000"/>
            <a:ext cx="1549400" cy="1397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1D8C519-23E3-524B-8D4A-2A61B804DC1B}"/>
              </a:ext>
            </a:extLst>
          </p:cNvPr>
          <p:cNvSpPr txBox="1"/>
          <p:nvPr/>
        </p:nvSpPr>
        <p:spPr>
          <a:xfrm>
            <a:off x="6197600" y="2489200"/>
            <a:ext cx="15494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200" b="1">
                <a:solidFill>
                  <a:srgbClr val="F472B6"/>
                </a:solidFill>
                <a:latin typeface="Inter"/>
              </a:rPr>
              <a:t>04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EAB935C-44F2-724C-8049-C0702A4F0D49}"/>
              </a:ext>
            </a:extLst>
          </p:cNvPr>
          <p:cNvSpPr txBox="1"/>
          <p:nvPr/>
        </p:nvSpPr>
        <p:spPr>
          <a:xfrm>
            <a:off x="6273800" y="29972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8FAFC"/>
                </a:solidFill>
                <a:latin typeface="Inter"/>
              </a:rPr>
              <a:t>Événements récupérés</a:t>
            </a:r>
          </a:p>
        </p:txBody>
      </p:sp>
      <p:sp>
        <p:nvSpPr>
          <p:cNvPr id="22" name="Flèche vers la droite 21">
            <a:extLst>
              <a:ext uri="{FF2B5EF4-FFF2-40B4-BE49-F238E27FC236}">
                <a16:creationId xmlns:a16="http://schemas.microsoft.com/office/drawing/2014/main" id="{A0C375B6-B980-3348-935A-60F22134E26A}"/>
              </a:ext>
            </a:extLst>
          </p:cNvPr>
          <p:cNvSpPr/>
          <p:nvPr/>
        </p:nvSpPr>
        <p:spPr>
          <a:xfrm>
            <a:off x="7772400" y="2882900"/>
            <a:ext cx="152400" cy="203200"/>
          </a:xfrm>
          <a:prstGeom prst="rightArrow">
            <a:avLst/>
          </a:prstGeom>
          <a:solidFill>
            <a:srgbClr val="4755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B4591A9-1A33-4445-8910-61A8A63E0160}"/>
              </a:ext>
            </a:extLst>
          </p:cNvPr>
          <p:cNvSpPr/>
          <p:nvPr/>
        </p:nvSpPr>
        <p:spPr>
          <a:xfrm>
            <a:off x="7950200" y="2286000"/>
            <a:ext cx="1549400" cy="1397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03AC7A5-57D1-FC45-8B48-A7D6EE1D1868}"/>
              </a:ext>
            </a:extLst>
          </p:cNvPr>
          <p:cNvSpPr txBox="1"/>
          <p:nvPr/>
        </p:nvSpPr>
        <p:spPr>
          <a:xfrm>
            <a:off x="7950200" y="2489200"/>
            <a:ext cx="15494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200" b="1">
                <a:solidFill>
                  <a:srgbClr val="34D399"/>
                </a:solidFill>
                <a:latin typeface="Inter"/>
              </a:rPr>
              <a:t>05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4EA11CE-4A64-8F4F-A9A3-98A788E49482}"/>
              </a:ext>
            </a:extLst>
          </p:cNvPr>
          <p:cNvSpPr txBox="1"/>
          <p:nvPr/>
        </p:nvSpPr>
        <p:spPr>
          <a:xfrm>
            <a:off x="8026400" y="29972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8FAFC"/>
                </a:solidFill>
                <a:latin typeface="Inter"/>
              </a:rPr>
              <a:t>Mistral AI</a:t>
            </a:r>
          </a:p>
        </p:txBody>
      </p:sp>
      <p:sp>
        <p:nvSpPr>
          <p:cNvPr id="26" name="Flèche vers la droite 25">
            <a:extLst>
              <a:ext uri="{FF2B5EF4-FFF2-40B4-BE49-F238E27FC236}">
                <a16:creationId xmlns:a16="http://schemas.microsoft.com/office/drawing/2014/main" id="{5EDDFAAA-5084-D348-A25D-CB105E8217E1}"/>
              </a:ext>
            </a:extLst>
          </p:cNvPr>
          <p:cNvSpPr/>
          <p:nvPr/>
        </p:nvSpPr>
        <p:spPr>
          <a:xfrm>
            <a:off x="9525000" y="2882900"/>
            <a:ext cx="152400" cy="203200"/>
          </a:xfrm>
          <a:prstGeom prst="rightArrow">
            <a:avLst/>
          </a:prstGeom>
          <a:solidFill>
            <a:srgbClr val="4755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39A3C6B8-A2BF-D04B-80F4-1021A0380C75}"/>
              </a:ext>
            </a:extLst>
          </p:cNvPr>
          <p:cNvSpPr/>
          <p:nvPr/>
        </p:nvSpPr>
        <p:spPr>
          <a:xfrm>
            <a:off x="9702800" y="2286000"/>
            <a:ext cx="1549400" cy="1397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D2AB86C-3806-7A49-B5F8-F8345456EE2C}"/>
              </a:ext>
            </a:extLst>
          </p:cNvPr>
          <p:cNvSpPr txBox="1"/>
          <p:nvPr/>
        </p:nvSpPr>
        <p:spPr>
          <a:xfrm>
            <a:off x="9702800" y="2489200"/>
            <a:ext cx="15494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200" b="1">
                <a:solidFill>
                  <a:srgbClr val="FBBF24"/>
                </a:solidFill>
                <a:latin typeface="Inter"/>
              </a:rPr>
              <a:t>06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C5EF63C-1065-5C4B-809F-C9A752BB4415}"/>
              </a:ext>
            </a:extLst>
          </p:cNvPr>
          <p:cNvSpPr txBox="1"/>
          <p:nvPr/>
        </p:nvSpPr>
        <p:spPr>
          <a:xfrm>
            <a:off x="9779000" y="29972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8FAFC"/>
                </a:solidFill>
                <a:latin typeface="Inter"/>
              </a:rPr>
              <a:t>Réponse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F662945-99C8-6E4C-9A94-74FFC02E8D10}"/>
              </a:ext>
            </a:extLst>
          </p:cNvPr>
          <p:cNvSpPr txBox="1"/>
          <p:nvPr/>
        </p:nvSpPr>
        <p:spPr>
          <a:xfrm>
            <a:off x="609600" y="4191000"/>
            <a:ext cx="127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60A5FA"/>
                </a:solidFill>
                <a:latin typeface="Inter"/>
              </a:rPr>
              <a:t>OBJECTIF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E1FD20F-C0B9-A246-8383-E5A3CED3AD04}"/>
              </a:ext>
            </a:extLst>
          </p:cNvPr>
          <p:cNvSpPr/>
          <p:nvPr/>
        </p:nvSpPr>
        <p:spPr>
          <a:xfrm>
            <a:off x="609600" y="4470400"/>
            <a:ext cx="508000" cy="3810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E918D2E-C9AB-C64B-BAB1-EE3CBBB8C7D1}"/>
              </a:ext>
            </a:extLst>
          </p:cNvPr>
          <p:cNvSpPr txBox="1"/>
          <p:nvPr/>
        </p:nvSpPr>
        <p:spPr>
          <a:xfrm>
            <a:off x="609600" y="4648200"/>
            <a:ext cx="10972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>
                <a:solidFill>
                  <a:srgbClr val="F8FAFC"/>
                </a:solidFill>
                <a:latin typeface="Inter"/>
              </a:rPr>
              <a:t>Combiner la recherche sémantique et l'intelligence artificielle pour fournir des recommandations pertinentes et naturelles.</a:t>
            </a:r>
          </a:p>
        </p:txBody>
      </p:sp>
    </p:spTree>
    <p:extLst>
      <p:ext uri="{BB962C8B-B14F-4D97-AF65-F5344CB8AC3E}">
        <p14:creationId xmlns:p14="http://schemas.microsoft.com/office/powerpoint/2010/main" val="1600280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8BE80-88A3-0517-761F-487D3F4E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D63E4F-2DA1-45C2-7508-97347FCF9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Collecte des événements culturels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26C33512-AFAF-1541-93E6-DDCA40B46824}"/>
              </a:ext>
            </a:extLst>
          </p:cNvPr>
          <p:cNvSpPr/>
          <p:nvPr/>
        </p:nvSpPr>
        <p:spPr>
          <a:xfrm>
            <a:off x="609600" y="304800"/>
            <a:ext cx="2540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22D3EE"/>
                </a:solidFill>
                <a:latin typeface="Inter"/>
              </a:rPr>
              <a:t>05 · DONNÉES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8D57204-7B16-F14B-8152-B81AA48632C3}"/>
              </a:ext>
            </a:extLst>
          </p:cNvPr>
          <p:cNvSpPr/>
          <p:nvPr/>
        </p:nvSpPr>
        <p:spPr>
          <a:xfrm>
            <a:off x="609600" y="1778000"/>
            <a:ext cx="3581400" cy="2794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7FEC90B-8DFC-EC4D-8EFF-267364B1398C}"/>
              </a:ext>
            </a:extLst>
          </p:cNvPr>
          <p:cNvSpPr txBox="1"/>
          <p:nvPr/>
        </p:nvSpPr>
        <p:spPr>
          <a:xfrm>
            <a:off x="863600" y="20320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22D3EE"/>
                </a:solidFill>
                <a:latin typeface="Inter"/>
              </a:rPr>
              <a:t>SOURCE DES DONNÉES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240126-A81E-E948-8689-D74D4FCC8E9A}"/>
              </a:ext>
            </a:extLst>
          </p:cNvPr>
          <p:cNvSpPr/>
          <p:nvPr/>
        </p:nvSpPr>
        <p:spPr>
          <a:xfrm>
            <a:off x="863600" y="2362200"/>
            <a:ext cx="508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E03EAF0-FD94-F841-87D0-055264E7598F}"/>
              </a:ext>
            </a:extLst>
          </p:cNvPr>
          <p:cNvSpPr txBox="1"/>
          <p:nvPr/>
        </p:nvSpPr>
        <p:spPr>
          <a:xfrm>
            <a:off x="863600" y="2590800"/>
            <a:ext cx="30734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• API OpenAgenda
• 1000 agendas culturels récupérés
• Extraction automatique des événements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96B60C9-4C07-CD43-AA72-A7347821B256}"/>
              </a:ext>
            </a:extLst>
          </p:cNvPr>
          <p:cNvSpPr/>
          <p:nvPr/>
        </p:nvSpPr>
        <p:spPr>
          <a:xfrm>
            <a:off x="4419600" y="1778000"/>
            <a:ext cx="3352800" cy="2794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08C3186-B3C9-BB42-99BA-B09247E6F01E}"/>
              </a:ext>
            </a:extLst>
          </p:cNvPr>
          <p:cNvSpPr txBox="1"/>
          <p:nvPr/>
        </p:nvSpPr>
        <p:spPr>
          <a:xfrm>
            <a:off x="4673600" y="2032000"/>
            <a:ext cx="28448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34D399"/>
                </a:solidFill>
                <a:latin typeface="Inter"/>
              </a:rPr>
              <a:t>RÉSULTAT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02C680-7880-0C49-AAFE-2642520B77AA}"/>
              </a:ext>
            </a:extLst>
          </p:cNvPr>
          <p:cNvSpPr/>
          <p:nvPr/>
        </p:nvSpPr>
        <p:spPr>
          <a:xfrm>
            <a:off x="4673600" y="2362200"/>
            <a:ext cx="508000" cy="381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9A8B368-2A33-5749-BEB2-9C67D38CFEAE}"/>
              </a:ext>
            </a:extLst>
          </p:cNvPr>
          <p:cNvSpPr txBox="1"/>
          <p:nvPr/>
        </p:nvSpPr>
        <p:spPr>
          <a:xfrm>
            <a:off x="4673600" y="2540000"/>
            <a:ext cx="2844800" cy="889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5200" b="1">
                <a:solidFill>
                  <a:srgbClr val="F8FAFC"/>
                </a:solidFill>
                <a:latin typeface="Inter"/>
              </a:rPr>
              <a:t>208 010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B0C3951-65EB-FE44-80D0-BB32056496A4}"/>
              </a:ext>
            </a:extLst>
          </p:cNvPr>
          <p:cNvSpPr txBox="1"/>
          <p:nvPr/>
        </p:nvSpPr>
        <p:spPr>
          <a:xfrm>
            <a:off x="4673600" y="3429000"/>
            <a:ext cx="28448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événements collectés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14DFCFE-15BC-5A46-8383-CBC19D9DD957}"/>
              </a:ext>
            </a:extLst>
          </p:cNvPr>
          <p:cNvSpPr txBox="1"/>
          <p:nvPr/>
        </p:nvSpPr>
        <p:spPr>
          <a:xfrm>
            <a:off x="4673600" y="3911600"/>
            <a:ext cx="2844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34D399"/>
                </a:solidFill>
                <a:latin typeface="Courier New"/>
                <a:cs typeface="Courier New"/>
              </a:rPr>
              <a:t>evenements_openagenda_france_brut.csv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12E310F-9318-BE4E-9730-8DAC2F196481}"/>
              </a:ext>
            </a:extLst>
          </p:cNvPr>
          <p:cNvSpPr/>
          <p:nvPr/>
        </p:nvSpPr>
        <p:spPr>
          <a:xfrm>
            <a:off x="8001000" y="1778000"/>
            <a:ext cx="3581400" cy="2794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153F707-C06C-3749-A652-4F668716A92B}"/>
              </a:ext>
            </a:extLst>
          </p:cNvPr>
          <p:cNvSpPr txBox="1"/>
          <p:nvPr/>
        </p:nvSpPr>
        <p:spPr>
          <a:xfrm>
            <a:off x="82550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A78BFA"/>
                </a:solidFill>
                <a:latin typeface="Inter"/>
              </a:rPr>
              <a:t>INFORMATIONS COLLECTÉES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E467EC-4DC4-7D4F-8387-429B1CEEA9AB}"/>
              </a:ext>
            </a:extLst>
          </p:cNvPr>
          <p:cNvSpPr/>
          <p:nvPr/>
        </p:nvSpPr>
        <p:spPr>
          <a:xfrm>
            <a:off x="8255000" y="2362200"/>
            <a:ext cx="508000" cy="38100"/>
          </a:xfrm>
          <a:prstGeom prst="rect">
            <a:avLst/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EE23BE96-B67D-BD41-878F-003299EB4AC6}"/>
              </a:ext>
            </a:extLst>
          </p:cNvPr>
          <p:cNvSpPr/>
          <p:nvPr/>
        </p:nvSpPr>
        <p:spPr>
          <a:xfrm>
            <a:off x="8255000" y="2565400"/>
            <a:ext cx="673100" cy="304800"/>
          </a:xfrm>
          <a:prstGeom prst="roundRect">
            <a:avLst/>
          </a:prstGeom>
          <a:solidFill>
            <a:srgbClr val="0F172A"/>
          </a:solidFill>
          <a:ln w="6350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>
                <a:solidFill>
                  <a:srgbClr val="CBD5E1"/>
                </a:solidFill>
                <a:latin typeface="Inter"/>
              </a:rPr>
              <a:t>Titre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C0DA8609-0EC6-D54B-97BB-EFD1EFABC82C}"/>
              </a:ext>
            </a:extLst>
          </p:cNvPr>
          <p:cNvSpPr/>
          <p:nvPr/>
        </p:nvSpPr>
        <p:spPr>
          <a:xfrm>
            <a:off x="9004300" y="2565400"/>
            <a:ext cx="1206500" cy="304800"/>
          </a:xfrm>
          <a:prstGeom prst="roundRect">
            <a:avLst/>
          </a:prstGeom>
          <a:solidFill>
            <a:srgbClr val="0F172A"/>
          </a:solidFill>
          <a:ln w="6350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>
                <a:solidFill>
                  <a:srgbClr val="CBD5E1"/>
                </a:solidFill>
                <a:latin typeface="Inter"/>
              </a:rPr>
              <a:t>Description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2A8499FB-3B26-6A46-ADAB-84C2327753E6}"/>
              </a:ext>
            </a:extLst>
          </p:cNvPr>
          <p:cNvSpPr/>
          <p:nvPr/>
        </p:nvSpPr>
        <p:spPr>
          <a:xfrm>
            <a:off x="10287000" y="2565400"/>
            <a:ext cx="584200" cy="304800"/>
          </a:xfrm>
          <a:prstGeom prst="roundRect">
            <a:avLst/>
          </a:prstGeom>
          <a:solidFill>
            <a:srgbClr val="0F172A"/>
          </a:solidFill>
          <a:ln w="6350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>
                <a:solidFill>
                  <a:srgbClr val="CBD5E1"/>
                </a:solidFill>
                <a:latin typeface="Inter"/>
              </a:rPr>
              <a:t>Date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F1610A6-B981-EA41-9059-549D09BFDD3D}"/>
              </a:ext>
            </a:extLst>
          </p:cNvPr>
          <p:cNvSpPr/>
          <p:nvPr/>
        </p:nvSpPr>
        <p:spPr>
          <a:xfrm>
            <a:off x="8255000" y="2946400"/>
            <a:ext cx="584200" cy="304800"/>
          </a:xfrm>
          <a:prstGeom prst="roundRect">
            <a:avLst/>
          </a:prstGeom>
          <a:solidFill>
            <a:srgbClr val="0F172A"/>
          </a:solidFill>
          <a:ln w="6350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>
                <a:solidFill>
                  <a:srgbClr val="CBD5E1"/>
                </a:solidFill>
                <a:latin typeface="Inter"/>
              </a:rPr>
              <a:t>Lieu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7622FBA-8241-EA4C-BB71-B60B69CE7464}"/>
              </a:ext>
            </a:extLst>
          </p:cNvPr>
          <p:cNvSpPr/>
          <p:nvPr/>
        </p:nvSpPr>
        <p:spPr>
          <a:xfrm>
            <a:off x="8915400" y="2946400"/>
            <a:ext cx="673100" cy="304800"/>
          </a:xfrm>
          <a:prstGeom prst="roundRect">
            <a:avLst/>
          </a:prstGeom>
          <a:solidFill>
            <a:srgbClr val="0F172A"/>
          </a:solidFill>
          <a:ln w="6350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>
                <a:solidFill>
                  <a:srgbClr val="CBD5E1"/>
                </a:solidFill>
                <a:latin typeface="Inter"/>
              </a:rPr>
              <a:t>Ville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D5D9CB6-0695-054A-9DF1-825E7CD9839C}"/>
              </a:ext>
            </a:extLst>
          </p:cNvPr>
          <p:cNvSpPr/>
          <p:nvPr/>
        </p:nvSpPr>
        <p:spPr>
          <a:xfrm>
            <a:off x="9664700" y="2946400"/>
            <a:ext cx="495300" cy="304800"/>
          </a:xfrm>
          <a:prstGeom prst="roundRect">
            <a:avLst/>
          </a:prstGeom>
          <a:solidFill>
            <a:srgbClr val="0F172A"/>
          </a:solidFill>
          <a:ln w="6350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>
                <a:solidFill>
                  <a:srgbClr val="CBD5E1"/>
                </a:solidFill>
                <a:latin typeface="Inter"/>
              </a:rPr>
              <a:t>GPS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7D2F977E-827C-F644-AF97-F99A4A02FD98}"/>
              </a:ext>
            </a:extLst>
          </p:cNvPr>
          <p:cNvSpPr/>
          <p:nvPr/>
        </p:nvSpPr>
        <p:spPr>
          <a:xfrm>
            <a:off x="10236200" y="2946400"/>
            <a:ext cx="584200" cy="304800"/>
          </a:xfrm>
          <a:prstGeom prst="roundRect">
            <a:avLst/>
          </a:prstGeom>
          <a:solidFill>
            <a:srgbClr val="0F172A"/>
          </a:solidFill>
          <a:ln w="6350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>
                <a:solidFill>
                  <a:srgbClr val="CBD5E1"/>
                </a:solidFill>
                <a:latin typeface="Inter"/>
              </a:rPr>
              <a:t>Type</a:t>
            </a:r>
          </a:p>
        </p:txBody>
      </p:sp>
    </p:spTree>
    <p:extLst>
      <p:ext uri="{BB962C8B-B14F-4D97-AF65-F5344CB8AC3E}">
        <p14:creationId xmlns:p14="http://schemas.microsoft.com/office/powerpoint/2010/main" val="3391719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77377-0CCB-A810-5470-8FBDC2E67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5C7CFA-1F02-6329-DCD6-D8287717F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Nettoyage et prétraitement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7F65722-864E-A04D-B061-A19164BC2AB3}"/>
              </a:ext>
            </a:extLst>
          </p:cNvPr>
          <p:cNvSpPr/>
          <p:nvPr/>
        </p:nvSpPr>
        <p:spPr>
          <a:xfrm>
            <a:off x="609600" y="304800"/>
            <a:ext cx="2540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22D3EE"/>
                </a:solidFill>
                <a:latin typeface="Inter"/>
              </a:rPr>
              <a:t>05 · DONNÉES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D7F82FE-6DFB-4C47-BC90-1D07F1E33075}"/>
              </a:ext>
            </a:extLst>
          </p:cNvPr>
          <p:cNvSpPr/>
          <p:nvPr/>
        </p:nvSpPr>
        <p:spPr>
          <a:xfrm>
            <a:off x="609600" y="2540000"/>
            <a:ext cx="2133600" cy="2794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EA883DC-760B-674C-A4C5-A2DE1F86977D}"/>
              </a:ext>
            </a:extLst>
          </p:cNvPr>
          <p:cNvSpPr/>
          <p:nvPr/>
        </p:nvSpPr>
        <p:spPr>
          <a:xfrm>
            <a:off x="1320800" y="2844800"/>
            <a:ext cx="711200" cy="711200"/>
          </a:xfrm>
          <a:prstGeom prst="ellipse">
            <a:avLst/>
          </a:prstGeom>
          <a:solidFill>
            <a:srgbClr val="0F172A"/>
          </a:solidFill>
          <a:ln w="12700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000" b="1">
                <a:solidFill>
                  <a:srgbClr val="60A5FA"/>
                </a:solidFill>
                <a:latin typeface="Inter"/>
              </a:rPr>
              <a:t>01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8E5CCEF-7981-5B4E-AF95-81EAF2A6E629}"/>
              </a:ext>
            </a:extLst>
          </p:cNvPr>
          <p:cNvSpPr txBox="1"/>
          <p:nvPr/>
        </p:nvSpPr>
        <p:spPr>
          <a:xfrm>
            <a:off x="787400" y="3810000"/>
            <a:ext cx="177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F8FAFC"/>
                </a:solidFill>
                <a:latin typeface="Inter"/>
              </a:rPr>
              <a:t>Suppression des colonnes inutiles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83ACB4E-CE6E-2040-86C1-5BBBA41EFA3F}"/>
              </a:ext>
            </a:extLst>
          </p:cNvPr>
          <p:cNvSpPr/>
          <p:nvPr/>
        </p:nvSpPr>
        <p:spPr>
          <a:xfrm>
            <a:off x="2844800" y="2540000"/>
            <a:ext cx="2133600" cy="2794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FE091B4-8838-904E-9F0E-C48C262D436E}"/>
              </a:ext>
            </a:extLst>
          </p:cNvPr>
          <p:cNvSpPr/>
          <p:nvPr/>
        </p:nvSpPr>
        <p:spPr>
          <a:xfrm>
            <a:off x="3556000" y="2844800"/>
            <a:ext cx="711200" cy="711200"/>
          </a:xfrm>
          <a:prstGeom prst="ellipse">
            <a:avLst/>
          </a:prstGeom>
          <a:solidFill>
            <a:srgbClr val="0F172A"/>
          </a:solidFill>
          <a:ln w="12700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000" b="1">
                <a:solidFill>
                  <a:srgbClr val="A78BFA"/>
                </a:solidFill>
                <a:latin typeface="Inter"/>
              </a:rPr>
              <a:t>02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7A3D375-E184-E246-A305-AEF94DD0247F}"/>
              </a:ext>
            </a:extLst>
          </p:cNvPr>
          <p:cNvSpPr txBox="1"/>
          <p:nvPr/>
        </p:nvSpPr>
        <p:spPr>
          <a:xfrm>
            <a:off x="3022600" y="3810000"/>
            <a:ext cx="177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F8FAFC"/>
                </a:solidFill>
                <a:latin typeface="Inter"/>
              </a:rPr>
              <a:t>Gestion des valeurs manquantes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6B82EDD-BCE7-544A-BA05-EC7E1A83919B}"/>
              </a:ext>
            </a:extLst>
          </p:cNvPr>
          <p:cNvSpPr/>
          <p:nvPr/>
        </p:nvSpPr>
        <p:spPr>
          <a:xfrm>
            <a:off x="5080000" y="2540000"/>
            <a:ext cx="2133600" cy="2794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672CA4E-FFEB-814C-9E12-4FEF2F85366B}"/>
              </a:ext>
            </a:extLst>
          </p:cNvPr>
          <p:cNvSpPr/>
          <p:nvPr/>
        </p:nvSpPr>
        <p:spPr>
          <a:xfrm>
            <a:off x="5791200" y="2844800"/>
            <a:ext cx="711200" cy="711200"/>
          </a:xfrm>
          <a:prstGeom prst="ellipse">
            <a:avLst/>
          </a:prstGeom>
          <a:solidFill>
            <a:srgbClr val="0F172A"/>
          </a:solidFill>
          <a:ln w="12700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000" b="1">
                <a:solidFill>
                  <a:srgbClr val="22D3EE"/>
                </a:solidFill>
                <a:latin typeface="Inter"/>
              </a:rPr>
              <a:t>03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6C5EF28-8DBD-E34D-9818-75C26504F35E}"/>
              </a:ext>
            </a:extLst>
          </p:cNvPr>
          <p:cNvSpPr txBox="1"/>
          <p:nvPr/>
        </p:nvSpPr>
        <p:spPr>
          <a:xfrm>
            <a:off x="5257800" y="3810000"/>
            <a:ext cx="177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F8FAFC"/>
                </a:solidFill>
                <a:latin typeface="Inter"/>
              </a:rPr>
              <a:t>Suppression des doublons (event_uid)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E561C1D0-E5A7-274B-98E4-43A41BD37DCD}"/>
              </a:ext>
            </a:extLst>
          </p:cNvPr>
          <p:cNvSpPr/>
          <p:nvPr/>
        </p:nvSpPr>
        <p:spPr>
          <a:xfrm>
            <a:off x="7315200" y="2540000"/>
            <a:ext cx="2133600" cy="2794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E230458-2DD1-D44A-AC50-20CD5227F0FD}"/>
              </a:ext>
            </a:extLst>
          </p:cNvPr>
          <p:cNvSpPr/>
          <p:nvPr/>
        </p:nvSpPr>
        <p:spPr>
          <a:xfrm>
            <a:off x="8026400" y="2844800"/>
            <a:ext cx="711200" cy="711200"/>
          </a:xfrm>
          <a:prstGeom prst="ellipse">
            <a:avLst/>
          </a:prstGeom>
          <a:solidFill>
            <a:srgbClr val="0F172A"/>
          </a:solidFill>
          <a:ln w="12700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000" b="1">
                <a:solidFill>
                  <a:srgbClr val="34D399"/>
                </a:solidFill>
                <a:latin typeface="Inter"/>
              </a:rPr>
              <a:t>04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FE84699-ACD7-F04E-8CD4-887059E7FD72}"/>
              </a:ext>
            </a:extLst>
          </p:cNvPr>
          <p:cNvSpPr txBox="1"/>
          <p:nvPr/>
        </p:nvSpPr>
        <p:spPr>
          <a:xfrm>
            <a:off x="7493000" y="3810000"/>
            <a:ext cx="177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F8FAFC"/>
                </a:solidFill>
                <a:latin typeface="Inter"/>
              </a:rPr>
              <a:t>Conversion des dates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29AC1B-EC8F-1346-981B-BBA186EF02D0}"/>
              </a:ext>
            </a:extLst>
          </p:cNvPr>
          <p:cNvSpPr/>
          <p:nvPr/>
        </p:nvSpPr>
        <p:spPr>
          <a:xfrm>
            <a:off x="9550400" y="2540000"/>
            <a:ext cx="2133600" cy="2794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6F650BA5-C391-1443-AD6E-FB1E23B7233F}"/>
              </a:ext>
            </a:extLst>
          </p:cNvPr>
          <p:cNvSpPr/>
          <p:nvPr/>
        </p:nvSpPr>
        <p:spPr>
          <a:xfrm>
            <a:off x="10261600" y="2844800"/>
            <a:ext cx="711200" cy="711200"/>
          </a:xfrm>
          <a:prstGeom prst="ellipse">
            <a:avLst/>
          </a:prstGeom>
          <a:solidFill>
            <a:srgbClr val="0F172A"/>
          </a:solidFill>
          <a:ln w="12700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000" b="1">
                <a:solidFill>
                  <a:srgbClr val="FBBF24"/>
                </a:solidFill>
                <a:latin typeface="Inter"/>
              </a:rPr>
              <a:t>05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8E69987-2F5C-5848-93DD-E8110F289205}"/>
              </a:ext>
            </a:extLst>
          </p:cNvPr>
          <p:cNvSpPr txBox="1"/>
          <p:nvPr/>
        </p:nvSpPr>
        <p:spPr>
          <a:xfrm>
            <a:off x="9728200" y="3810000"/>
            <a:ext cx="177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F8FAFC"/>
                </a:solidFill>
                <a:latin typeface="Inter"/>
              </a:rPr>
              <a:t>Vérification des champs texte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666A757-0F75-A240-95A4-6E232E43AD4A}"/>
              </a:ext>
            </a:extLst>
          </p:cNvPr>
          <p:cNvSpPr txBox="1"/>
          <p:nvPr/>
        </p:nvSpPr>
        <p:spPr>
          <a:xfrm>
            <a:off x="609600" y="1828800"/>
            <a:ext cx="10972800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>
                <a:solidFill>
                  <a:srgbClr val="94A3B8"/>
                </a:solidFill>
                <a:latin typeface="Inter"/>
              </a:rPr>
              <a:t>5 traitements appliqués aux données brutes</a:t>
            </a:r>
          </a:p>
        </p:txBody>
      </p:sp>
    </p:spTree>
    <p:extLst>
      <p:ext uri="{BB962C8B-B14F-4D97-AF65-F5344CB8AC3E}">
        <p14:creationId xmlns:p14="http://schemas.microsoft.com/office/powerpoint/2010/main" val="2023731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0AEDE-7895-4ACF-DFA0-361CD4A2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1BB260-2F3E-7475-E8EF-5330B825E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Génération des embeddings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BC52AAB-757C-564F-BBA4-D7CBA0E85A36}"/>
              </a:ext>
            </a:extLst>
          </p:cNvPr>
          <p:cNvSpPr/>
          <p:nvPr/>
        </p:nvSpPr>
        <p:spPr>
          <a:xfrm>
            <a:off x="609600" y="304800"/>
            <a:ext cx="2540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22D3EE"/>
                </a:solidFill>
                <a:latin typeface="Inter"/>
              </a:rPr>
              <a:t>05 · DONNÉES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F9F1EF9-A065-E949-B5AC-5D5FD28B87B0}"/>
              </a:ext>
            </a:extLst>
          </p:cNvPr>
          <p:cNvSpPr/>
          <p:nvPr/>
        </p:nvSpPr>
        <p:spPr>
          <a:xfrm>
            <a:off x="6096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23E72EF-2325-C34C-A486-B5313D8C55C3}"/>
              </a:ext>
            </a:extLst>
          </p:cNvPr>
          <p:cNvSpPr txBox="1"/>
          <p:nvPr/>
        </p:nvSpPr>
        <p:spPr>
          <a:xfrm>
            <a:off x="8636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60A5FA"/>
                </a:solidFill>
                <a:latin typeface="Inter"/>
              </a:rPr>
              <a:t>OBJECTIF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0B2E53-FB8E-554F-9407-BC6CD515AD93}"/>
              </a:ext>
            </a:extLst>
          </p:cNvPr>
          <p:cNvSpPr/>
          <p:nvPr/>
        </p:nvSpPr>
        <p:spPr>
          <a:xfrm>
            <a:off x="863600" y="2362200"/>
            <a:ext cx="508000" cy="3810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78707FA-86F3-4C4D-B9FC-4E51E1C635AB}"/>
              </a:ext>
            </a:extLst>
          </p:cNvPr>
          <p:cNvSpPr txBox="1"/>
          <p:nvPr/>
        </p:nvSpPr>
        <p:spPr>
          <a:xfrm>
            <a:off x="8636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Vectorisation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008CED3-4E9C-564A-BA70-D19A696086CC}"/>
              </a:ext>
            </a:extLst>
          </p:cNvPr>
          <p:cNvSpPr txBox="1"/>
          <p:nvPr/>
        </p:nvSpPr>
        <p:spPr>
          <a:xfrm>
            <a:off x="8636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Transformer chaque événement en représentation vectorielle.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CCA15DE-45B3-814A-ABC1-41C56711662D}"/>
              </a:ext>
            </a:extLst>
          </p:cNvPr>
          <p:cNvSpPr/>
          <p:nvPr/>
        </p:nvSpPr>
        <p:spPr>
          <a:xfrm>
            <a:off x="43053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2729848-5060-C24A-9907-BE9A1863C865}"/>
              </a:ext>
            </a:extLst>
          </p:cNvPr>
          <p:cNvSpPr txBox="1"/>
          <p:nvPr/>
        </p:nvSpPr>
        <p:spPr>
          <a:xfrm>
            <a:off x="45593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A78BFA"/>
                </a:solidFill>
                <a:latin typeface="Inter"/>
              </a:rPr>
              <a:t>MÉTHODE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A2607B-3303-984C-924E-DEE7AD624468}"/>
              </a:ext>
            </a:extLst>
          </p:cNvPr>
          <p:cNvSpPr/>
          <p:nvPr/>
        </p:nvSpPr>
        <p:spPr>
          <a:xfrm>
            <a:off x="4559300" y="2362200"/>
            <a:ext cx="508000" cy="38100"/>
          </a:xfrm>
          <a:prstGeom prst="rect">
            <a:avLst/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9D04FF9-3236-EC4D-BE24-F94ADE53DFEB}"/>
              </a:ext>
            </a:extLst>
          </p:cNvPr>
          <p:cNvSpPr txBox="1"/>
          <p:nvPr/>
        </p:nvSpPr>
        <p:spPr>
          <a:xfrm>
            <a:off x="45593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Pipeline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F26B65B-3880-4843-BF95-799FA328F2AA}"/>
              </a:ext>
            </a:extLst>
          </p:cNvPr>
          <p:cNvSpPr txBox="1"/>
          <p:nvPr/>
        </p:nvSpPr>
        <p:spPr>
          <a:xfrm>
            <a:off x="45593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• Fusion titre + description
• Modèle mistral-embed
• Traitement par lots de 32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6D33B6A3-CE5D-6C46-8280-ABECD9657B10}"/>
              </a:ext>
            </a:extLst>
          </p:cNvPr>
          <p:cNvSpPr/>
          <p:nvPr/>
        </p:nvSpPr>
        <p:spPr>
          <a:xfrm>
            <a:off x="80010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C3E40A7-4FF7-FE49-ADDB-46C8A2BE7ABC}"/>
              </a:ext>
            </a:extLst>
          </p:cNvPr>
          <p:cNvSpPr txBox="1"/>
          <p:nvPr/>
        </p:nvSpPr>
        <p:spPr>
          <a:xfrm>
            <a:off x="82550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34D399"/>
                </a:solidFill>
                <a:latin typeface="Inter"/>
              </a:rPr>
              <a:t>RÉSULTAT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185B03-FE8A-3742-8B3D-AFAD52EEF52C}"/>
              </a:ext>
            </a:extLst>
          </p:cNvPr>
          <p:cNvSpPr/>
          <p:nvPr/>
        </p:nvSpPr>
        <p:spPr>
          <a:xfrm>
            <a:off x="8255000" y="2362200"/>
            <a:ext cx="508000" cy="381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D419C90-43ED-4E4B-BEC1-5F0E44A5F525}"/>
              </a:ext>
            </a:extLst>
          </p:cNvPr>
          <p:cNvSpPr txBox="1"/>
          <p:nvPr/>
        </p:nvSpPr>
        <p:spPr>
          <a:xfrm>
            <a:off x="82550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Vecteurs créés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380855E-62AF-DA44-905D-6983E4427AFA}"/>
              </a:ext>
            </a:extLst>
          </p:cNvPr>
          <p:cNvSpPr txBox="1"/>
          <p:nvPr/>
        </p:nvSpPr>
        <p:spPr>
          <a:xfrm>
            <a:off x="82550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• Un vecteur par événement
• Sauvegarde dans evenements_openagenda_embeddings.pkl</a:t>
            </a:r>
          </a:p>
        </p:txBody>
      </p:sp>
    </p:spTree>
    <p:extLst>
      <p:ext uri="{BB962C8B-B14F-4D97-AF65-F5344CB8AC3E}">
        <p14:creationId xmlns:p14="http://schemas.microsoft.com/office/powerpoint/2010/main" val="3365591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371DD-B46F-51B0-5644-B0D521D79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43229E-115C-7039-083A-AD1CC30CB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Création de la base vectorielle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AB33712-B678-AB4A-95E1-A01F95AA4D4E}"/>
              </a:ext>
            </a:extLst>
          </p:cNvPr>
          <p:cNvSpPr/>
          <p:nvPr/>
        </p:nvSpPr>
        <p:spPr>
          <a:xfrm>
            <a:off x="609600" y="304800"/>
            <a:ext cx="3048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472B6"/>
                </a:solidFill>
                <a:latin typeface="Inter"/>
              </a:rPr>
              <a:t>06 · CONSTRUCTION DU CHATBOT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3FB659C-B91F-7945-9E04-71716703CC44}"/>
              </a:ext>
            </a:extLst>
          </p:cNvPr>
          <p:cNvSpPr/>
          <p:nvPr/>
        </p:nvSpPr>
        <p:spPr>
          <a:xfrm>
            <a:off x="6096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1DA4F58-B66B-8048-A7A8-3D907479D731}"/>
              </a:ext>
            </a:extLst>
          </p:cNvPr>
          <p:cNvSpPr txBox="1"/>
          <p:nvPr/>
        </p:nvSpPr>
        <p:spPr>
          <a:xfrm>
            <a:off x="8636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472B6"/>
                </a:solidFill>
                <a:latin typeface="Inter"/>
              </a:rPr>
              <a:t>OBJECTIF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4D1CB1-CECF-DA40-9049-2EDD16BC5F78}"/>
              </a:ext>
            </a:extLst>
          </p:cNvPr>
          <p:cNvSpPr/>
          <p:nvPr/>
        </p:nvSpPr>
        <p:spPr>
          <a:xfrm>
            <a:off x="863600" y="2362200"/>
            <a:ext cx="508000" cy="38100"/>
          </a:xfrm>
          <a:prstGeom prst="rect">
            <a:avLst/>
          </a:prstGeom>
          <a:solidFill>
            <a:srgbClr val="F472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E579F4F-1740-894E-90A5-8E21B4F1D9CF}"/>
              </a:ext>
            </a:extLst>
          </p:cNvPr>
          <p:cNvSpPr txBox="1"/>
          <p:nvPr/>
        </p:nvSpPr>
        <p:spPr>
          <a:xfrm>
            <a:off x="8636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Indexer les embeddings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212A513-0064-EE40-AFC8-55677958A2D6}"/>
              </a:ext>
            </a:extLst>
          </p:cNvPr>
          <p:cNvSpPr txBox="1"/>
          <p:nvPr/>
        </p:nvSpPr>
        <p:spPr>
          <a:xfrm>
            <a:off x="8636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Créer une base FAISS permettant la recherche rapide par similarité sémantique.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175613E-F81F-A64E-85E8-98581445D0F7}"/>
              </a:ext>
            </a:extLst>
          </p:cNvPr>
          <p:cNvSpPr/>
          <p:nvPr/>
        </p:nvSpPr>
        <p:spPr>
          <a:xfrm>
            <a:off x="43053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C337022-348D-A74E-91DB-A8CBD654A2BA}"/>
              </a:ext>
            </a:extLst>
          </p:cNvPr>
          <p:cNvSpPr txBox="1"/>
          <p:nvPr/>
        </p:nvSpPr>
        <p:spPr>
          <a:xfrm>
            <a:off x="45593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A78BFA"/>
                </a:solidFill>
                <a:latin typeface="Inter"/>
              </a:rPr>
              <a:t>ÉTAPES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4BF80E-AB2F-B54A-B272-5E2F7DFA2842}"/>
              </a:ext>
            </a:extLst>
          </p:cNvPr>
          <p:cNvSpPr/>
          <p:nvPr/>
        </p:nvSpPr>
        <p:spPr>
          <a:xfrm>
            <a:off x="4559300" y="2362200"/>
            <a:ext cx="508000" cy="38100"/>
          </a:xfrm>
          <a:prstGeom prst="rect">
            <a:avLst/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24820D5-E480-7140-90B8-532A79FDE12D}"/>
              </a:ext>
            </a:extLst>
          </p:cNvPr>
          <p:cNvSpPr txBox="1"/>
          <p:nvPr/>
        </p:nvSpPr>
        <p:spPr>
          <a:xfrm>
            <a:off x="45593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Construction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827D324-9C88-C641-B1AD-BE2C1A6387AE}"/>
              </a:ext>
            </a:extLst>
          </p:cNvPr>
          <p:cNvSpPr txBox="1"/>
          <p:nvPr/>
        </p:nvSpPr>
        <p:spPr>
          <a:xfrm>
            <a:off x="45593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• Chargement des embeddings
• Création de l'index FAISS
• Sauvegarde de l'index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69022E0B-70DC-7B4D-A0A8-8F7ED43BC44C}"/>
              </a:ext>
            </a:extLst>
          </p:cNvPr>
          <p:cNvSpPr/>
          <p:nvPr/>
        </p:nvSpPr>
        <p:spPr>
          <a:xfrm>
            <a:off x="8001000" y="1778000"/>
            <a:ext cx="3581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A967CFB-CA19-4C4D-B881-02511F559786}"/>
              </a:ext>
            </a:extLst>
          </p:cNvPr>
          <p:cNvSpPr txBox="1"/>
          <p:nvPr/>
        </p:nvSpPr>
        <p:spPr>
          <a:xfrm>
            <a:off x="8255000" y="2032000"/>
            <a:ext cx="3073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34D399"/>
                </a:solidFill>
                <a:latin typeface="Inter"/>
              </a:rPr>
              <a:t>RÉSULTAT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D85D88-078D-CA48-B577-9593D72C599E}"/>
              </a:ext>
            </a:extLst>
          </p:cNvPr>
          <p:cNvSpPr/>
          <p:nvPr/>
        </p:nvSpPr>
        <p:spPr>
          <a:xfrm>
            <a:off x="8255000" y="2362200"/>
            <a:ext cx="508000" cy="381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3B56F95-914E-E845-87A5-FB0010A9A1C7}"/>
              </a:ext>
            </a:extLst>
          </p:cNvPr>
          <p:cNvSpPr txBox="1"/>
          <p:nvPr/>
        </p:nvSpPr>
        <p:spPr>
          <a:xfrm>
            <a:off x="8255000" y="2540000"/>
            <a:ext cx="3073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8FAFC"/>
                </a:solidFill>
                <a:latin typeface="Inter"/>
              </a:rPr>
              <a:t>Base prête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B2E6350-0F1D-C84F-A71A-648A0F5D46EA}"/>
              </a:ext>
            </a:extLst>
          </p:cNvPr>
          <p:cNvSpPr txBox="1"/>
          <p:nvPr/>
        </p:nvSpPr>
        <p:spPr>
          <a:xfrm>
            <a:off x="8255000" y="3175000"/>
            <a:ext cx="30734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• Index FAISS opérationnel
• Recherche en quelques millisecondes
• Prêt pour la recherche sémantique</a:t>
            </a:r>
          </a:p>
        </p:txBody>
      </p:sp>
    </p:spTree>
    <p:extLst>
      <p:ext uri="{BB962C8B-B14F-4D97-AF65-F5344CB8AC3E}">
        <p14:creationId xmlns:p14="http://schemas.microsoft.com/office/powerpoint/2010/main" val="499561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39C2B-B5E4-9350-2084-1F043B7BD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B47AC7-E369-4599-A38F-3CA65FCCE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Mise en place de la recherche sémantique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4A0EB64-AE48-094A-AB9E-F90A87FC8A90}"/>
              </a:ext>
            </a:extLst>
          </p:cNvPr>
          <p:cNvSpPr/>
          <p:nvPr/>
        </p:nvSpPr>
        <p:spPr>
          <a:xfrm>
            <a:off x="609600" y="304800"/>
            <a:ext cx="3048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472B6"/>
                </a:solidFill>
                <a:latin typeface="Inter"/>
              </a:rPr>
              <a:t>06 · CONSTRUCTION DU CHATBOT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79BCB42-7245-6440-8303-1EEE0E7B3CA1}"/>
              </a:ext>
            </a:extLst>
          </p:cNvPr>
          <p:cNvSpPr txBox="1"/>
          <p:nvPr/>
        </p:nvSpPr>
        <p:spPr>
          <a:xfrm>
            <a:off x="609600" y="1651000"/>
            <a:ext cx="254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472B6"/>
                </a:solidFill>
                <a:latin typeface="Inter"/>
              </a:rPr>
              <a:t>FONCTIONNEMENT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345DAB7-B240-A140-ABF8-162D35B92EF2}"/>
              </a:ext>
            </a:extLst>
          </p:cNvPr>
          <p:cNvSpPr/>
          <p:nvPr/>
        </p:nvSpPr>
        <p:spPr>
          <a:xfrm>
            <a:off x="609600" y="2032000"/>
            <a:ext cx="2476500" cy="1651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CD15DED-29E4-5A43-81BC-F1D091419A7E}"/>
              </a:ext>
            </a:extLst>
          </p:cNvPr>
          <p:cNvSpPr txBox="1"/>
          <p:nvPr/>
        </p:nvSpPr>
        <p:spPr>
          <a:xfrm>
            <a:off x="812800" y="2209800"/>
            <a:ext cx="4064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400" b="1">
                <a:solidFill>
                  <a:srgbClr val="60A5FA"/>
                </a:solidFill>
                <a:latin typeface="Inter"/>
              </a:rPr>
              <a:t>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1E690D4-D71A-8047-B72C-05F9D0AB0E3E}"/>
              </a:ext>
            </a:extLst>
          </p:cNvPr>
          <p:cNvSpPr txBox="1"/>
          <p:nvPr/>
        </p:nvSpPr>
        <p:spPr>
          <a:xfrm>
            <a:off x="812800" y="2692400"/>
            <a:ext cx="20701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600" b="1">
                <a:solidFill>
                  <a:srgbClr val="F8FAFC"/>
                </a:solidFill>
                <a:latin typeface="Inter"/>
              </a:rPr>
              <a:t>Question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F382BE3-ED78-524D-9681-DC409B9D37DA}"/>
              </a:ext>
            </a:extLst>
          </p:cNvPr>
          <p:cNvSpPr txBox="1"/>
          <p:nvPr/>
        </p:nvSpPr>
        <p:spPr>
          <a:xfrm>
            <a:off x="812800" y="3073400"/>
            <a:ext cx="20701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BD5E1"/>
                </a:solidFill>
                <a:latin typeface="Inter"/>
              </a:rPr>
              <a:t>L'utilisateur pose une question</a:t>
            </a:r>
          </a:p>
        </p:txBody>
      </p:sp>
      <p:sp>
        <p:nvSpPr>
          <p:cNvPr id="12" name="Flèche vers la droite 11">
            <a:extLst>
              <a:ext uri="{FF2B5EF4-FFF2-40B4-BE49-F238E27FC236}">
                <a16:creationId xmlns:a16="http://schemas.microsoft.com/office/drawing/2014/main" id="{F02C12F7-CCE3-674E-813B-1F77FCA177DD}"/>
              </a:ext>
            </a:extLst>
          </p:cNvPr>
          <p:cNvSpPr/>
          <p:nvPr/>
        </p:nvSpPr>
        <p:spPr>
          <a:xfrm>
            <a:off x="3136900" y="2755900"/>
            <a:ext cx="203200" cy="203200"/>
          </a:xfrm>
          <a:prstGeom prst="rightArrow">
            <a:avLst/>
          </a:prstGeom>
          <a:solidFill>
            <a:srgbClr val="4755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2C245CA-3A41-C94C-9B19-B04851BC7DA6}"/>
              </a:ext>
            </a:extLst>
          </p:cNvPr>
          <p:cNvSpPr/>
          <p:nvPr/>
        </p:nvSpPr>
        <p:spPr>
          <a:xfrm>
            <a:off x="3390900" y="2032000"/>
            <a:ext cx="2476500" cy="1651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E8C78AA-711D-A844-8A1E-E8EFE2A19C80}"/>
              </a:ext>
            </a:extLst>
          </p:cNvPr>
          <p:cNvSpPr txBox="1"/>
          <p:nvPr/>
        </p:nvSpPr>
        <p:spPr>
          <a:xfrm>
            <a:off x="3594100" y="2209800"/>
            <a:ext cx="4064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400" b="1">
                <a:solidFill>
                  <a:srgbClr val="A78BFA"/>
                </a:solidFill>
                <a:latin typeface="Inter"/>
              </a:rPr>
              <a:t>2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49ECB4B-2AD1-4F43-B571-F9127F8BFBC6}"/>
              </a:ext>
            </a:extLst>
          </p:cNvPr>
          <p:cNvSpPr txBox="1"/>
          <p:nvPr/>
        </p:nvSpPr>
        <p:spPr>
          <a:xfrm>
            <a:off x="3594100" y="2692400"/>
            <a:ext cx="20701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600" b="1">
                <a:solidFill>
                  <a:srgbClr val="F8FAFC"/>
                </a:solidFill>
                <a:latin typeface="Inter"/>
              </a:rPr>
              <a:t>Embedding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76A756C-386D-1448-851F-D9F4FBE95DE8}"/>
              </a:ext>
            </a:extLst>
          </p:cNvPr>
          <p:cNvSpPr txBox="1"/>
          <p:nvPr/>
        </p:nvSpPr>
        <p:spPr>
          <a:xfrm>
            <a:off x="3594100" y="3073400"/>
            <a:ext cx="20701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BD5E1"/>
                </a:solidFill>
                <a:latin typeface="Inter"/>
              </a:rPr>
              <a:t>Transformée en vecteur</a:t>
            </a:r>
          </a:p>
        </p:txBody>
      </p:sp>
      <p:sp>
        <p:nvSpPr>
          <p:cNvPr id="17" name="Flèche vers la droite 16">
            <a:extLst>
              <a:ext uri="{FF2B5EF4-FFF2-40B4-BE49-F238E27FC236}">
                <a16:creationId xmlns:a16="http://schemas.microsoft.com/office/drawing/2014/main" id="{DF67D7C9-54DC-0845-B0CA-119417A088D8}"/>
              </a:ext>
            </a:extLst>
          </p:cNvPr>
          <p:cNvSpPr/>
          <p:nvPr/>
        </p:nvSpPr>
        <p:spPr>
          <a:xfrm>
            <a:off x="5918200" y="2755900"/>
            <a:ext cx="203200" cy="203200"/>
          </a:xfrm>
          <a:prstGeom prst="rightArrow">
            <a:avLst/>
          </a:prstGeom>
          <a:solidFill>
            <a:srgbClr val="4755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2EAD849-7C2A-5041-BE72-D3D1D00B97A8}"/>
              </a:ext>
            </a:extLst>
          </p:cNvPr>
          <p:cNvSpPr/>
          <p:nvPr/>
        </p:nvSpPr>
        <p:spPr>
          <a:xfrm>
            <a:off x="6172200" y="2032000"/>
            <a:ext cx="2476500" cy="1651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5B33E9A-B45D-3741-81FA-4FBC6EFEBB90}"/>
              </a:ext>
            </a:extLst>
          </p:cNvPr>
          <p:cNvSpPr txBox="1"/>
          <p:nvPr/>
        </p:nvSpPr>
        <p:spPr>
          <a:xfrm>
            <a:off x="6375400" y="2209800"/>
            <a:ext cx="4064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400" b="1">
                <a:solidFill>
                  <a:srgbClr val="22D3EE"/>
                </a:solidFill>
                <a:latin typeface="Inter"/>
              </a:rPr>
              <a:t>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CA5E71C-4BE9-0640-BE3B-14C1A0B08AE8}"/>
              </a:ext>
            </a:extLst>
          </p:cNvPr>
          <p:cNvSpPr txBox="1"/>
          <p:nvPr/>
        </p:nvSpPr>
        <p:spPr>
          <a:xfrm>
            <a:off x="6375400" y="2692400"/>
            <a:ext cx="20701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600" b="1">
                <a:solidFill>
                  <a:srgbClr val="F8FAFC"/>
                </a:solidFill>
                <a:latin typeface="Inter"/>
              </a:rPr>
              <a:t>Recherche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49A4F4E-9B14-A647-B7C6-D8F9C372FC34}"/>
              </a:ext>
            </a:extLst>
          </p:cNvPr>
          <p:cNvSpPr txBox="1"/>
          <p:nvPr/>
        </p:nvSpPr>
        <p:spPr>
          <a:xfrm>
            <a:off x="6375400" y="3073400"/>
            <a:ext cx="20701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BD5E1"/>
                </a:solidFill>
                <a:latin typeface="Inter"/>
              </a:rPr>
              <a:t>Top k événements proches</a:t>
            </a:r>
          </a:p>
        </p:txBody>
      </p:sp>
      <p:sp>
        <p:nvSpPr>
          <p:cNvPr id="22" name="Flèche vers la droite 21">
            <a:extLst>
              <a:ext uri="{FF2B5EF4-FFF2-40B4-BE49-F238E27FC236}">
                <a16:creationId xmlns:a16="http://schemas.microsoft.com/office/drawing/2014/main" id="{3B1EA3CA-4B2D-E44C-ACEF-76F707A79260}"/>
              </a:ext>
            </a:extLst>
          </p:cNvPr>
          <p:cNvSpPr/>
          <p:nvPr/>
        </p:nvSpPr>
        <p:spPr>
          <a:xfrm>
            <a:off x="8699500" y="2755900"/>
            <a:ext cx="203200" cy="203200"/>
          </a:xfrm>
          <a:prstGeom prst="rightArrow">
            <a:avLst/>
          </a:prstGeom>
          <a:solidFill>
            <a:srgbClr val="4755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05AD30B3-6A38-6C41-B17E-A5CF6C61EFFB}"/>
              </a:ext>
            </a:extLst>
          </p:cNvPr>
          <p:cNvSpPr/>
          <p:nvPr/>
        </p:nvSpPr>
        <p:spPr>
          <a:xfrm>
            <a:off x="8953500" y="2032000"/>
            <a:ext cx="2476500" cy="1651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B084B19-DA4B-FD4E-AC76-1631C478CF93}"/>
              </a:ext>
            </a:extLst>
          </p:cNvPr>
          <p:cNvSpPr txBox="1"/>
          <p:nvPr/>
        </p:nvSpPr>
        <p:spPr>
          <a:xfrm>
            <a:off x="9156700" y="2209800"/>
            <a:ext cx="4064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400" b="1">
                <a:solidFill>
                  <a:srgbClr val="34D399"/>
                </a:solidFill>
                <a:latin typeface="Inter"/>
              </a:rPr>
              <a:t>4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17B2CC8-E853-364B-A01C-ADFF2DBA7DBD}"/>
              </a:ext>
            </a:extLst>
          </p:cNvPr>
          <p:cNvSpPr txBox="1"/>
          <p:nvPr/>
        </p:nvSpPr>
        <p:spPr>
          <a:xfrm>
            <a:off x="9156700" y="2692400"/>
            <a:ext cx="20701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600" b="1">
                <a:solidFill>
                  <a:srgbClr val="F8FAFC"/>
                </a:solidFill>
                <a:latin typeface="Inter"/>
              </a:rPr>
              <a:t>Réponse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9CDBED9-FFEF-E54C-A866-DFE0227965D4}"/>
              </a:ext>
            </a:extLst>
          </p:cNvPr>
          <p:cNvSpPr txBox="1"/>
          <p:nvPr/>
        </p:nvSpPr>
        <p:spPr>
          <a:xfrm>
            <a:off x="9156700" y="3073400"/>
            <a:ext cx="20701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CBD5E1"/>
                </a:solidFill>
                <a:latin typeface="Inter"/>
              </a:rPr>
              <a:t>Événements pertinents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FDF8018-F5E4-334F-8521-9BE5DB70DF9A}"/>
              </a:ext>
            </a:extLst>
          </p:cNvPr>
          <p:cNvSpPr txBox="1"/>
          <p:nvPr/>
        </p:nvSpPr>
        <p:spPr>
          <a:xfrm>
            <a:off x="609600" y="3937000"/>
            <a:ext cx="254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BBF24"/>
                </a:solidFill>
                <a:latin typeface="Inter"/>
              </a:rPr>
              <a:t>EXEMPLE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510F6451-CD2E-364D-84A6-0F41D033B542}"/>
              </a:ext>
            </a:extLst>
          </p:cNvPr>
          <p:cNvSpPr/>
          <p:nvPr/>
        </p:nvSpPr>
        <p:spPr>
          <a:xfrm>
            <a:off x="609600" y="4292600"/>
            <a:ext cx="5397500" cy="1905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1DA9805-9117-194B-BF1A-FEBBF624FE94}"/>
              </a:ext>
            </a:extLst>
          </p:cNvPr>
          <p:cNvSpPr txBox="1"/>
          <p:nvPr/>
        </p:nvSpPr>
        <p:spPr>
          <a:xfrm>
            <a:off x="863600" y="4495800"/>
            <a:ext cx="48895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BBF24"/>
                </a:solidFill>
                <a:latin typeface="Inter"/>
              </a:rPr>
              <a:t>Question utilisateur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8DAB70D-43A5-B645-A4AD-5F87F78C915E}"/>
              </a:ext>
            </a:extLst>
          </p:cNvPr>
          <p:cNvSpPr txBox="1"/>
          <p:nvPr/>
        </p:nvSpPr>
        <p:spPr>
          <a:xfrm>
            <a:off x="863600" y="4927600"/>
            <a:ext cx="48895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i="1">
                <a:solidFill>
                  <a:srgbClr val="F8FAFC"/>
                </a:solidFill>
                <a:latin typeface="Inter"/>
              </a:rPr>
              <a:t>« Concert gratuit à Paris »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A61712DF-D1EB-AD41-A419-3B32EAE9A8EE}"/>
              </a:ext>
            </a:extLst>
          </p:cNvPr>
          <p:cNvSpPr/>
          <p:nvPr/>
        </p:nvSpPr>
        <p:spPr>
          <a:xfrm>
            <a:off x="6184900" y="4292600"/>
            <a:ext cx="5397500" cy="1905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20BFE506-9441-FF49-97EF-A168B32FAD63}"/>
              </a:ext>
            </a:extLst>
          </p:cNvPr>
          <p:cNvSpPr txBox="1"/>
          <p:nvPr/>
        </p:nvSpPr>
        <p:spPr>
          <a:xfrm>
            <a:off x="6438900" y="4495800"/>
            <a:ext cx="48895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34D399"/>
                </a:solidFill>
                <a:latin typeface="Inter"/>
              </a:rPr>
              <a:t>Résultat FAISS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B963F1D-4EF7-8044-8B67-3C061C410296}"/>
              </a:ext>
            </a:extLst>
          </p:cNvPr>
          <p:cNvSpPr txBox="1"/>
          <p:nvPr/>
        </p:nvSpPr>
        <p:spPr>
          <a:xfrm>
            <a:off x="6438900" y="4927600"/>
            <a:ext cx="48895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>
                <a:solidFill>
                  <a:srgbClr val="F8FAFC"/>
                </a:solidFill>
                <a:latin typeface="Inter"/>
              </a:rPr>
              <a:t>Top 5 événements les plus similaires sémantiquement</a:t>
            </a:r>
          </a:p>
        </p:txBody>
      </p:sp>
    </p:spTree>
    <p:extLst>
      <p:ext uri="{BB962C8B-B14F-4D97-AF65-F5344CB8AC3E}">
        <p14:creationId xmlns:p14="http://schemas.microsoft.com/office/powerpoint/2010/main" val="2578912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84644-B29D-511B-D2EC-D47C8E9E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2590B-0CDE-FCD1-FAD7-37897C958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200" b="1" dirty="0">
                <a:solidFill>
                  <a:srgbClr val="F8FAFC"/>
                </a:solidFill>
              </a:rPr>
              <a:t>Génération des réponses avec Mistral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B741AE4-3245-6447-8CDC-CA190D03DDFF}"/>
              </a:ext>
            </a:extLst>
          </p:cNvPr>
          <p:cNvSpPr/>
          <p:nvPr/>
        </p:nvSpPr>
        <p:spPr>
          <a:xfrm>
            <a:off x="609600" y="304800"/>
            <a:ext cx="3048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472B6"/>
                </a:solidFill>
                <a:latin typeface="Inter"/>
              </a:rPr>
              <a:t>06 · CONSTRUCTION DU CHATBOT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5429492-BDF3-6D40-AD77-6F5D88479D29}"/>
              </a:ext>
            </a:extLst>
          </p:cNvPr>
          <p:cNvSpPr txBox="1"/>
          <p:nvPr/>
        </p:nvSpPr>
        <p:spPr>
          <a:xfrm>
            <a:off x="609600" y="16510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A78BFA"/>
                </a:solidFill>
                <a:latin typeface="Inter"/>
              </a:rPr>
              <a:t>RÔLE DE MISTRAL AI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91B5571E-E2E0-584E-A5E6-281B06DF4EB3}"/>
              </a:ext>
            </a:extLst>
          </p:cNvPr>
          <p:cNvSpPr/>
          <p:nvPr/>
        </p:nvSpPr>
        <p:spPr>
          <a:xfrm>
            <a:off x="609600" y="2032000"/>
            <a:ext cx="3429000" cy="1270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1B3FBEA-F22F-CF41-8171-174CF4292B9E}"/>
              </a:ext>
            </a:extLst>
          </p:cNvPr>
          <p:cNvSpPr txBox="1"/>
          <p:nvPr/>
        </p:nvSpPr>
        <p:spPr>
          <a:xfrm>
            <a:off x="863600" y="2260600"/>
            <a:ext cx="457200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200" b="1">
                <a:solidFill>
                  <a:srgbClr val="60A5FA"/>
                </a:solidFill>
                <a:latin typeface="Inter"/>
              </a:rPr>
              <a:t>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0C5802B-D1E7-C547-A77E-9451800FB10F}"/>
              </a:ext>
            </a:extLst>
          </p:cNvPr>
          <p:cNvSpPr txBox="1"/>
          <p:nvPr/>
        </p:nvSpPr>
        <p:spPr>
          <a:xfrm>
            <a:off x="1422400" y="2438400"/>
            <a:ext cx="2489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F8FAFC"/>
                </a:solidFill>
                <a:latin typeface="Inter"/>
              </a:rPr>
              <a:t>Comprendre la question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2EE6305-5D27-3447-B836-7FEAF86927EC}"/>
              </a:ext>
            </a:extLst>
          </p:cNvPr>
          <p:cNvSpPr/>
          <p:nvPr/>
        </p:nvSpPr>
        <p:spPr>
          <a:xfrm>
            <a:off x="4343400" y="2032000"/>
            <a:ext cx="3429000" cy="1270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50FA972-5095-CA46-92A0-C43B76330D90}"/>
              </a:ext>
            </a:extLst>
          </p:cNvPr>
          <p:cNvSpPr txBox="1"/>
          <p:nvPr/>
        </p:nvSpPr>
        <p:spPr>
          <a:xfrm>
            <a:off x="4597400" y="2260600"/>
            <a:ext cx="457200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200" b="1">
                <a:solidFill>
                  <a:srgbClr val="A78BFA"/>
                </a:solidFill>
                <a:latin typeface="Inter"/>
              </a:rPr>
              <a:t>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434BFDE-C4D8-B349-B300-BE564EA9EFB9}"/>
              </a:ext>
            </a:extLst>
          </p:cNvPr>
          <p:cNvSpPr txBox="1"/>
          <p:nvPr/>
        </p:nvSpPr>
        <p:spPr>
          <a:xfrm>
            <a:off x="5156200" y="2438400"/>
            <a:ext cx="2489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F8FAFC"/>
                </a:solidFill>
                <a:latin typeface="Inter"/>
              </a:rPr>
              <a:t>Analyser les événements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5B5C0F0-8780-D749-BE65-FF67DFC761B9}"/>
              </a:ext>
            </a:extLst>
          </p:cNvPr>
          <p:cNvSpPr/>
          <p:nvPr/>
        </p:nvSpPr>
        <p:spPr>
          <a:xfrm>
            <a:off x="8077200" y="2032000"/>
            <a:ext cx="3429000" cy="1270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A5CF170-39CD-FF41-AC26-18375E182CAA}"/>
              </a:ext>
            </a:extLst>
          </p:cNvPr>
          <p:cNvSpPr txBox="1"/>
          <p:nvPr/>
        </p:nvSpPr>
        <p:spPr>
          <a:xfrm>
            <a:off x="8331200" y="2260600"/>
            <a:ext cx="457200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200" b="1">
                <a:solidFill>
                  <a:srgbClr val="F472B6"/>
                </a:solidFill>
                <a:latin typeface="Inter"/>
              </a:rPr>
              <a:t>3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511F545-6752-7E44-95CF-333990BF7269}"/>
              </a:ext>
            </a:extLst>
          </p:cNvPr>
          <p:cNvSpPr txBox="1"/>
          <p:nvPr/>
        </p:nvSpPr>
        <p:spPr>
          <a:xfrm>
            <a:off x="8890000" y="2438400"/>
            <a:ext cx="2489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F8FAFC"/>
                </a:solidFill>
                <a:latin typeface="Inter"/>
              </a:rPr>
              <a:t>Générer une réponse naturelle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CAAFBAF-07E2-C44F-A629-2327C21F3FD6}"/>
              </a:ext>
            </a:extLst>
          </p:cNvPr>
          <p:cNvSpPr txBox="1"/>
          <p:nvPr/>
        </p:nvSpPr>
        <p:spPr>
          <a:xfrm>
            <a:off x="609600" y="35560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BBF24"/>
                </a:solidFill>
                <a:latin typeface="Inter"/>
              </a:rPr>
              <a:t>EXEMPLE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1689420-5482-DC4B-A61C-3F2F069D778B}"/>
              </a:ext>
            </a:extLst>
          </p:cNvPr>
          <p:cNvSpPr/>
          <p:nvPr/>
        </p:nvSpPr>
        <p:spPr>
          <a:xfrm>
            <a:off x="609600" y="3911600"/>
            <a:ext cx="5397500" cy="2286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462C85E-B8B2-304D-905C-5E675CC64341}"/>
              </a:ext>
            </a:extLst>
          </p:cNvPr>
          <p:cNvSpPr txBox="1"/>
          <p:nvPr/>
        </p:nvSpPr>
        <p:spPr>
          <a:xfrm>
            <a:off x="863600" y="4114800"/>
            <a:ext cx="48895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BBF24"/>
                </a:solidFill>
                <a:latin typeface="Inter"/>
              </a:rPr>
              <a:t>Question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0E04736-90BB-CF47-9756-DE73E343A99D}"/>
              </a:ext>
            </a:extLst>
          </p:cNvPr>
          <p:cNvSpPr txBox="1"/>
          <p:nvPr/>
        </p:nvSpPr>
        <p:spPr>
          <a:xfrm>
            <a:off x="863600" y="4546600"/>
            <a:ext cx="4889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i="1">
                <a:solidFill>
                  <a:srgbClr val="F8FAFC"/>
                </a:solidFill>
                <a:latin typeface="Inter"/>
              </a:rPr>
              <a:t>« Quels concerts gratuits puis-je voir à Paris ? »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A8DC5F71-4DDB-DE4B-8E89-049A76EC9A52}"/>
              </a:ext>
            </a:extLst>
          </p:cNvPr>
          <p:cNvSpPr/>
          <p:nvPr/>
        </p:nvSpPr>
        <p:spPr>
          <a:xfrm>
            <a:off x="6184900" y="3911600"/>
            <a:ext cx="5397500" cy="2286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7B15842-6F2E-414B-8A6D-42ED49304995}"/>
              </a:ext>
            </a:extLst>
          </p:cNvPr>
          <p:cNvSpPr txBox="1"/>
          <p:nvPr/>
        </p:nvSpPr>
        <p:spPr>
          <a:xfrm>
            <a:off x="6438900" y="4114800"/>
            <a:ext cx="48895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34D399"/>
                </a:solidFill>
                <a:latin typeface="Inter"/>
              </a:rPr>
              <a:t>Réponse Mistral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4033E8C-F2E9-A042-897B-2C4F6A0C4FD9}"/>
              </a:ext>
            </a:extLst>
          </p:cNvPr>
          <p:cNvSpPr txBox="1"/>
          <p:nvPr/>
        </p:nvSpPr>
        <p:spPr>
          <a:xfrm>
            <a:off x="6438900" y="4546600"/>
            <a:ext cx="4889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F8FAFC"/>
                </a:solidFill>
                <a:latin typeface="Inter"/>
              </a:rPr>
              <a:t>Liste d'événements recommandés avec leurs informations principales : titre, date, lieu, description.</a:t>
            </a:r>
          </a:p>
        </p:txBody>
      </p:sp>
    </p:spTree>
    <p:extLst>
      <p:ext uri="{BB962C8B-B14F-4D97-AF65-F5344CB8AC3E}">
        <p14:creationId xmlns:p14="http://schemas.microsoft.com/office/powerpoint/2010/main" val="2380994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86FB8-F703-2FF3-D01C-B57AD4C10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3BDF4F-A901-2F84-1929-56A9AB998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Orchestration avec LangChain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DF14D91-678A-8949-8351-0376678951B0}"/>
              </a:ext>
            </a:extLst>
          </p:cNvPr>
          <p:cNvSpPr/>
          <p:nvPr/>
        </p:nvSpPr>
        <p:spPr>
          <a:xfrm>
            <a:off x="609600" y="304800"/>
            <a:ext cx="3048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472B6"/>
                </a:solidFill>
                <a:latin typeface="Inter"/>
              </a:rPr>
              <a:t>06 · CONSTRUCTION DU CHATBOT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7DBB41C-E4D7-4F41-B453-C92A76E70EB2}"/>
              </a:ext>
            </a:extLst>
          </p:cNvPr>
          <p:cNvSpPr/>
          <p:nvPr/>
        </p:nvSpPr>
        <p:spPr>
          <a:xfrm>
            <a:off x="609600" y="1778000"/>
            <a:ext cx="5359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145C28E-FD39-BD46-A575-D4DDB66E38FF}"/>
              </a:ext>
            </a:extLst>
          </p:cNvPr>
          <p:cNvSpPr txBox="1"/>
          <p:nvPr/>
        </p:nvSpPr>
        <p:spPr>
          <a:xfrm>
            <a:off x="914400" y="2057400"/>
            <a:ext cx="4826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200" b="1">
                <a:solidFill>
                  <a:srgbClr val="A78BFA"/>
                </a:solidFill>
                <a:latin typeface="Inter"/>
              </a:rPr>
              <a:t>RÔLE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9DE33A-A846-3F43-8355-45119F304A20}"/>
              </a:ext>
            </a:extLst>
          </p:cNvPr>
          <p:cNvSpPr/>
          <p:nvPr/>
        </p:nvSpPr>
        <p:spPr>
          <a:xfrm>
            <a:off x="914400" y="2438400"/>
            <a:ext cx="609600" cy="38100"/>
          </a:xfrm>
          <a:prstGeom prst="rect">
            <a:avLst/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1637059-ED1E-B24A-8B44-746885AC2632}"/>
              </a:ext>
            </a:extLst>
          </p:cNvPr>
          <p:cNvSpPr txBox="1"/>
          <p:nvPr/>
        </p:nvSpPr>
        <p:spPr>
          <a:xfrm>
            <a:off x="914400" y="2641600"/>
            <a:ext cx="482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600" b="1">
                <a:solidFill>
                  <a:srgbClr val="F8FAFC"/>
                </a:solidFill>
                <a:latin typeface="Inter"/>
              </a:rPr>
              <a:t>Orchestration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F93B506-0F7F-D34D-BE18-43DE852B088B}"/>
              </a:ext>
            </a:extLst>
          </p:cNvPr>
          <p:cNvSpPr txBox="1"/>
          <p:nvPr/>
        </p:nvSpPr>
        <p:spPr>
          <a:xfrm>
            <a:off x="914400" y="3302000"/>
            <a:ext cx="4826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CBD5E1"/>
                </a:solidFill>
                <a:latin typeface="Inter"/>
              </a:rPr>
              <a:t>• Connexion entre FAISS et Mistral
• Gestion du pipeline RAG
• Transmission du contexte au LLM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C9B72E8-1828-8241-9200-18A41A7CA835}"/>
              </a:ext>
            </a:extLst>
          </p:cNvPr>
          <p:cNvSpPr/>
          <p:nvPr/>
        </p:nvSpPr>
        <p:spPr>
          <a:xfrm>
            <a:off x="6223000" y="1778000"/>
            <a:ext cx="5359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D442987-D9C8-8346-95AE-F0FE134B92FC}"/>
              </a:ext>
            </a:extLst>
          </p:cNvPr>
          <p:cNvSpPr txBox="1"/>
          <p:nvPr/>
        </p:nvSpPr>
        <p:spPr>
          <a:xfrm>
            <a:off x="6527800" y="2057400"/>
            <a:ext cx="4826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200" b="1">
                <a:solidFill>
                  <a:srgbClr val="34D399"/>
                </a:solidFill>
                <a:latin typeface="Inter"/>
              </a:rPr>
              <a:t>AVANTAGES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0F2439-A4A3-4645-A76D-4133CB8D0E92}"/>
              </a:ext>
            </a:extLst>
          </p:cNvPr>
          <p:cNvSpPr/>
          <p:nvPr/>
        </p:nvSpPr>
        <p:spPr>
          <a:xfrm>
            <a:off x="6527800" y="2438400"/>
            <a:ext cx="609600" cy="381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FCE377A-5C08-E248-B5E3-2E29698B3812}"/>
              </a:ext>
            </a:extLst>
          </p:cNvPr>
          <p:cNvSpPr txBox="1"/>
          <p:nvPr/>
        </p:nvSpPr>
        <p:spPr>
          <a:xfrm>
            <a:off x="6527800" y="2641600"/>
            <a:ext cx="482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600" b="1">
                <a:solidFill>
                  <a:srgbClr val="F8FAFC"/>
                </a:solidFill>
                <a:latin typeface="Inter"/>
              </a:rPr>
              <a:t>Bénéfices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3FBD79C-DC63-114B-9ECD-40320A910FD7}"/>
              </a:ext>
            </a:extLst>
          </p:cNvPr>
          <p:cNvSpPr txBox="1"/>
          <p:nvPr/>
        </p:nvSpPr>
        <p:spPr>
          <a:xfrm>
            <a:off x="6527800" y="3302000"/>
            <a:ext cx="4826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CBD5E1"/>
                </a:solidFill>
                <a:latin typeface="Inter"/>
              </a:rPr>
              <a:t>• Modularité
• Simplification du développement
• Intégration des composants IA</a:t>
            </a:r>
          </a:p>
        </p:txBody>
      </p:sp>
    </p:spTree>
    <p:extLst>
      <p:ext uri="{BB962C8B-B14F-4D97-AF65-F5344CB8AC3E}">
        <p14:creationId xmlns:p14="http://schemas.microsoft.com/office/powerpoint/2010/main" val="658722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F2A1D-D279-95DB-BB14-E26FC8F6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B5E5B60E-443E-DAA0-3569-DDA11ACFA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778000"/>
            <a:ext cx="5105400" cy="431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AD6336D-ACC0-5864-6047-68FD320F3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Tests du chatbot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5D517FA-3E58-0540-BACC-990B87A5AE00}"/>
              </a:ext>
            </a:extLst>
          </p:cNvPr>
          <p:cNvSpPr/>
          <p:nvPr/>
        </p:nvSpPr>
        <p:spPr>
          <a:xfrm>
            <a:off x="609600" y="304800"/>
            <a:ext cx="2540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34D399"/>
                </a:solidFill>
                <a:latin typeface="Inter"/>
              </a:rPr>
              <a:t>07 · RÉSULTATS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7E76A78-B7E2-B04F-9184-216E59448670}"/>
              </a:ext>
            </a:extLst>
          </p:cNvPr>
          <p:cNvSpPr/>
          <p:nvPr/>
        </p:nvSpPr>
        <p:spPr>
          <a:xfrm>
            <a:off x="609600" y="1778000"/>
            <a:ext cx="56388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7B19299-784B-5A44-A854-E3118CF3577E}"/>
              </a:ext>
            </a:extLst>
          </p:cNvPr>
          <p:cNvSpPr txBox="1"/>
          <p:nvPr/>
        </p:nvSpPr>
        <p:spPr>
          <a:xfrm>
            <a:off x="863600" y="20066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BBF24"/>
                </a:solidFill>
                <a:latin typeface="Inter"/>
              </a:rPr>
              <a:t>QUESTION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D30663F-21C0-DD48-B6F5-56F7B38AE1F6}"/>
              </a:ext>
            </a:extLst>
          </p:cNvPr>
          <p:cNvSpPr txBox="1"/>
          <p:nvPr/>
        </p:nvSpPr>
        <p:spPr>
          <a:xfrm>
            <a:off x="863600" y="2336800"/>
            <a:ext cx="5080000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000" i="1">
                <a:solidFill>
                  <a:srgbClr val="F8FAFC"/>
                </a:solidFill>
                <a:latin typeface="Inter"/>
              </a:rPr>
              <a:t>« Concert gratuit à Paris »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741540D-2186-5745-AD7F-175B5E7B986A}"/>
              </a:ext>
            </a:extLst>
          </p:cNvPr>
          <p:cNvSpPr txBox="1"/>
          <p:nvPr/>
        </p:nvSpPr>
        <p:spPr>
          <a:xfrm>
            <a:off x="863600" y="29464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34D399"/>
                </a:solidFill>
                <a:latin typeface="Inter"/>
              </a:rPr>
              <a:t>TOP 5 RÉSULTATS FAISS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88CDB9A-B916-7640-81B0-E6296F4D1948}"/>
              </a:ext>
            </a:extLst>
          </p:cNvPr>
          <p:cNvSpPr/>
          <p:nvPr/>
        </p:nvSpPr>
        <p:spPr>
          <a:xfrm>
            <a:off x="863600" y="3276600"/>
            <a:ext cx="304800" cy="3048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A8DB8D3-EDEC-CF49-B500-771BBB5C1C2C}"/>
              </a:ext>
            </a:extLst>
          </p:cNvPr>
          <p:cNvSpPr txBox="1"/>
          <p:nvPr/>
        </p:nvSpPr>
        <p:spPr>
          <a:xfrm>
            <a:off x="1295400" y="3302000"/>
            <a:ext cx="4699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Concert La parade &amp; Laelou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2EFB30B-B108-AB4C-8D28-A0A88904C6C2}"/>
              </a:ext>
            </a:extLst>
          </p:cNvPr>
          <p:cNvSpPr/>
          <p:nvPr/>
        </p:nvSpPr>
        <p:spPr>
          <a:xfrm>
            <a:off x="863600" y="3759200"/>
            <a:ext cx="304800" cy="3048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2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5FCC807-12A8-5649-B6C2-9394B5CDA67A}"/>
              </a:ext>
            </a:extLst>
          </p:cNvPr>
          <p:cNvSpPr txBox="1"/>
          <p:nvPr/>
        </p:nvSpPr>
        <p:spPr>
          <a:xfrm>
            <a:off x="1295400" y="3784600"/>
            <a:ext cx="4699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Concert Fraternité l'Écoute de la rue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D44919B8-C05B-B940-880F-70674D914F32}"/>
              </a:ext>
            </a:extLst>
          </p:cNvPr>
          <p:cNvSpPr/>
          <p:nvPr/>
        </p:nvSpPr>
        <p:spPr>
          <a:xfrm>
            <a:off x="863600" y="4241800"/>
            <a:ext cx="304800" cy="3048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E26B148-E73C-EE46-880B-1FC32EB14CA4}"/>
              </a:ext>
            </a:extLst>
          </p:cNvPr>
          <p:cNvSpPr txBox="1"/>
          <p:nvPr/>
        </p:nvSpPr>
        <p:spPr>
          <a:xfrm>
            <a:off x="1295400" y="4267200"/>
            <a:ext cx="4699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Concert – Mille Chœurs pour un Regard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D05F030F-8374-4D42-AE21-A240BDE659B8}"/>
              </a:ext>
            </a:extLst>
          </p:cNvPr>
          <p:cNvSpPr/>
          <p:nvPr/>
        </p:nvSpPr>
        <p:spPr>
          <a:xfrm>
            <a:off x="863600" y="4724400"/>
            <a:ext cx="304800" cy="3048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4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12178BD-1FF6-894E-B79F-94A060353140}"/>
              </a:ext>
            </a:extLst>
          </p:cNvPr>
          <p:cNvSpPr txBox="1"/>
          <p:nvPr/>
        </p:nvSpPr>
        <p:spPr>
          <a:xfrm>
            <a:off x="1295400" y="4749800"/>
            <a:ext cx="4699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Concert des Lauréats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05F9DD0-06DF-B54A-9722-C95D53C0EC67}"/>
              </a:ext>
            </a:extLst>
          </p:cNvPr>
          <p:cNvSpPr/>
          <p:nvPr/>
        </p:nvSpPr>
        <p:spPr>
          <a:xfrm>
            <a:off x="863600" y="5207000"/>
            <a:ext cx="304800" cy="3048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5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D3CB9DC-87B2-0D4C-A8DA-2F4BAF1BC2B3}"/>
              </a:ext>
            </a:extLst>
          </p:cNvPr>
          <p:cNvSpPr txBox="1"/>
          <p:nvPr/>
        </p:nvSpPr>
        <p:spPr>
          <a:xfrm>
            <a:off x="1295400" y="5232400"/>
            <a:ext cx="4699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Concert pluridisciplinaire</a:t>
            </a:r>
          </a:p>
        </p:txBody>
      </p:sp>
    </p:spTree>
    <p:extLst>
      <p:ext uri="{BB962C8B-B14F-4D97-AF65-F5344CB8AC3E}">
        <p14:creationId xmlns:p14="http://schemas.microsoft.com/office/powerpoint/2010/main" val="886692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06F9-050D-37B3-BD67-8A854393C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C44FADDA-B761-85DF-DA10-B43C717FD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778000"/>
            <a:ext cx="5105400" cy="431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973957B-4A1F-4FE6-4A17-DB574F054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/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Exemples de recommandations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6673DE5-473C-0D44-8D00-B51BA5891E46}"/>
              </a:ext>
            </a:extLst>
          </p:cNvPr>
          <p:cNvSpPr/>
          <p:nvPr/>
        </p:nvSpPr>
        <p:spPr>
          <a:xfrm>
            <a:off x="609600" y="304800"/>
            <a:ext cx="2540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34D399"/>
                </a:solidFill>
                <a:latin typeface="Inter"/>
              </a:rPr>
              <a:t>07 · RÉSULTATS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B163EEA-3A59-F04F-9B4C-C2DBA6BCAA81}"/>
              </a:ext>
            </a:extLst>
          </p:cNvPr>
          <p:cNvSpPr/>
          <p:nvPr/>
        </p:nvSpPr>
        <p:spPr>
          <a:xfrm>
            <a:off x="609600" y="1778000"/>
            <a:ext cx="5638800" cy="1397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7A70A9D-40E5-9344-BB4E-3D5B41D54974}"/>
              </a:ext>
            </a:extLst>
          </p:cNvPr>
          <p:cNvSpPr txBox="1"/>
          <p:nvPr/>
        </p:nvSpPr>
        <p:spPr>
          <a:xfrm>
            <a:off x="863600" y="20066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BBF24"/>
                </a:solidFill>
                <a:latin typeface="Inter"/>
              </a:rPr>
              <a:t>QUESTION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AC3004C-ADF7-9847-9D57-CFF4B66E2F5A}"/>
              </a:ext>
            </a:extLst>
          </p:cNvPr>
          <p:cNvSpPr txBox="1"/>
          <p:nvPr/>
        </p:nvSpPr>
        <p:spPr>
          <a:xfrm>
            <a:off x="863600" y="2362200"/>
            <a:ext cx="5080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i="1">
                <a:solidFill>
                  <a:srgbClr val="F8FAFC"/>
                </a:solidFill>
                <a:latin typeface="Inter"/>
              </a:rPr>
              <a:t>« Événement pour enfants »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3F22E91-8782-D041-AC30-2A06EB638CF5}"/>
              </a:ext>
            </a:extLst>
          </p:cNvPr>
          <p:cNvSpPr txBox="1"/>
          <p:nvPr/>
        </p:nvSpPr>
        <p:spPr>
          <a:xfrm>
            <a:off x="609600" y="3327400"/>
            <a:ext cx="56388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34D399"/>
                </a:solidFill>
                <a:latin typeface="Inter"/>
              </a:rPr>
              <a:t>TOP 5 RECOMMANDATIONS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530C9A6-2D71-2B4B-8663-BD3B9E77B226}"/>
              </a:ext>
            </a:extLst>
          </p:cNvPr>
          <p:cNvSpPr/>
          <p:nvPr/>
        </p:nvSpPr>
        <p:spPr>
          <a:xfrm>
            <a:off x="609600" y="3683000"/>
            <a:ext cx="304800" cy="3048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CC71CEB-E290-6242-B1FC-C21B499B174F}"/>
              </a:ext>
            </a:extLst>
          </p:cNvPr>
          <p:cNvSpPr txBox="1"/>
          <p:nvPr/>
        </p:nvSpPr>
        <p:spPr>
          <a:xfrm>
            <a:off x="1041400" y="3708400"/>
            <a:ext cx="5207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Café des enfants — Cie Les Enfants Sérieux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DF295D8-5DB8-F243-908F-29BE6AACB729}"/>
              </a:ext>
            </a:extLst>
          </p:cNvPr>
          <p:cNvSpPr/>
          <p:nvPr/>
        </p:nvSpPr>
        <p:spPr>
          <a:xfrm>
            <a:off x="609600" y="4165600"/>
            <a:ext cx="304800" cy="3048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2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7B10D8E-AE03-1444-A8B4-5AB43650C8F4}"/>
              </a:ext>
            </a:extLst>
          </p:cNvPr>
          <p:cNvSpPr txBox="1"/>
          <p:nvPr/>
        </p:nvSpPr>
        <p:spPr>
          <a:xfrm>
            <a:off x="1041400" y="4191000"/>
            <a:ext cx="5207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Café des enfants — Cie La Concordance des temps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9DBEA14-896C-D64D-BB1C-D86E8C26C178}"/>
              </a:ext>
            </a:extLst>
          </p:cNvPr>
          <p:cNvSpPr/>
          <p:nvPr/>
        </p:nvSpPr>
        <p:spPr>
          <a:xfrm>
            <a:off x="609600" y="4648200"/>
            <a:ext cx="304800" cy="3048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12A5F37-2B17-054B-8571-65B0A4C75E1D}"/>
              </a:ext>
            </a:extLst>
          </p:cNvPr>
          <p:cNvSpPr txBox="1"/>
          <p:nvPr/>
        </p:nvSpPr>
        <p:spPr>
          <a:xfrm>
            <a:off x="1041400" y="4673600"/>
            <a:ext cx="5207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Le Café des enfants — Cie Têtes de mules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538DE6-A1CE-C343-A278-6B8A7A2FFE0F}"/>
              </a:ext>
            </a:extLst>
          </p:cNvPr>
          <p:cNvSpPr/>
          <p:nvPr/>
        </p:nvSpPr>
        <p:spPr>
          <a:xfrm>
            <a:off x="609600" y="5130800"/>
            <a:ext cx="304800" cy="3048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4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5B9A5A0-6323-D14D-BAB2-ABCCF59E34A6}"/>
              </a:ext>
            </a:extLst>
          </p:cNvPr>
          <p:cNvSpPr txBox="1"/>
          <p:nvPr/>
        </p:nvSpPr>
        <p:spPr>
          <a:xfrm>
            <a:off x="1041400" y="5156200"/>
            <a:ext cx="5207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Le Café des enfants — Compagnie LIB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2FF8F93-0267-804C-A25F-F9AC5CEF7303}"/>
              </a:ext>
            </a:extLst>
          </p:cNvPr>
          <p:cNvSpPr/>
          <p:nvPr/>
        </p:nvSpPr>
        <p:spPr>
          <a:xfrm>
            <a:off x="609600" y="5613400"/>
            <a:ext cx="304800" cy="3048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5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CE03251-A53E-5248-B67E-91F19A6F2C44}"/>
              </a:ext>
            </a:extLst>
          </p:cNvPr>
          <p:cNvSpPr txBox="1"/>
          <p:nvPr/>
        </p:nvSpPr>
        <p:spPr>
          <a:xfrm>
            <a:off x="1041400" y="5638800"/>
            <a:ext cx="5207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Café des enfants — Compagnie Songes</a:t>
            </a:r>
          </a:p>
        </p:txBody>
      </p:sp>
    </p:spTree>
    <p:extLst>
      <p:ext uri="{BB962C8B-B14F-4D97-AF65-F5344CB8AC3E}">
        <p14:creationId xmlns:p14="http://schemas.microsoft.com/office/powerpoint/2010/main" val="3534226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C341E-E7FA-2EE6-974B-04A70B97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F8F135-A03E-786C-09F4-0FD2CB17F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Évaluation des réponses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FCB264B-D1AC-F649-A3FD-20142389D1E8}"/>
              </a:ext>
            </a:extLst>
          </p:cNvPr>
          <p:cNvSpPr/>
          <p:nvPr/>
        </p:nvSpPr>
        <p:spPr>
          <a:xfrm>
            <a:off x="609600" y="304800"/>
            <a:ext cx="2540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34D399"/>
                </a:solidFill>
                <a:latin typeface="Inter"/>
              </a:rPr>
              <a:t>07 · RÉSULTATS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3E4A444-C245-584E-86CB-DA4BF8D4CA2D}"/>
              </a:ext>
            </a:extLst>
          </p:cNvPr>
          <p:cNvSpPr/>
          <p:nvPr/>
        </p:nvSpPr>
        <p:spPr>
          <a:xfrm>
            <a:off x="609600" y="1778000"/>
            <a:ext cx="5486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EA59F2C-0827-AA4A-9F64-F8F2E6DF1EEA}"/>
              </a:ext>
            </a:extLst>
          </p:cNvPr>
          <p:cNvSpPr txBox="1"/>
          <p:nvPr/>
        </p:nvSpPr>
        <p:spPr>
          <a:xfrm>
            <a:off x="914400" y="2057400"/>
            <a:ext cx="48768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200" b="1">
                <a:solidFill>
                  <a:srgbClr val="60A5FA"/>
                </a:solidFill>
                <a:latin typeface="Inter"/>
              </a:rPr>
              <a:t>CRITÈRES ÉVALUÉS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095D70-41BA-FD46-BE59-B7335B267716}"/>
              </a:ext>
            </a:extLst>
          </p:cNvPr>
          <p:cNvSpPr/>
          <p:nvPr/>
        </p:nvSpPr>
        <p:spPr>
          <a:xfrm>
            <a:off x="914400" y="2413000"/>
            <a:ext cx="558800" cy="3810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EC3B97F-0D40-EB4A-9491-43AC9C88CDD7}"/>
              </a:ext>
            </a:extLst>
          </p:cNvPr>
          <p:cNvSpPr/>
          <p:nvPr/>
        </p:nvSpPr>
        <p:spPr>
          <a:xfrm>
            <a:off x="914400" y="2895600"/>
            <a:ext cx="152400" cy="152400"/>
          </a:xfrm>
          <a:prstGeom prst="ellipse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1C64F66-0E54-6745-813B-5198B6E4F14C}"/>
              </a:ext>
            </a:extLst>
          </p:cNvPr>
          <p:cNvSpPr txBox="1"/>
          <p:nvPr/>
        </p:nvSpPr>
        <p:spPr>
          <a:xfrm>
            <a:off x="1193800" y="27940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F8FAFC"/>
                </a:solidFill>
                <a:latin typeface="Inter"/>
              </a:rPr>
              <a:t>Pertinence des événements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E0E0633-A26D-2F42-A352-B75DA340A3C0}"/>
              </a:ext>
            </a:extLst>
          </p:cNvPr>
          <p:cNvSpPr/>
          <p:nvPr/>
        </p:nvSpPr>
        <p:spPr>
          <a:xfrm>
            <a:off x="914400" y="3606800"/>
            <a:ext cx="152400" cy="152400"/>
          </a:xfrm>
          <a:prstGeom prst="ellipse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275B444-19F7-F94B-85C1-BF7CF6850664}"/>
              </a:ext>
            </a:extLst>
          </p:cNvPr>
          <p:cNvSpPr txBox="1"/>
          <p:nvPr/>
        </p:nvSpPr>
        <p:spPr>
          <a:xfrm>
            <a:off x="1193800" y="35052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F8FAFC"/>
                </a:solidFill>
                <a:latin typeface="Inter"/>
              </a:rPr>
              <a:t>Cohérence des recommandations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0A57FFE-724F-6A4D-A94A-6AF14DC813F9}"/>
              </a:ext>
            </a:extLst>
          </p:cNvPr>
          <p:cNvSpPr/>
          <p:nvPr/>
        </p:nvSpPr>
        <p:spPr>
          <a:xfrm>
            <a:off x="914400" y="4318000"/>
            <a:ext cx="152400" cy="152400"/>
          </a:xfrm>
          <a:prstGeom prst="ellipse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764113B-350A-894E-B6E0-19156719ED55}"/>
              </a:ext>
            </a:extLst>
          </p:cNvPr>
          <p:cNvSpPr txBox="1"/>
          <p:nvPr/>
        </p:nvSpPr>
        <p:spPr>
          <a:xfrm>
            <a:off x="1193800" y="42164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F8FAFC"/>
                </a:solidFill>
                <a:latin typeface="Inter"/>
              </a:rPr>
              <a:t>Qualité des réponses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3D93C4F-DAF1-0245-B87A-266370864349}"/>
              </a:ext>
            </a:extLst>
          </p:cNvPr>
          <p:cNvSpPr/>
          <p:nvPr/>
        </p:nvSpPr>
        <p:spPr>
          <a:xfrm>
            <a:off x="914400" y="5029200"/>
            <a:ext cx="152400" cy="152400"/>
          </a:xfrm>
          <a:prstGeom prst="ellipse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CE74C03-2637-7A42-891E-ABCBE6C66357}"/>
              </a:ext>
            </a:extLst>
          </p:cNvPr>
          <p:cNvSpPr txBox="1"/>
          <p:nvPr/>
        </p:nvSpPr>
        <p:spPr>
          <a:xfrm>
            <a:off x="1193800" y="49276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F8FAFC"/>
                </a:solidFill>
                <a:latin typeface="Inter"/>
              </a:rPr>
              <a:t>Compréhension des intentions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268EA40-A837-694D-99AD-4D980ADAE99F}"/>
              </a:ext>
            </a:extLst>
          </p:cNvPr>
          <p:cNvSpPr/>
          <p:nvPr/>
        </p:nvSpPr>
        <p:spPr>
          <a:xfrm>
            <a:off x="6248400" y="1778000"/>
            <a:ext cx="5486400" cy="4318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301CF6F-B05A-124E-AF9C-1065C1F8C1A5}"/>
              </a:ext>
            </a:extLst>
          </p:cNvPr>
          <p:cNvSpPr txBox="1"/>
          <p:nvPr/>
        </p:nvSpPr>
        <p:spPr>
          <a:xfrm>
            <a:off x="6553200" y="2057400"/>
            <a:ext cx="48768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200" b="1">
                <a:solidFill>
                  <a:srgbClr val="34D399"/>
                </a:solidFill>
                <a:latin typeface="Inter"/>
              </a:rPr>
              <a:t>RÉSULTATS OBTENUS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A0D16D-D843-924E-B4D0-5F498294D4D2}"/>
              </a:ext>
            </a:extLst>
          </p:cNvPr>
          <p:cNvSpPr/>
          <p:nvPr/>
        </p:nvSpPr>
        <p:spPr>
          <a:xfrm>
            <a:off x="6553200" y="2413000"/>
            <a:ext cx="558800" cy="381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711F1FEE-DA6E-EB40-9933-A192A179077F}"/>
              </a:ext>
            </a:extLst>
          </p:cNvPr>
          <p:cNvSpPr/>
          <p:nvPr/>
        </p:nvSpPr>
        <p:spPr>
          <a:xfrm>
            <a:off x="6553200" y="2895600"/>
            <a:ext cx="152400" cy="1524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03923C6-5B66-0343-A10C-066B464FB693}"/>
              </a:ext>
            </a:extLst>
          </p:cNvPr>
          <p:cNvSpPr txBox="1"/>
          <p:nvPr/>
        </p:nvSpPr>
        <p:spPr>
          <a:xfrm>
            <a:off x="6832600" y="27940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F8FAFC"/>
                </a:solidFill>
                <a:latin typeface="Inter"/>
              </a:rPr>
              <a:t>Recherche sémantique efficace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DFEA79D-DC70-1941-AACA-841F455E1D57}"/>
              </a:ext>
            </a:extLst>
          </p:cNvPr>
          <p:cNvSpPr/>
          <p:nvPr/>
        </p:nvSpPr>
        <p:spPr>
          <a:xfrm>
            <a:off x="6553200" y="3606800"/>
            <a:ext cx="152400" cy="1524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1A65791-CC22-5940-9B5A-0C094B4CC28D}"/>
              </a:ext>
            </a:extLst>
          </p:cNvPr>
          <p:cNvSpPr txBox="1"/>
          <p:nvPr/>
        </p:nvSpPr>
        <p:spPr>
          <a:xfrm>
            <a:off x="6832600" y="35052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F8FAFC"/>
                </a:solidFill>
                <a:latin typeface="Inter"/>
              </a:rPr>
              <a:t>Réponses cohérentes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B42F2B78-8BA6-044B-83B6-A8BFDEB64E49}"/>
              </a:ext>
            </a:extLst>
          </p:cNvPr>
          <p:cNvSpPr/>
          <p:nvPr/>
        </p:nvSpPr>
        <p:spPr>
          <a:xfrm>
            <a:off x="6553200" y="4318000"/>
            <a:ext cx="152400" cy="1524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A1FFFBF-E01C-5748-A2AB-8ADF52DECEBF}"/>
              </a:ext>
            </a:extLst>
          </p:cNvPr>
          <p:cNvSpPr txBox="1"/>
          <p:nvPr/>
        </p:nvSpPr>
        <p:spPr>
          <a:xfrm>
            <a:off x="6832600" y="42164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F8FAFC"/>
                </a:solidFill>
                <a:latin typeface="Inter"/>
              </a:rPr>
              <a:t>Recommandations personnalisées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B4549467-6E29-2F41-B7B8-43C8F905858A}"/>
              </a:ext>
            </a:extLst>
          </p:cNvPr>
          <p:cNvSpPr/>
          <p:nvPr/>
        </p:nvSpPr>
        <p:spPr>
          <a:xfrm>
            <a:off x="6553200" y="5029200"/>
            <a:ext cx="152400" cy="1524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C04BCB2-DA84-9F4B-8319-F0880113377C}"/>
              </a:ext>
            </a:extLst>
          </p:cNvPr>
          <p:cNvSpPr txBox="1"/>
          <p:nvPr/>
        </p:nvSpPr>
        <p:spPr>
          <a:xfrm>
            <a:off x="6832600" y="49276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F8FAFC"/>
                </a:solidFill>
                <a:latin typeface="Inter"/>
              </a:rPr>
              <a:t>Système RAG fonctionnel</a:t>
            </a:r>
          </a:p>
        </p:txBody>
      </p:sp>
    </p:spTree>
    <p:extLst>
      <p:ext uri="{BB962C8B-B14F-4D97-AF65-F5344CB8AC3E}">
        <p14:creationId xmlns:p14="http://schemas.microsoft.com/office/powerpoint/2010/main" val="3562887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3ADBA-03C9-F913-6208-C66A27B17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FEEA20-0104-0F7A-319E-253ECAB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Architecture finale du système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220818D-EF3A-1945-BB3F-A601FD442738}"/>
              </a:ext>
            </a:extLst>
          </p:cNvPr>
          <p:cNvSpPr/>
          <p:nvPr/>
        </p:nvSpPr>
        <p:spPr>
          <a:xfrm>
            <a:off x="609600" y="304800"/>
            <a:ext cx="2540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34D399"/>
                </a:solidFill>
                <a:latin typeface="Inter"/>
              </a:rPr>
              <a:t>07 · RÉSULTATS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D745B021-ADE4-2A42-B811-D2A080F909F0}"/>
              </a:ext>
            </a:extLst>
          </p:cNvPr>
          <p:cNvSpPr/>
          <p:nvPr/>
        </p:nvSpPr>
        <p:spPr>
          <a:xfrm>
            <a:off x="609600" y="1778000"/>
            <a:ext cx="2159000" cy="1905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1BD5CF4-0A9C-4042-B1B0-F9F304F3715E}"/>
              </a:ext>
            </a:extLst>
          </p:cNvPr>
          <p:cNvSpPr txBox="1"/>
          <p:nvPr/>
        </p:nvSpPr>
        <p:spPr>
          <a:xfrm>
            <a:off x="762000" y="1981200"/>
            <a:ext cx="635000" cy="635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800">
                <a:latin typeface="Segoe UI Emoji"/>
                <a:ea typeface="Segoe UI Emoji"/>
              </a:rPr>
              <a:t>📊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E96222A-40E8-8747-B215-F41E773E9FD3}"/>
              </a:ext>
            </a:extLst>
          </p:cNvPr>
          <p:cNvSpPr txBox="1"/>
          <p:nvPr/>
        </p:nvSpPr>
        <p:spPr>
          <a:xfrm>
            <a:off x="762000" y="2667000"/>
            <a:ext cx="1854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8FAFC"/>
                </a:solidFill>
                <a:latin typeface="Inter"/>
              </a:rPr>
              <a:t>208 010 événements collectés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ABD4219-B9EE-9D4D-BCB7-5C3BEEA38FDB}"/>
              </a:ext>
            </a:extLst>
          </p:cNvPr>
          <p:cNvSpPr/>
          <p:nvPr/>
        </p:nvSpPr>
        <p:spPr>
          <a:xfrm>
            <a:off x="2870200" y="1778000"/>
            <a:ext cx="2159000" cy="1905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4CDCFE7-DC66-1C4E-B21A-6A6E8C887CC9}"/>
              </a:ext>
            </a:extLst>
          </p:cNvPr>
          <p:cNvSpPr txBox="1"/>
          <p:nvPr/>
        </p:nvSpPr>
        <p:spPr>
          <a:xfrm>
            <a:off x="3022600" y="1981200"/>
            <a:ext cx="635000" cy="635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800">
                <a:latin typeface="Segoe UI Emoji"/>
                <a:ea typeface="Segoe UI Emoji"/>
              </a:rPr>
              <a:t>🧹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525E7EC-711E-8C4D-989B-7A57E1EABEE4}"/>
              </a:ext>
            </a:extLst>
          </p:cNvPr>
          <p:cNvSpPr txBox="1"/>
          <p:nvPr/>
        </p:nvSpPr>
        <p:spPr>
          <a:xfrm>
            <a:off x="3022600" y="2667000"/>
            <a:ext cx="1854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8FAFC"/>
                </a:solidFill>
                <a:latin typeface="Inter"/>
              </a:rPr>
              <a:t>Données nettoyées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94ECF520-9901-CA47-974C-C8048409B10B}"/>
              </a:ext>
            </a:extLst>
          </p:cNvPr>
          <p:cNvSpPr/>
          <p:nvPr/>
        </p:nvSpPr>
        <p:spPr>
          <a:xfrm>
            <a:off x="5130800" y="1778000"/>
            <a:ext cx="2159000" cy="1905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69FF3EC-AFB1-A04B-A14F-A9AABE191BE4}"/>
              </a:ext>
            </a:extLst>
          </p:cNvPr>
          <p:cNvSpPr txBox="1"/>
          <p:nvPr/>
        </p:nvSpPr>
        <p:spPr>
          <a:xfrm>
            <a:off x="5283200" y="1981200"/>
            <a:ext cx="635000" cy="635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800">
                <a:latin typeface="Segoe UI Emoji"/>
                <a:ea typeface="Segoe UI Emoji"/>
              </a:rPr>
              <a:t>🔢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EF570F1-BA01-4243-972B-3540FB5A0D94}"/>
              </a:ext>
            </a:extLst>
          </p:cNvPr>
          <p:cNvSpPr txBox="1"/>
          <p:nvPr/>
        </p:nvSpPr>
        <p:spPr>
          <a:xfrm>
            <a:off x="5283200" y="2667000"/>
            <a:ext cx="1854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8FAFC"/>
                </a:solidFill>
                <a:latin typeface="Inter"/>
              </a:rPr>
              <a:t>Embeddings Mistral AI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E7C7550-7184-2346-B5D5-738D56D584E7}"/>
              </a:ext>
            </a:extLst>
          </p:cNvPr>
          <p:cNvSpPr/>
          <p:nvPr/>
        </p:nvSpPr>
        <p:spPr>
          <a:xfrm>
            <a:off x="7391400" y="1778000"/>
            <a:ext cx="2159000" cy="1905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93A8A93-CC98-5C40-868F-1E93990D6632}"/>
              </a:ext>
            </a:extLst>
          </p:cNvPr>
          <p:cNvSpPr txBox="1"/>
          <p:nvPr/>
        </p:nvSpPr>
        <p:spPr>
          <a:xfrm>
            <a:off x="7543800" y="1981200"/>
            <a:ext cx="635000" cy="635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800">
                <a:latin typeface="Segoe UI Emoji"/>
                <a:ea typeface="Segoe UI Emoji"/>
              </a:rPr>
              <a:t>🗂️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EDCCDCC-606C-8548-8C9E-2B0940821E74}"/>
              </a:ext>
            </a:extLst>
          </p:cNvPr>
          <p:cNvSpPr txBox="1"/>
          <p:nvPr/>
        </p:nvSpPr>
        <p:spPr>
          <a:xfrm>
            <a:off x="7543800" y="2667000"/>
            <a:ext cx="1854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8FAFC"/>
                </a:solidFill>
                <a:latin typeface="Inter"/>
              </a:rPr>
              <a:t>Base vectorielle FAISS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93492C6F-06D9-D543-957C-8A7EDA741FA6}"/>
              </a:ext>
            </a:extLst>
          </p:cNvPr>
          <p:cNvSpPr/>
          <p:nvPr/>
        </p:nvSpPr>
        <p:spPr>
          <a:xfrm>
            <a:off x="9652000" y="1778000"/>
            <a:ext cx="2159000" cy="1905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1D95ECF-A927-5749-99D7-E50DABE76599}"/>
              </a:ext>
            </a:extLst>
          </p:cNvPr>
          <p:cNvSpPr txBox="1"/>
          <p:nvPr/>
        </p:nvSpPr>
        <p:spPr>
          <a:xfrm>
            <a:off x="9804400" y="1981200"/>
            <a:ext cx="635000" cy="635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800">
                <a:latin typeface="Segoe UI Emoji"/>
                <a:ea typeface="Segoe UI Emoji"/>
              </a:rPr>
              <a:t>💬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03EEDC3-FA04-1B48-AC5A-3E1CDEEFFD47}"/>
              </a:ext>
            </a:extLst>
          </p:cNvPr>
          <p:cNvSpPr txBox="1"/>
          <p:nvPr/>
        </p:nvSpPr>
        <p:spPr>
          <a:xfrm>
            <a:off x="9804400" y="2667000"/>
            <a:ext cx="1854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8FAFC"/>
                </a:solidFill>
                <a:latin typeface="Inter"/>
              </a:rPr>
              <a:t>Chatbot RAG LangChain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04F67E98-B5FD-404F-8B8F-CA124D26A932}"/>
              </a:ext>
            </a:extLst>
          </p:cNvPr>
          <p:cNvSpPr/>
          <p:nvPr/>
        </p:nvSpPr>
        <p:spPr>
          <a:xfrm>
            <a:off x="609600" y="3937000"/>
            <a:ext cx="10972800" cy="2159000"/>
          </a:xfrm>
          <a:prstGeom prst="roundRect">
            <a:avLst/>
          </a:prstGeom>
          <a:solidFill>
            <a:srgbClr val="0F1B33"/>
          </a:solidFill>
          <a:ln w="12700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A381F5E-713E-7649-B879-BE580A5551E5}"/>
              </a:ext>
            </a:extLst>
          </p:cNvPr>
          <p:cNvSpPr txBox="1"/>
          <p:nvPr/>
        </p:nvSpPr>
        <p:spPr>
          <a:xfrm>
            <a:off x="965200" y="4191000"/>
            <a:ext cx="10160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200" b="1">
                <a:solidFill>
                  <a:srgbClr val="34D399"/>
                </a:solidFill>
                <a:latin typeface="Inter"/>
              </a:rPr>
              <a:t>RÉSULTAT GLOBAL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A8A32A-03C4-1545-8B47-73F08B257279}"/>
              </a:ext>
            </a:extLst>
          </p:cNvPr>
          <p:cNvSpPr/>
          <p:nvPr/>
        </p:nvSpPr>
        <p:spPr>
          <a:xfrm>
            <a:off x="965200" y="4546600"/>
            <a:ext cx="635000" cy="381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E3175AC-9476-ED4B-80DE-2D4B5A0C416B}"/>
              </a:ext>
            </a:extLst>
          </p:cNvPr>
          <p:cNvSpPr txBox="1"/>
          <p:nvPr/>
        </p:nvSpPr>
        <p:spPr>
          <a:xfrm>
            <a:off x="965200" y="4775200"/>
            <a:ext cx="102616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>
                <a:solidFill>
                  <a:srgbClr val="F8FAFC"/>
                </a:solidFill>
                <a:latin typeface="Inter"/>
              </a:rPr>
              <a:t>Système intelligent capable de recommander des événements culturels de manière contextualisée, combinant recherche sémantique et génération de langage naturel.</a:t>
            </a:r>
          </a:p>
        </p:txBody>
      </p:sp>
    </p:spTree>
    <p:extLst>
      <p:ext uri="{BB962C8B-B14F-4D97-AF65-F5344CB8AC3E}">
        <p14:creationId xmlns:p14="http://schemas.microsoft.com/office/powerpoint/2010/main" val="2283432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88CD4-8C54-2AF2-0752-CEDEFE8BF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E0115B-CC74-B7CC-4ABD-489186A52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Bilan du projet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F312F92-8BBA-D142-ABD0-01168C691817}"/>
              </a:ext>
            </a:extLst>
          </p:cNvPr>
          <p:cNvSpPr/>
          <p:nvPr/>
        </p:nvSpPr>
        <p:spPr>
          <a:xfrm>
            <a:off x="609600" y="304800"/>
            <a:ext cx="2540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BBF24"/>
                </a:solidFill>
                <a:latin typeface="Inter"/>
              </a:rPr>
              <a:t>08 · CONCLUSION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0009076-EA06-1F45-A28C-84FAAD7B847C}"/>
              </a:ext>
            </a:extLst>
          </p:cNvPr>
          <p:cNvSpPr txBox="1"/>
          <p:nvPr/>
        </p:nvSpPr>
        <p:spPr>
          <a:xfrm>
            <a:off x="609600" y="1651000"/>
            <a:ext cx="5080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60A5FA"/>
                </a:solidFill>
                <a:latin typeface="Inter"/>
              </a:rPr>
              <a:t>RÉALISATIONS PRINCIPALES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6E0FB9F-DC76-8648-BB6D-5F359D66D426}"/>
              </a:ext>
            </a:extLst>
          </p:cNvPr>
          <p:cNvSpPr/>
          <p:nvPr/>
        </p:nvSpPr>
        <p:spPr>
          <a:xfrm>
            <a:off x="609600" y="2057400"/>
            <a:ext cx="5638800" cy="431800"/>
          </a:xfrm>
          <a:prstGeom prst="roundRect">
            <a:avLst/>
          </a:prstGeom>
          <a:solidFill>
            <a:srgbClr val="1E293B"/>
          </a:solidFill>
          <a:ln w="6350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96E91F1-6DEF-6946-9B30-8A1E5CF833E6}"/>
              </a:ext>
            </a:extLst>
          </p:cNvPr>
          <p:cNvSpPr/>
          <p:nvPr/>
        </p:nvSpPr>
        <p:spPr>
          <a:xfrm>
            <a:off x="762000" y="2146300"/>
            <a:ext cx="254000" cy="2540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✓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034B2E0-5520-D648-A3AB-2B3E66637A5A}"/>
              </a:ext>
            </a:extLst>
          </p:cNvPr>
          <p:cNvSpPr txBox="1"/>
          <p:nvPr/>
        </p:nvSpPr>
        <p:spPr>
          <a:xfrm>
            <a:off x="1143000" y="2159000"/>
            <a:ext cx="50292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200">
                <a:solidFill>
                  <a:srgbClr val="CBD5E1"/>
                </a:solidFill>
                <a:latin typeface="Inter"/>
              </a:rPr>
              <a:t>Collecte de 200 000+ événements via l'API OpenAgenda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D2499F4-7FBE-B140-8E04-CC5D40174765}"/>
              </a:ext>
            </a:extLst>
          </p:cNvPr>
          <p:cNvSpPr/>
          <p:nvPr/>
        </p:nvSpPr>
        <p:spPr>
          <a:xfrm>
            <a:off x="609600" y="2590800"/>
            <a:ext cx="5638800" cy="431800"/>
          </a:xfrm>
          <a:prstGeom prst="roundRect">
            <a:avLst/>
          </a:prstGeom>
          <a:solidFill>
            <a:srgbClr val="1E293B"/>
          </a:solidFill>
          <a:ln w="6350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A83381D-4ABE-6C43-8089-80909A036DAF}"/>
              </a:ext>
            </a:extLst>
          </p:cNvPr>
          <p:cNvSpPr/>
          <p:nvPr/>
        </p:nvSpPr>
        <p:spPr>
          <a:xfrm>
            <a:off x="762000" y="2679700"/>
            <a:ext cx="254000" cy="2540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✓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A2D80EA-DD16-0443-AA45-D58C89226BE5}"/>
              </a:ext>
            </a:extLst>
          </p:cNvPr>
          <p:cNvSpPr txBox="1"/>
          <p:nvPr/>
        </p:nvSpPr>
        <p:spPr>
          <a:xfrm>
            <a:off x="1143000" y="2692400"/>
            <a:ext cx="50292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200">
                <a:solidFill>
                  <a:srgbClr val="CBD5E1"/>
                </a:solidFill>
                <a:latin typeface="Inter"/>
              </a:rPr>
              <a:t>Nettoyage et préparation des données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BA6AF14-0A10-004B-8BE2-AB6AE92AC987}"/>
              </a:ext>
            </a:extLst>
          </p:cNvPr>
          <p:cNvSpPr/>
          <p:nvPr/>
        </p:nvSpPr>
        <p:spPr>
          <a:xfrm>
            <a:off x="609600" y="3124200"/>
            <a:ext cx="5638800" cy="431800"/>
          </a:xfrm>
          <a:prstGeom prst="roundRect">
            <a:avLst/>
          </a:prstGeom>
          <a:solidFill>
            <a:srgbClr val="1E293B"/>
          </a:solidFill>
          <a:ln w="6350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FE9A670-C3A0-FA45-AFBF-E7F240CD4D40}"/>
              </a:ext>
            </a:extLst>
          </p:cNvPr>
          <p:cNvSpPr/>
          <p:nvPr/>
        </p:nvSpPr>
        <p:spPr>
          <a:xfrm>
            <a:off x="762000" y="3213100"/>
            <a:ext cx="254000" cy="2540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✓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D4F6D41-FB68-F34E-B304-69BC26D714F9}"/>
              </a:ext>
            </a:extLst>
          </p:cNvPr>
          <p:cNvSpPr txBox="1"/>
          <p:nvPr/>
        </p:nvSpPr>
        <p:spPr>
          <a:xfrm>
            <a:off x="1143000" y="3225800"/>
            <a:ext cx="50292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200">
                <a:solidFill>
                  <a:srgbClr val="CBD5E1"/>
                </a:solidFill>
                <a:latin typeface="Inter"/>
              </a:rPr>
              <a:t>Génération des embeddings avec Mistral AI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8CC200A-4813-C841-BC2D-3C6F3FB0E090}"/>
              </a:ext>
            </a:extLst>
          </p:cNvPr>
          <p:cNvSpPr/>
          <p:nvPr/>
        </p:nvSpPr>
        <p:spPr>
          <a:xfrm>
            <a:off x="609600" y="3657600"/>
            <a:ext cx="5638800" cy="431800"/>
          </a:xfrm>
          <a:prstGeom prst="roundRect">
            <a:avLst/>
          </a:prstGeom>
          <a:solidFill>
            <a:srgbClr val="1E293B"/>
          </a:solidFill>
          <a:ln w="6350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3298083-43DA-0549-9E25-6476A2A76AD0}"/>
              </a:ext>
            </a:extLst>
          </p:cNvPr>
          <p:cNvSpPr/>
          <p:nvPr/>
        </p:nvSpPr>
        <p:spPr>
          <a:xfrm>
            <a:off x="762000" y="3746500"/>
            <a:ext cx="254000" cy="2540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✓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CD91DDA-07AF-264E-9BC7-EB3C86F2BF76}"/>
              </a:ext>
            </a:extLst>
          </p:cNvPr>
          <p:cNvSpPr txBox="1"/>
          <p:nvPr/>
        </p:nvSpPr>
        <p:spPr>
          <a:xfrm>
            <a:off x="1143000" y="3759200"/>
            <a:ext cx="50292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200">
                <a:solidFill>
                  <a:srgbClr val="CBD5E1"/>
                </a:solidFill>
                <a:latin typeface="Inter"/>
              </a:rPr>
              <a:t>Création d'une base vectorielle FAISS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725D2F5E-AFE9-014F-B480-1CA5EDFC2DBE}"/>
              </a:ext>
            </a:extLst>
          </p:cNvPr>
          <p:cNvSpPr/>
          <p:nvPr/>
        </p:nvSpPr>
        <p:spPr>
          <a:xfrm>
            <a:off x="609600" y="4191000"/>
            <a:ext cx="5638800" cy="431800"/>
          </a:xfrm>
          <a:prstGeom prst="roundRect">
            <a:avLst/>
          </a:prstGeom>
          <a:solidFill>
            <a:srgbClr val="1E293B"/>
          </a:solidFill>
          <a:ln w="6350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C2712AF0-2417-7744-BA63-79B5AA1951C3}"/>
              </a:ext>
            </a:extLst>
          </p:cNvPr>
          <p:cNvSpPr/>
          <p:nvPr/>
        </p:nvSpPr>
        <p:spPr>
          <a:xfrm>
            <a:off x="762000" y="4279900"/>
            <a:ext cx="254000" cy="2540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0F172A"/>
                </a:solidFill>
                <a:latin typeface="Inter"/>
              </a:rPr>
              <a:t>✓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51B549E-20A7-AF43-8CC4-BD9D0B3D5369}"/>
              </a:ext>
            </a:extLst>
          </p:cNvPr>
          <p:cNvSpPr txBox="1"/>
          <p:nvPr/>
        </p:nvSpPr>
        <p:spPr>
          <a:xfrm>
            <a:off x="1143000" y="4292600"/>
            <a:ext cx="50292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200">
                <a:solidFill>
                  <a:srgbClr val="CBD5E1"/>
                </a:solidFill>
                <a:latin typeface="Inter"/>
              </a:rPr>
              <a:t>Développement d'un chatbot RAG avec LangChain et Mistral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32EF2BED-ABEF-9A43-A8A0-566A17926D5A}"/>
              </a:ext>
            </a:extLst>
          </p:cNvPr>
          <p:cNvSpPr/>
          <p:nvPr/>
        </p:nvSpPr>
        <p:spPr>
          <a:xfrm>
            <a:off x="6502400" y="1651000"/>
            <a:ext cx="5080000" cy="2794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2764756-1FDE-DD4F-9D3E-E38934A3F275}"/>
              </a:ext>
            </a:extLst>
          </p:cNvPr>
          <p:cNvSpPr txBox="1"/>
          <p:nvPr/>
        </p:nvSpPr>
        <p:spPr>
          <a:xfrm>
            <a:off x="6756400" y="1930400"/>
            <a:ext cx="4572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BBF24"/>
                </a:solidFill>
                <a:latin typeface="Inter"/>
              </a:rPr>
              <a:t>RÉSULTAT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5FCDDF-BB02-B343-8B4A-9BBAD668AF91}"/>
              </a:ext>
            </a:extLst>
          </p:cNvPr>
          <p:cNvSpPr/>
          <p:nvPr/>
        </p:nvSpPr>
        <p:spPr>
          <a:xfrm>
            <a:off x="6756400" y="2260600"/>
            <a:ext cx="508000" cy="38100"/>
          </a:xfrm>
          <a:prstGeom prst="rect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0AC9DAC-7473-2B4D-83BF-9B27BD265B8C}"/>
              </a:ext>
            </a:extLst>
          </p:cNvPr>
          <p:cNvSpPr txBox="1"/>
          <p:nvPr/>
        </p:nvSpPr>
        <p:spPr>
          <a:xfrm>
            <a:off x="6756400" y="2489200"/>
            <a:ext cx="4572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>
                <a:solidFill>
                  <a:srgbClr val="F8FAFC"/>
                </a:solidFill>
                <a:latin typeface="Inter"/>
              </a:rPr>
              <a:t>Système capable de recommander des événements culturels de manière intelligente et contextualisée.</a:t>
            </a:r>
          </a:p>
        </p:txBody>
      </p:sp>
    </p:spTree>
    <p:extLst>
      <p:ext uri="{BB962C8B-B14F-4D97-AF65-F5344CB8AC3E}">
        <p14:creationId xmlns:p14="http://schemas.microsoft.com/office/powerpoint/2010/main" val="1667316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47E05-93D8-3B6A-CF81-B131B583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A2E240-05EC-A801-1532-D4BB354E0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Difficultés rencontrées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DD873C3-796C-E244-9CC0-C18388788227}"/>
              </a:ext>
            </a:extLst>
          </p:cNvPr>
          <p:cNvSpPr/>
          <p:nvPr/>
        </p:nvSpPr>
        <p:spPr>
          <a:xfrm>
            <a:off x="609600" y="304800"/>
            <a:ext cx="2540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BBF24"/>
                </a:solidFill>
                <a:latin typeface="Inter"/>
              </a:rPr>
              <a:t>08 · CONCLUSION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14C28D1-94E1-F241-AEC8-BFC6CB7139E9}"/>
              </a:ext>
            </a:extLst>
          </p:cNvPr>
          <p:cNvSpPr/>
          <p:nvPr/>
        </p:nvSpPr>
        <p:spPr>
          <a:xfrm>
            <a:off x="609600" y="1651000"/>
            <a:ext cx="5410200" cy="4445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673ABA-727A-0947-A080-C30A1CA63501}"/>
              </a:ext>
            </a:extLst>
          </p:cNvPr>
          <p:cNvSpPr txBox="1"/>
          <p:nvPr/>
        </p:nvSpPr>
        <p:spPr>
          <a:xfrm>
            <a:off x="863600" y="1905000"/>
            <a:ext cx="49022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472B6"/>
                </a:solidFill>
                <a:latin typeface="Inter"/>
              </a:rPr>
              <a:t>DIFFICULTÉS TECHNIQUES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0E3ACC-2ECA-9F49-A2A6-500DB0B5E9E3}"/>
              </a:ext>
            </a:extLst>
          </p:cNvPr>
          <p:cNvSpPr/>
          <p:nvPr/>
        </p:nvSpPr>
        <p:spPr>
          <a:xfrm>
            <a:off x="863600" y="2260600"/>
            <a:ext cx="508000" cy="38100"/>
          </a:xfrm>
          <a:prstGeom prst="rect">
            <a:avLst/>
          </a:prstGeom>
          <a:solidFill>
            <a:srgbClr val="F472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C882113-900C-A446-9978-8715F3DDD5CD}"/>
              </a:ext>
            </a:extLst>
          </p:cNvPr>
          <p:cNvSpPr/>
          <p:nvPr/>
        </p:nvSpPr>
        <p:spPr>
          <a:xfrm>
            <a:off x="863600" y="2616200"/>
            <a:ext cx="127000" cy="127000"/>
          </a:xfrm>
          <a:prstGeom prst="ellipse">
            <a:avLst/>
          </a:prstGeom>
          <a:solidFill>
            <a:srgbClr val="F472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A87B308-2AF9-7645-939B-1E6245763CBD}"/>
              </a:ext>
            </a:extLst>
          </p:cNvPr>
          <p:cNvSpPr txBox="1"/>
          <p:nvPr/>
        </p:nvSpPr>
        <p:spPr>
          <a:xfrm>
            <a:off x="1117600" y="2540000"/>
            <a:ext cx="4673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Volume important de données à traiter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E793716-BD31-5A45-A3B2-84641D72AFFF}"/>
              </a:ext>
            </a:extLst>
          </p:cNvPr>
          <p:cNvSpPr/>
          <p:nvPr/>
        </p:nvSpPr>
        <p:spPr>
          <a:xfrm>
            <a:off x="863600" y="3251200"/>
            <a:ext cx="127000" cy="127000"/>
          </a:xfrm>
          <a:prstGeom prst="ellipse">
            <a:avLst/>
          </a:prstGeom>
          <a:solidFill>
            <a:srgbClr val="F472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A912C52-9703-BA41-85AE-1BC0C404E17B}"/>
              </a:ext>
            </a:extLst>
          </p:cNvPr>
          <p:cNvSpPr txBox="1"/>
          <p:nvPr/>
        </p:nvSpPr>
        <p:spPr>
          <a:xfrm>
            <a:off x="1117600" y="3175000"/>
            <a:ext cx="4673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Doublons et valeurs manquantes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F063406-DB89-434A-BDFC-6007A0E2188C}"/>
              </a:ext>
            </a:extLst>
          </p:cNvPr>
          <p:cNvSpPr/>
          <p:nvPr/>
        </p:nvSpPr>
        <p:spPr>
          <a:xfrm>
            <a:off x="863600" y="3886200"/>
            <a:ext cx="127000" cy="127000"/>
          </a:xfrm>
          <a:prstGeom prst="ellipse">
            <a:avLst/>
          </a:prstGeom>
          <a:solidFill>
            <a:srgbClr val="F472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3625368-42FC-7A4E-8EAE-31D756013FF1}"/>
              </a:ext>
            </a:extLst>
          </p:cNvPr>
          <p:cNvSpPr txBox="1"/>
          <p:nvPr/>
        </p:nvSpPr>
        <p:spPr>
          <a:xfrm>
            <a:off x="1117600" y="3810000"/>
            <a:ext cx="4673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Compréhension des embeddings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7E7BD37D-02AE-0345-8789-E220516A6077}"/>
              </a:ext>
            </a:extLst>
          </p:cNvPr>
          <p:cNvSpPr/>
          <p:nvPr/>
        </p:nvSpPr>
        <p:spPr>
          <a:xfrm>
            <a:off x="863600" y="4521200"/>
            <a:ext cx="127000" cy="127000"/>
          </a:xfrm>
          <a:prstGeom prst="ellipse">
            <a:avLst/>
          </a:prstGeom>
          <a:solidFill>
            <a:srgbClr val="F472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274BBA1-53F7-854E-B41E-0B11B49C3E50}"/>
              </a:ext>
            </a:extLst>
          </p:cNvPr>
          <p:cNvSpPr txBox="1"/>
          <p:nvPr/>
        </p:nvSpPr>
        <p:spPr>
          <a:xfrm>
            <a:off x="1117600" y="4445000"/>
            <a:ext cx="4673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Mise en place de FAISS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E9BA8F7-BB5A-2F41-815B-6EFA29F931E9}"/>
              </a:ext>
            </a:extLst>
          </p:cNvPr>
          <p:cNvSpPr/>
          <p:nvPr/>
        </p:nvSpPr>
        <p:spPr>
          <a:xfrm>
            <a:off x="863600" y="5156200"/>
            <a:ext cx="127000" cy="127000"/>
          </a:xfrm>
          <a:prstGeom prst="ellipse">
            <a:avLst/>
          </a:prstGeom>
          <a:solidFill>
            <a:srgbClr val="F472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212B408-170C-8149-A923-CA0D08EF9643}"/>
              </a:ext>
            </a:extLst>
          </p:cNvPr>
          <p:cNvSpPr txBox="1"/>
          <p:nvPr/>
        </p:nvSpPr>
        <p:spPr>
          <a:xfrm>
            <a:off x="1117600" y="5080000"/>
            <a:ext cx="4673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Limites de l'API Mistral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77B15446-3880-BA41-85CF-E644360B89C8}"/>
              </a:ext>
            </a:extLst>
          </p:cNvPr>
          <p:cNvSpPr/>
          <p:nvPr/>
        </p:nvSpPr>
        <p:spPr>
          <a:xfrm>
            <a:off x="6172200" y="1651000"/>
            <a:ext cx="5410200" cy="44450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454F57A-B654-EB4B-BCDA-8F23D490A10A}"/>
              </a:ext>
            </a:extLst>
          </p:cNvPr>
          <p:cNvSpPr txBox="1"/>
          <p:nvPr/>
        </p:nvSpPr>
        <p:spPr>
          <a:xfrm>
            <a:off x="6426200" y="1905000"/>
            <a:ext cx="49022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34D399"/>
                </a:solidFill>
                <a:latin typeface="Inter"/>
              </a:rPr>
              <a:t>SOLUTIONS APPORTÉES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5C941C-7B1F-B346-834C-626D1000E1FF}"/>
              </a:ext>
            </a:extLst>
          </p:cNvPr>
          <p:cNvSpPr/>
          <p:nvPr/>
        </p:nvSpPr>
        <p:spPr>
          <a:xfrm>
            <a:off x="6426200" y="2260600"/>
            <a:ext cx="508000" cy="381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EEB8C8B-017C-4A4C-AF5E-C83DDAC67FA1}"/>
              </a:ext>
            </a:extLst>
          </p:cNvPr>
          <p:cNvSpPr/>
          <p:nvPr/>
        </p:nvSpPr>
        <p:spPr>
          <a:xfrm>
            <a:off x="6426200" y="2590800"/>
            <a:ext cx="228600" cy="2286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0F172A"/>
                </a:solidFill>
                <a:latin typeface="Inter"/>
              </a:rPr>
              <a:t>✓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179F539-A76C-6041-89B9-27096E282587}"/>
              </a:ext>
            </a:extLst>
          </p:cNvPr>
          <p:cNvSpPr txBox="1"/>
          <p:nvPr/>
        </p:nvSpPr>
        <p:spPr>
          <a:xfrm>
            <a:off x="6781800" y="2540000"/>
            <a:ext cx="457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Nettoyage rigoureux des données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934F5D4-C6A2-754E-9AE8-ACF05CF59C9D}"/>
              </a:ext>
            </a:extLst>
          </p:cNvPr>
          <p:cNvSpPr/>
          <p:nvPr/>
        </p:nvSpPr>
        <p:spPr>
          <a:xfrm>
            <a:off x="6426200" y="3352800"/>
            <a:ext cx="228600" cy="2286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0F172A"/>
                </a:solidFill>
                <a:latin typeface="Inter"/>
              </a:rPr>
              <a:t>✓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9E495A9-CAE3-A343-91C6-263DFF4AFCB9}"/>
              </a:ext>
            </a:extLst>
          </p:cNvPr>
          <p:cNvSpPr txBox="1"/>
          <p:nvPr/>
        </p:nvSpPr>
        <p:spPr>
          <a:xfrm>
            <a:off x="6781800" y="3302000"/>
            <a:ext cx="457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Suppression des doublons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C4B5E19A-5A90-7C46-8CE0-CF6BE9324CE0}"/>
              </a:ext>
            </a:extLst>
          </p:cNvPr>
          <p:cNvSpPr/>
          <p:nvPr/>
        </p:nvSpPr>
        <p:spPr>
          <a:xfrm>
            <a:off x="6426200" y="4114800"/>
            <a:ext cx="228600" cy="2286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0F172A"/>
                </a:solidFill>
                <a:latin typeface="Inter"/>
              </a:rPr>
              <a:t>✓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7AB958C-3387-6043-AF91-5173ABA17EE0}"/>
              </a:ext>
            </a:extLst>
          </p:cNvPr>
          <p:cNvSpPr txBox="1"/>
          <p:nvPr/>
        </p:nvSpPr>
        <p:spPr>
          <a:xfrm>
            <a:off x="6781800" y="4064000"/>
            <a:ext cx="457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Filtrage des événements pertinents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B1BC1D1F-3473-EB42-8E18-5DD2DC020FE2}"/>
              </a:ext>
            </a:extLst>
          </p:cNvPr>
          <p:cNvSpPr/>
          <p:nvPr/>
        </p:nvSpPr>
        <p:spPr>
          <a:xfrm>
            <a:off x="6426200" y="4876800"/>
            <a:ext cx="228600" cy="2286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0F172A"/>
                </a:solidFill>
                <a:latin typeface="Inter"/>
              </a:rPr>
              <a:t>✓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703EC0D-D9CC-0842-9711-DE08C4342579}"/>
              </a:ext>
            </a:extLst>
          </p:cNvPr>
          <p:cNvSpPr txBox="1"/>
          <p:nvPr/>
        </p:nvSpPr>
        <p:spPr>
          <a:xfrm>
            <a:off x="6781800" y="4826000"/>
            <a:ext cx="457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CBD5E1"/>
                </a:solidFill>
                <a:latin typeface="Inter"/>
              </a:rPr>
              <a:t>Traitement par lots des embeddings</a:t>
            </a:r>
          </a:p>
        </p:txBody>
      </p:sp>
    </p:spTree>
    <p:extLst>
      <p:ext uri="{BB962C8B-B14F-4D97-AF65-F5344CB8AC3E}">
        <p14:creationId xmlns:p14="http://schemas.microsoft.com/office/powerpoint/2010/main" val="2754246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CEAF-D033-624A-E3BF-6844D252F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FA060-931E-8A16-25ED-6172633FB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11200"/>
            <a:ext cx="10972800" cy="76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8FAFC"/>
                </a:solidFill>
              </a:rPr>
              <a:t>Améliorations possibles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A16AD9A-2463-8F45-86B5-93781F67BC08}"/>
              </a:ext>
            </a:extLst>
          </p:cNvPr>
          <p:cNvSpPr/>
          <p:nvPr/>
        </p:nvSpPr>
        <p:spPr>
          <a:xfrm>
            <a:off x="609600" y="304800"/>
            <a:ext cx="2540000" cy="3302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BBF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BBF24"/>
                </a:solidFill>
                <a:latin typeface="Inter"/>
              </a:rPr>
              <a:t>08 · CONCLUSION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00D5ECE-C869-804D-BA6A-9191BEB50797}"/>
              </a:ext>
            </a:extLst>
          </p:cNvPr>
          <p:cNvSpPr txBox="1"/>
          <p:nvPr/>
        </p:nvSpPr>
        <p:spPr>
          <a:xfrm>
            <a:off x="609600" y="1651000"/>
            <a:ext cx="5080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100" b="1">
                <a:solidFill>
                  <a:srgbClr val="FBBF24"/>
                </a:solidFill>
                <a:latin typeface="Inter"/>
              </a:rPr>
              <a:t>PERSPECTIVES D'ÉVOLUTION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AA593CD-ECAC-0648-B032-5F103DCCF7C7}"/>
              </a:ext>
            </a:extLst>
          </p:cNvPr>
          <p:cNvSpPr/>
          <p:nvPr/>
        </p:nvSpPr>
        <p:spPr>
          <a:xfrm>
            <a:off x="609600" y="2057400"/>
            <a:ext cx="3581400" cy="18415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60A5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3EF5DA5-288B-2640-B31B-FC1826BABA28}"/>
              </a:ext>
            </a:extLst>
          </p:cNvPr>
          <p:cNvSpPr txBox="1"/>
          <p:nvPr/>
        </p:nvSpPr>
        <p:spPr>
          <a:xfrm>
            <a:off x="838200" y="2235200"/>
            <a:ext cx="508000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400">
                <a:latin typeface="Segoe UI Emoji"/>
                <a:ea typeface="Segoe UI Emoji"/>
              </a:rPr>
              <a:t>🌐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0681B6E-2BD1-2A4E-BFA4-8BD479B22CCA}"/>
              </a:ext>
            </a:extLst>
          </p:cNvPr>
          <p:cNvSpPr txBox="1"/>
          <p:nvPr/>
        </p:nvSpPr>
        <p:spPr>
          <a:xfrm>
            <a:off x="838200" y="2794000"/>
            <a:ext cx="31242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700" b="1">
                <a:solidFill>
                  <a:srgbClr val="60A5FA"/>
                </a:solidFill>
                <a:latin typeface="Inter"/>
              </a:rPr>
              <a:t>Interface web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BA823CC-D452-F648-B9D0-AF5C91C59A95}"/>
              </a:ext>
            </a:extLst>
          </p:cNvPr>
          <p:cNvSpPr txBox="1"/>
          <p:nvPr/>
        </p:nvSpPr>
        <p:spPr>
          <a:xfrm>
            <a:off x="838200" y="3200400"/>
            <a:ext cx="3124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Développement d'une interface interactive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B8E6531-8977-564D-9824-B60301B21BEA}"/>
              </a:ext>
            </a:extLst>
          </p:cNvPr>
          <p:cNvSpPr/>
          <p:nvPr/>
        </p:nvSpPr>
        <p:spPr>
          <a:xfrm>
            <a:off x="4305300" y="2057400"/>
            <a:ext cx="3581400" cy="18415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DC01B89-C0B9-9645-86CC-493B865739EB}"/>
              </a:ext>
            </a:extLst>
          </p:cNvPr>
          <p:cNvSpPr txBox="1"/>
          <p:nvPr/>
        </p:nvSpPr>
        <p:spPr>
          <a:xfrm>
            <a:off x="4533900" y="2235200"/>
            <a:ext cx="508000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400">
                <a:latin typeface="Segoe UI Emoji"/>
                <a:ea typeface="Segoe UI Emoji"/>
              </a:rPr>
              <a:t>🔍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3AA7BE0-F6CF-0044-8969-ECFA9D804889}"/>
              </a:ext>
            </a:extLst>
          </p:cNvPr>
          <p:cNvSpPr txBox="1"/>
          <p:nvPr/>
        </p:nvSpPr>
        <p:spPr>
          <a:xfrm>
            <a:off x="4533900" y="2794000"/>
            <a:ext cx="31242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700" b="1">
                <a:solidFill>
                  <a:srgbClr val="A78BFA"/>
                </a:solidFill>
                <a:latin typeface="Inter"/>
              </a:rPr>
              <a:t>Filtres avancés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63B8B2C-218E-DC47-A2F6-9EA5368EFDED}"/>
              </a:ext>
            </a:extLst>
          </p:cNvPr>
          <p:cNvSpPr txBox="1"/>
          <p:nvPr/>
        </p:nvSpPr>
        <p:spPr>
          <a:xfrm>
            <a:off x="4533900" y="3200400"/>
            <a:ext cx="3124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Ville, date, catégorie d'événement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92B27FC-1B4A-7E4D-9EC9-F9EC2A89FD3D}"/>
              </a:ext>
            </a:extLst>
          </p:cNvPr>
          <p:cNvSpPr/>
          <p:nvPr/>
        </p:nvSpPr>
        <p:spPr>
          <a:xfrm>
            <a:off x="8001000" y="2057400"/>
            <a:ext cx="3581400" cy="18415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01808CF-279B-F740-B2EE-528F536FBCE4}"/>
              </a:ext>
            </a:extLst>
          </p:cNvPr>
          <p:cNvSpPr txBox="1"/>
          <p:nvPr/>
        </p:nvSpPr>
        <p:spPr>
          <a:xfrm>
            <a:off x="8229600" y="2235200"/>
            <a:ext cx="508000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400">
                <a:latin typeface="Segoe UI Emoji"/>
                <a:ea typeface="Segoe UI Emoji"/>
              </a:rPr>
              <a:t>🔄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E31CE00-D3D8-FF45-9AEA-9CBF33540835}"/>
              </a:ext>
            </a:extLst>
          </p:cNvPr>
          <p:cNvSpPr txBox="1"/>
          <p:nvPr/>
        </p:nvSpPr>
        <p:spPr>
          <a:xfrm>
            <a:off x="8229600" y="2794000"/>
            <a:ext cx="31242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700" b="1">
                <a:solidFill>
                  <a:srgbClr val="22D3EE"/>
                </a:solidFill>
                <a:latin typeface="Inter"/>
              </a:rPr>
              <a:t>Mise à jour auto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4540BDA-D9FE-EC46-8971-4CE0C9FAF2FB}"/>
              </a:ext>
            </a:extLst>
          </p:cNvPr>
          <p:cNvSpPr txBox="1"/>
          <p:nvPr/>
        </p:nvSpPr>
        <p:spPr>
          <a:xfrm>
            <a:off x="8229600" y="3200400"/>
            <a:ext cx="3124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Refresh automatique des événements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6FF7AA36-DCD8-AE4F-BB85-D4D0AE28920D}"/>
              </a:ext>
            </a:extLst>
          </p:cNvPr>
          <p:cNvSpPr/>
          <p:nvPr/>
        </p:nvSpPr>
        <p:spPr>
          <a:xfrm>
            <a:off x="2476500" y="4064000"/>
            <a:ext cx="3581400" cy="18415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F472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64ABCA5-F880-1B41-B3CA-1E4BCE2FE4FE}"/>
              </a:ext>
            </a:extLst>
          </p:cNvPr>
          <p:cNvSpPr txBox="1"/>
          <p:nvPr/>
        </p:nvSpPr>
        <p:spPr>
          <a:xfrm>
            <a:off x="2705100" y="4241800"/>
            <a:ext cx="508000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400">
                <a:latin typeface="Segoe UI Emoji"/>
                <a:ea typeface="Segoe UI Emoji"/>
              </a:rPr>
              <a:t>🎯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C455F7F-7C4A-CF46-BB83-F44579DAC9A9}"/>
              </a:ext>
            </a:extLst>
          </p:cNvPr>
          <p:cNvSpPr txBox="1"/>
          <p:nvPr/>
        </p:nvSpPr>
        <p:spPr>
          <a:xfrm>
            <a:off x="2705100" y="4800600"/>
            <a:ext cx="31242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700" b="1">
                <a:solidFill>
                  <a:srgbClr val="F472B6"/>
                </a:solidFill>
                <a:latin typeface="Inter"/>
              </a:rPr>
              <a:t>Personnalisation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59E5AB2-EC84-764C-91AC-90CEDDA3E336}"/>
              </a:ext>
            </a:extLst>
          </p:cNvPr>
          <p:cNvSpPr txBox="1"/>
          <p:nvPr/>
        </p:nvSpPr>
        <p:spPr>
          <a:xfrm>
            <a:off x="2705100" y="5207000"/>
            <a:ext cx="3124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Recommandations adaptées par profil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38BCA1AF-F64A-8349-955A-7597E6B34ADE}"/>
              </a:ext>
            </a:extLst>
          </p:cNvPr>
          <p:cNvSpPr/>
          <p:nvPr/>
        </p:nvSpPr>
        <p:spPr>
          <a:xfrm>
            <a:off x="6172200" y="4064000"/>
            <a:ext cx="3581400" cy="1841500"/>
          </a:xfrm>
          <a:prstGeom prst="roundRect">
            <a:avLst/>
          </a:prstGeom>
          <a:solidFill>
            <a:srgbClr val="1E293B"/>
          </a:solidFill>
          <a:ln w="9525" cap="flat" cmpd="sng" algn="ctr">
            <a:solidFill>
              <a:srgbClr val="34D3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B435360-0D72-3E4B-9CA6-306849DF83B6}"/>
              </a:ext>
            </a:extLst>
          </p:cNvPr>
          <p:cNvSpPr txBox="1"/>
          <p:nvPr/>
        </p:nvSpPr>
        <p:spPr>
          <a:xfrm>
            <a:off x="6400800" y="4241800"/>
            <a:ext cx="508000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2400">
                <a:latin typeface="Segoe UI Emoji"/>
                <a:ea typeface="Segoe UI Emoji"/>
              </a:rPr>
              <a:t>🚀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F08E002-15F3-264C-A85E-F81E71901110}"/>
              </a:ext>
            </a:extLst>
          </p:cNvPr>
          <p:cNvSpPr txBox="1"/>
          <p:nvPr/>
        </p:nvSpPr>
        <p:spPr>
          <a:xfrm>
            <a:off x="6400800" y="4800600"/>
            <a:ext cx="31242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700" b="1">
                <a:solidFill>
                  <a:srgbClr val="34D399"/>
                </a:solidFill>
                <a:latin typeface="Inter"/>
              </a:rPr>
              <a:t>Mise en production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5934E71-0EB8-0646-ACE7-97069EDC7F99}"/>
              </a:ext>
            </a:extLst>
          </p:cNvPr>
          <p:cNvSpPr txBox="1"/>
          <p:nvPr/>
        </p:nvSpPr>
        <p:spPr>
          <a:xfrm>
            <a:off x="6400800" y="5207000"/>
            <a:ext cx="3124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CBD5E1"/>
                </a:solidFill>
                <a:latin typeface="Inter"/>
              </a:rPr>
              <a:t>Déploiement du chatbot</a:t>
            </a:r>
          </a:p>
        </p:txBody>
      </p:sp>
    </p:spTree>
    <p:extLst>
      <p:ext uri="{BB962C8B-B14F-4D97-AF65-F5344CB8AC3E}">
        <p14:creationId xmlns:p14="http://schemas.microsoft.com/office/powerpoint/2010/main" val="3590392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 [1780962746613]">
  <a:themeElements>
    <a:clrScheme name="Office">
      <a:dk1>
        <a:srgbClr val="F8FAFC"/>
      </a:dk1>
      <a:lt1>
        <a:srgbClr val="0B1226"/>
      </a:lt1>
      <a:dk2>
        <a:srgbClr val="CBD5E1"/>
      </a:dk2>
      <a:lt2>
        <a:srgbClr val="1E293B"/>
      </a:lt2>
      <a:accent1>
        <a:srgbClr val="60A5FA"/>
      </a:accent1>
      <a:accent2>
        <a:srgbClr val="A78BFA"/>
      </a:accent2>
      <a:accent3>
        <a:srgbClr val="22D3EE"/>
      </a:accent3>
      <a:accent4>
        <a:srgbClr val="F472B6"/>
      </a:accent4>
      <a:accent5>
        <a:srgbClr val="34D399"/>
      </a:accent5>
      <a:accent6>
        <a:srgbClr val="FBBF24"/>
      </a:accent6>
      <a:hlink>
        <a:srgbClr val="0563C1"/>
      </a:hlink>
      <a:folHlink>
        <a:srgbClr val="954F72"/>
      </a:folHlink>
    </a:clrScheme>
    <a:fontScheme name="Office">
      <a:majorFont>
        <a:latin typeface="Int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B73CA4-107F-A241-A248-7B8DC888580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ceadd07-c17f-4761-8574-fde562e8448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1237</Words>
  <Application>Microsoft Macintosh PowerPoint</Application>
  <PresentationFormat>Grand écran</PresentationFormat>
  <Paragraphs>310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9" baseType="lpstr">
      <vt:lpstr>Arial</vt:lpstr>
      <vt:lpstr>Courier New</vt:lpstr>
      <vt:lpstr>Inter</vt:lpstr>
      <vt:lpstr>Segoe UI Emoji</vt:lpstr>
      <vt:lpstr>Thème Office [1780962746613]</vt:lpstr>
      <vt:lpstr>Présentation PowerPoint</vt:lpstr>
      <vt:lpstr>Sommaire</vt:lpstr>
      <vt:lpstr>Introduction</vt:lpstr>
      <vt:lpstr>Problématique</vt:lpstr>
      <vt:lpstr>Objectifs</vt:lpstr>
      <vt:lpstr>Présentation du RAG</vt:lpstr>
      <vt:lpstr>Présentation de Mistral AI</vt:lpstr>
      <vt:lpstr>Présentation de FAISS</vt:lpstr>
      <vt:lpstr>Présentation de LangChain</vt:lpstr>
      <vt:lpstr>Architecture globale du système</vt:lpstr>
      <vt:lpstr>Collecte des événements culturels</vt:lpstr>
      <vt:lpstr>Nettoyage et prétraitement</vt:lpstr>
      <vt:lpstr>Génération des embeddings</vt:lpstr>
      <vt:lpstr>Création de la base vectorielle</vt:lpstr>
      <vt:lpstr>Mise en place de la recherche sémantique</vt:lpstr>
      <vt:lpstr>Génération des réponses avec Mistral</vt:lpstr>
      <vt:lpstr>Orchestration avec LangChain</vt:lpstr>
      <vt:lpstr>Tests du chatbot</vt:lpstr>
      <vt:lpstr>Exemples de recommandations</vt:lpstr>
      <vt:lpstr>Évaluation des réponses</vt:lpstr>
      <vt:lpstr>Architecture finale du système</vt:lpstr>
      <vt:lpstr>Bilan du projet</vt:lpstr>
      <vt:lpstr>Difficultés rencontrées</vt:lpstr>
      <vt:lpstr>Améliorations possibles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Aime ENDAYE MAZINA</dc:creator>
  <cp:lastModifiedBy>Aime ENDAYE MAZINA</cp:lastModifiedBy>
  <cp:revision>23</cp:revision>
  <dcterms:created xsi:type="dcterms:W3CDTF">2026-06-08T11:11:06Z</dcterms:created>
  <dcterms:modified xsi:type="dcterms:W3CDTF">2026-06-09T10:18:30Z</dcterms:modified>
</cp:coreProperties>
</file>