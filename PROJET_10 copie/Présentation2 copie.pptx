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  <p:sldId id="270" r:id="rId5"/>
    <p:sldId id="276" r:id="rId6"/>
    <p:sldId id="275" r:id="rId7"/>
    <p:sldId id="274" r:id="rId8"/>
    <p:sldId id="280" r:id="rId9"/>
    <p:sldId id="277" r:id="rId10"/>
    <p:sldId id="278" r:id="rId11"/>
    <p:sldId id="273" r:id="rId12"/>
    <p:sldId id="281" r:id="rId13"/>
    <p:sldId id="282" r:id="rId14"/>
    <p:sldId id="283" r:id="rId15"/>
    <p:sldId id="284" r:id="rId16"/>
    <p:sldId id="285" r:id="rId17"/>
    <p:sldId id="286" r:id="rId18"/>
    <p:sldId id="272" r:id="rId19"/>
    <p:sldId id="291" r:id="rId20"/>
    <p:sldId id="287" r:id="rId21"/>
    <p:sldId id="288" r:id="rId22"/>
    <p:sldId id="271" r:id="rId23"/>
    <p:sldId id="292" r:id="rId24"/>
    <p:sldId id="295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38"/>
  </p:normalViewPr>
  <p:slideViewPr>
    <p:cSldViewPr snapToGrid="0">
      <p:cViewPr varScale="1">
        <p:scale>
          <a:sx n="126" d="100"/>
          <a:sy n="126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9754D9-19E1-6941-94FF-82C15B380B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49E7A6D-D5D3-7ADF-0D41-D48C9DDBF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7C7799-2CD2-1EF9-8174-BF68BB8A9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AF5E-1510-944A-8719-D7744F0B702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363BFD-9428-119E-4480-D2F8382F9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870494-356A-2483-8C2B-BC2EDC5F3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7293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54B70F-9F32-2DFF-CBC5-03C9F5288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725279-1F59-7F25-82D8-674615C3E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52BDD7-E3D3-C33F-9C5A-6B91201C7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AF5E-1510-944A-8719-D7744F0B702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02C566-1249-EB12-8CD6-20A619BD3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18746B-C8F5-C360-93E8-A12A343BF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8753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291304-968B-8E96-232D-1491D6804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073C58-E3B9-C20F-AA12-69E0BC4E5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9F8233-2421-5DE5-95F3-6C947435B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AF5E-1510-944A-8719-D7744F0B702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9F87D0-EAA8-D664-BC90-13B44B80A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3C4B2B-DD5A-1C3D-C39A-B3B2E93A5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2355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B907CE-7ACE-E007-0185-B31011FAE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6AF131-EAF0-706E-B324-21708A0DB1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87A3257-0CD5-EBBA-4DB6-C7DFEEC56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F22558E-415C-EC56-72C4-186D63E19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AF5E-1510-944A-8719-D7744F0B702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63DAB7-9580-BDBF-4359-613DDE700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A2E8AD-3EA3-A50D-AD4B-7803AFEE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96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9A6238-6B26-484E-554A-48A8E725A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A9CEEE8-9FAD-E136-783C-47F83EE1F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8086274-72DD-CE70-2287-2C0277D8D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7AB3F9C-0B92-545E-F32E-3701BB5ACC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0855A06-CF7D-1E44-E743-E7ADEFDCE4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90D99DF-BC8C-082F-914C-91B6F17D7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AF5E-1510-944A-8719-D7744F0B702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DE4E215-1F35-BAB5-B609-AE4B0B8D6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D43A9A5-9D6E-9595-6493-D350DAC8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6062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10FB2E-50AC-29BC-C74E-36269F795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73F8361-C01E-C185-1D3C-4A70B7FE6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AF5E-1510-944A-8719-D7744F0B702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D2B991E-AB46-4653-1F2A-87E4B1F67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6FDE8E-A597-F81B-239C-A4A5FE04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1446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4646ACA-D131-F3AE-3E15-61F88F6AD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AF5E-1510-944A-8719-D7744F0B702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DFEE752-29E3-639D-8E4E-40BA3658E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626E52-268A-3AD0-2EF7-25260A04A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9485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A8615A-F99E-36A9-1120-322864094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D05020-C4EB-F7B5-583C-5B4CE68DA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3398968-3139-CE74-74EF-2FCCF6D5B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79B0BD-6551-2F5A-5320-EEB3EDE97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AF5E-1510-944A-8719-D7744F0B702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2F16638-6F29-CE0C-15D7-848C8B30C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C41AE2-7A76-507B-4A55-B4F771E0C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3630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87932-1CAD-9FAC-668A-2E73EEB67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683DC08-9B10-6499-5F88-1B0411D34B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3B6F9A3-98E8-72B4-B9E3-900EABEDE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8DD89BE-F591-227D-B3A5-DA4C348FB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AF5E-1510-944A-8719-D7744F0B702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4FC705A-1456-2084-FBC2-8D6C5FEE5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B416227-E618-5EBD-1176-24ACB64E5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7417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C96CA6-EF15-2483-BC37-FF5A045A2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ACEED51-DB7C-8BE2-0837-5B155AA0B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74E2B6-7732-4668-31EA-60AED93C4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AF5E-1510-944A-8719-D7744F0B702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656896-A1DC-A446-541B-D2EB1FBD8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408DC1-5FF8-5563-59B8-4A8E495C4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40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A2785C9-F6C9-7E4E-C6B8-03B8CC4C1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C094EF-A96D-FC67-B816-F6D791447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CF201D-2702-F927-FAF2-B63FE05D8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AF5E-1510-944A-8719-D7744F0B702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417F95-1A3A-DD1F-6C6A-BA8D0C46F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9449EC-A3F4-F8CA-6794-3F516D9FD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6546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59B8F0F-6ADC-343B-0CD4-1A011BAAF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744D02-8EB7-78E2-0232-1895BF071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BCEDAD-CC9A-EAD0-C3C0-9895393AB8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5BAF5E-1510-944A-8719-D7744F0B702A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03E011-FD01-5760-26E0-E7841DC56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E0D123-5B3A-B380-D424-5C339D52A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4043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11EA33-1F82-C384-2B0F-D61A4BCF8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1C749E17-CB0B-8A22-434D-CCC8A8AFF362}"/>
              </a:ext>
            </a:extLst>
          </p:cNvPr>
          <p:cNvSpPr txBox="1"/>
          <p:nvPr/>
        </p:nvSpPr>
        <p:spPr>
          <a:xfrm>
            <a:off x="101600" y="1114475"/>
            <a:ext cx="118059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Industrialisation d’un pipeline de transformation de données avec Kestra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E6D7033-D6FD-047B-6B45-C3AF025BD1D2}"/>
              </a:ext>
            </a:extLst>
          </p:cNvPr>
          <p:cNvSpPr txBox="1"/>
          <p:nvPr/>
        </p:nvSpPr>
        <p:spPr>
          <a:xfrm>
            <a:off x="101600" y="2634982"/>
            <a:ext cx="110642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800" b="1" dirty="0"/>
              <a:t>Projet de Data Engineering</a:t>
            </a:r>
          </a:p>
          <a:p>
            <a:pPr>
              <a:buNone/>
            </a:pPr>
            <a:endParaRPr lang="fr-FR" sz="2800" dirty="0"/>
          </a:p>
          <a:p>
            <a:pPr>
              <a:buNone/>
            </a:pPr>
            <a:r>
              <a:rPr lang="fr-FR" sz="2800" dirty="0"/>
              <a:t>workflow automatisé</a:t>
            </a:r>
            <a:br>
              <a:rPr lang="fr-FR" sz="2800" dirty="0"/>
            </a:br>
            <a:r>
              <a:rPr lang="fr-FR" sz="2800" dirty="0"/>
              <a:t>traitement SQL et Python</a:t>
            </a:r>
            <a:br>
              <a:rPr lang="fr-FR" sz="2800" dirty="0"/>
            </a:br>
            <a:r>
              <a:rPr lang="fr-FR" sz="2800" dirty="0"/>
              <a:t>tests qualité intégrés</a:t>
            </a:r>
            <a:br>
              <a:rPr lang="fr-FR" sz="2800" dirty="0"/>
            </a:br>
            <a:r>
              <a:rPr lang="fr-FR" sz="2800" dirty="0"/>
              <a:t>exports automatisés et planification</a:t>
            </a:r>
          </a:p>
        </p:txBody>
      </p:sp>
    </p:spTree>
    <p:extLst>
      <p:ext uri="{BB962C8B-B14F-4D97-AF65-F5344CB8AC3E}">
        <p14:creationId xmlns:p14="http://schemas.microsoft.com/office/powerpoint/2010/main" val="282827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062E9911-93F2-874D-A1C4-9C72B477E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913" y="1068516"/>
            <a:ext cx="9994773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ctr">
              <a:buAutoNum type="arabicPeriod"/>
            </a:pPr>
            <a:r>
              <a:rPr lang="fr-FR" sz="1600" b="1" dirty="0"/>
              <a:t>Introduction</a:t>
            </a:r>
            <a:br>
              <a:rPr lang="fr-FR" sz="1600" dirty="0"/>
            </a:br>
            <a:r>
              <a:rPr lang="fr-FR" sz="1600" dirty="0"/>
              <a:t>1.1 Contexte du projet </a:t>
            </a:r>
            <a:r>
              <a:rPr lang="fr-FR" sz="1600" dirty="0" err="1"/>
              <a:t>BottleNeck</a:t>
            </a:r>
            <a:r>
              <a:rPr lang="fr-FR" sz="1600" dirty="0"/>
              <a:t>, 1.2 Problématique métier, 1.3 Objectifs du projet, 1.4 Présentation des données</a:t>
            </a:r>
          </a:p>
          <a:p>
            <a:pPr marL="342900" indent="-342900" algn="ctr">
              <a:buAutoNum type="arabicPeriod"/>
            </a:pPr>
            <a:endParaRPr lang="fr-FR" sz="1600" dirty="0"/>
          </a:p>
          <a:p>
            <a:pPr algn="ctr"/>
            <a:r>
              <a:rPr lang="fr-FR" sz="1600" b="1" dirty="0"/>
              <a:t>2. Conception de l’architecture d’automatisation</a:t>
            </a:r>
            <a:br>
              <a:rPr lang="fr-FR" sz="1600" dirty="0"/>
            </a:br>
            <a:r>
              <a:rPr lang="fr-FR" sz="1600" dirty="0"/>
              <a:t>2.1 Compréhension des besoins métiers, 2.2 Construction du diagramme du pipeline, 2.4 Intégration des tests qualité</a:t>
            </a:r>
          </a:p>
          <a:p>
            <a:pPr algn="ctr"/>
            <a:endParaRPr lang="fr-FR" sz="1600" dirty="0"/>
          </a:p>
          <a:p>
            <a:pPr algn="ctr"/>
            <a:r>
              <a:rPr lang="fr-FR" sz="1600" b="1" dirty="0"/>
              <a:t>3. Construction du workflow avec Kestra</a:t>
            </a:r>
            <a:br>
              <a:rPr lang="fr-FR" sz="1600" dirty="0"/>
            </a:br>
            <a:r>
              <a:rPr lang="fr-FR" sz="1600" dirty="0"/>
              <a:t>3.1 Présentation de Kestra, 3.2 Développement des traitements SQL avec </a:t>
            </a:r>
            <a:r>
              <a:rPr lang="fr-FR" sz="1600" dirty="0" err="1"/>
              <a:t>DuckDB</a:t>
            </a:r>
            <a:r>
              <a:rPr lang="fr-FR" sz="1600" dirty="0"/>
              <a:t>, 3.3 Développement des scripts Python, 3.4 Implémentation du workflow YAML, 3.5 Déclenchement automatique du pipeline</a:t>
            </a:r>
          </a:p>
          <a:p>
            <a:pPr algn="ctr"/>
            <a:endParaRPr lang="fr-FR" sz="1600" dirty="0"/>
          </a:p>
          <a:p>
            <a:pPr algn="ctr"/>
            <a:r>
              <a:rPr lang="fr-FR" sz="1600" b="1" dirty="0"/>
              <a:t>4. Résultats obtenus</a:t>
            </a:r>
            <a:br>
              <a:rPr lang="fr-FR" sz="1600" dirty="0"/>
            </a:br>
            <a:r>
              <a:rPr lang="fr-FR" sz="1600" dirty="0"/>
              <a:t>5.1 Résultats après nettoyage, 5.2 Résultats métier, 5.3 Exports générés automatiquement</a:t>
            </a:r>
          </a:p>
          <a:p>
            <a:pPr algn="ctr"/>
            <a:endParaRPr lang="fr-FR" sz="1600" dirty="0"/>
          </a:p>
          <a:p>
            <a:pPr algn="ctr"/>
            <a:r>
              <a:rPr lang="fr-FR" sz="1600" b="1" dirty="0"/>
              <a:t>5. Conclusion</a:t>
            </a:r>
            <a:br>
              <a:rPr lang="fr-FR" sz="1600" dirty="0"/>
            </a:br>
            <a:r>
              <a:rPr lang="fr-FR" sz="1600" dirty="0"/>
              <a:t>6.1 Bilan du projet, 6.2 Difficultés rencontrées, 6.3 Améliorations possibles</a:t>
            </a:r>
          </a:p>
          <a:p>
            <a:pPr algn="ctr"/>
            <a:endParaRPr lang="fr-FR" sz="1600" dirty="0"/>
          </a:p>
          <a:p>
            <a:pPr algn="ctr"/>
            <a:r>
              <a:rPr lang="fr-FR" sz="1600" b="1" dirty="0"/>
              <a:t>6. Démonstration</a:t>
            </a:r>
            <a:br>
              <a:rPr lang="fr-FR" sz="1600" dirty="0"/>
            </a:br>
            <a:r>
              <a:rPr lang="fr-FR" sz="1600" dirty="0"/>
              <a:t>7.1 Exécution du workflow, 7.2 Observation des résultats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6B76B07-689E-1747-E384-D7561B381E9A}"/>
              </a:ext>
            </a:extLst>
          </p:cNvPr>
          <p:cNvSpPr txBox="1"/>
          <p:nvPr/>
        </p:nvSpPr>
        <p:spPr>
          <a:xfrm>
            <a:off x="5192485" y="49450"/>
            <a:ext cx="12736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Sommaire</a:t>
            </a:r>
          </a:p>
        </p:txBody>
      </p:sp>
    </p:spTree>
    <p:extLst>
      <p:ext uri="{BB962C8B-B14F-4D97-AF65-F5344CB8AC3E}">
        <p14:creationId xmlns:p14="http://schemas.microsoft.com/office/powerpoint/2010/main" val="937631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9FA1B5-05B3-8EA3-650D-7D7B85176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03D2E09D-7330-91A7-D9B8-42A95AE7935F}"/>
              </a:ext>
            </a:extLst>
          </p:cNvPr>
          <p:cNvSpPr txBox="1"/>
          <p:nvPr/>
        </p:nvSpPr>
        <p:spPr>
          <a:xfrm>
            <a:off x="193040" y="2112278"/>
            <a:ext cx="115620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Contexte</a:t>
            </a:r>
          </a:p>
          <a:p>
            <a:pPr>
              <a:buNone/>
            </a:pPr>
            <a:r>
              <a:rPr lang="fr-FR" dirty="0"/>
              <a:t>• </a:t>
            </a:r>
            <a:r>
              <a:rPr lang="fr-FR" dirty="0" err="1"/>
              <a:t>BottleNeck</a:t>
            </a:r>
            <a:r>
              <a:rPr lang="fr-FR" dirty="0"/>
              <a:t> exploite plusieurs sources de données pour suivre ses ventes et segmenter ses produits.</a:t>
            </a:r>
          </a:p>
          <a:p>
            <a:pPr>
              <a:buNone/>
            </a:pPr>
            <a:r>
              <a:rPr lang="fr-FR" dirty="0"/>
              <a:t>• Les analyses réalisées nécessitent des traitements de </a:t>
            </a:r>
            <a:r>
              <a:rPr lang="fr-FR" b="1" dirty="0"/>
              <a:t>nettoyage, fusion et calcul du chiffre d’affaires</a:t>
            </a:r>
            <a:r>
              <a:rPr lang="fr-FR" dirty="0"/>
              <a:t>.</a:t>
            </a:r>
          </a:p>
          <a:p>
            <a:pPr>
              <a:buNone/>
            </a:pPr>
            <a:r>
              <a:rPr lang="fr-FR" dirty="0"/>
              <a:t>• Ces traitements doivent être </a:t>
            </a:r>
            <a:r>
              <a:rPr lang="fr-FR" b="1" dirty="0"/>
              <a:t>automatisés</a:t>
            </a:r>
            <a:r>
              <a:rPr lang="fr-FR" dirty="0"/>
              <a:t> afin de produire des résultats fiables et des rapports réguliers.</a:t>
            </a:r>
          </a:p>
          <a:p>
            <a:pPr>
              <a:buNone/>
            </a:pPr>
            <a:r>
              <a:rPr lang="fr-FR" dirty="0"/>
              <a:t>• L’entreprise souhaite industrialiser ce processus avec </a:t>
            </a:r>
            <a:r>
              <a:rPr lang="fr-FR" b="1" dirty="0"/>
              <a:t>Kestra</a:t>
            </a:r>
            <a:r>
              <a:rPr lang="fr-FR" dirty="0"/>
              <a:t>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2D95D06-C519-775D-5D7F-A29F582186B5}"/>
              </a:ext>
            </a:extLst>
          </p:cNvPr>
          <p:cNvSpPr txBox="1"/>
          <p:nvPr/>
        </p:nvSpPr>
        <p:spPr>
          <a:xfrm>
            <a:off x="5003800" y="0"/>
            <a:ext cx="218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Introduction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236337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B20002-0C11-D661-CF89-3A3A5579A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8F5D50D-F974-EA79-D294-E778F4F88C86}"/>
              </a:ext>
            </a:extLst>
          </p:cNvPr>
          <p:cNvSpPr txBox="1"/>
          <p:nvPr/>
        </p:nvSpPr>
        <p:spPr>
          <a:xfrm>
            <a:off x="142240" y="2267357"/>
            <a:ext cx="838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Problématique</a:t>
            </a:r>
          </a:p>
          <a:p>
            <a:pPr>
              <a:buNone/>
            </a:pPr>
            <a:r>
              <a:rPr lang="fr-FR" b="1" dirty="0"/>
              <a:t>Comment automatiser un pipeline capable de :</a:t>
            </a:r>
          </a:p>
          <a:p>
            <a:pPr>
              <a:buNone/>
            </a:pPr>
            <a:r>
              <a:rPr lang="fr-FR" dirty="0"/>
              <a:t>• traiter plusieurs sources de données</a:t>
            </a:r>
          </a:p>
          <a:p>
            <a:pPr>
              <a:buNone/>
            </a:pPr>
            <a:r>
              <a:rPr lang="fr-FR" dirty="0"/>
              <a:t>• garantir la qualité des traitements</a:t>
            </a:r>
          </a:p>
          <a:p>
            <a:pPr>
              <a:buNone/>
            </a:pPr>
            <a:r>
              <a:rPr lang="fr-FR" dirty="0"/>
              <a:t>• produire automatiquement des analyses exploitables</a:t>
            </a:r>
          </a:p>
          <a:p>
            <a:pPr>
              <a:buNone/>
            </a:pPr>
            <a:r>
              <a:rPr lang="fr-FR" dirty="0"/>
              <a:t>• planifier l’exécution régulière du workflow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AEEDED3-CFD7-8BA7-228F-32D1334F732D}"/>
              </a:ext>
            </a:extLst>
          </p:cNvPr>
          <p:cNvSpPr txBox="1"/>
          <p:nvPr/>
        </p:nvSpPr>
        <p:spPr>
          <a:xfrm>
            <a:off x="5013960" y="0"/>
            <a:ext cx="2164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Introduction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362753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CF2AFC-C23D-9189-F470-D56D649AD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200A08-FD53-B91A-6F50-F012EFE1478B}"/>
              </a:ext>
            </a:extLst>
          </p:cNvPr>
          <p:cNvSpPr txBox="1"/>
          <p:nvPr/>
        </p:nvSpPr>
        <p:spPr>
          <a:xfrm>
            <a:off x="142240" y="1993037"/>
            <a:ext cx="82600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Objectifs</a:t>
            </a:r>
          </a:p>
          <a:p>
            <a:pPr>
              <a:buNone/>
            </a:pPr>
            <a:r>
              <a:rPr lang="fr-FR" dirty="0"/>
              <a:t>• Construire un workflow automatisé avec </a:t>
            </a:r>
            <a:r>
              <a:rPr lang="fr-FR" b="1" dirty="0"/>
              <a:t>Kestra</a:t>
            </a:r>
            <a:endParaRPr lang="fr-FR" dirty="0"/>
          </a:p>
          <a:p>
            <a:pPr>
              <a:buNone/>
            </a:pPr>
            <a:r>
              <a:rPr lang="fr-FR" dirty="0"/>
              <a:t>• Automatiser le nettoyage, la fusion et les calculs</a:t>
            </a:r>
          </a:p>
          <a:p>
            <a:pPr>
              <a:buNone/>
            </a:pPr>
            <a:r>
              <a:rPr lang="fr-FR" dirty="0"/>
              <a:t>• Identifier les </a:t>
            </a:r>
            <a:r>
              <a:rPr lang="fr-FR" b="1" dirty="0"/>
              <a:t>vins premium</a:t>
            </a:r>
            <a:r>
              <a:rPr lang="fr-FR" dirty="0"/>
              <a:t> via le </a:t>
            </a:r>
            <a:r>
              <a:rPr lang="fr-FR" b="1" dirty="0"/>
              <a:t>Z-score</a:t>
            </a:r>
            <a:endParaRPr lang="fr-FR" dirty="0"/>
          </a:p>
          <a:p>
            <a:pPr>
              <a:buNone/>
            </a:pPr>
            <a:r>
              <a:rPr lang="fr-FR" dirty="0"/>
              <a:t>• Générer automatiquement les exports métiers</a:t>
            </a:r>
          </a:p>
          <a:p>
            <a:pPr>
              <a:buNone/>
            </a:pPr>
            <a:r>
              <a:rPr lang="fr-FR" dirty="0"/>
              <a:t>• Intégrer des </a:t>
            </a:r>
            <a:r>
              <a:rPr lang="fr-FR" b="1" dirty="0"/>
              <a:t>tests qualité</a:t>
            </a:r>
            <a:r>
              <a:rPr lang="fr-FR" dirty="0"/>
              <a:t> au pipeline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FB48129-F399-73D9-63A4-0FC3F6D2DDE0}"/>
              </a:ext>
            </a:extLst>
          </p:cNvPr>
          <p:cNvSpPr txBox="1"/>
          <p:nvPr/>
        </p:nvSpPr>
        <p:spPr>
          <a:xfrm>
            <a:off x="5008880" y="0"/>
            <a:ext cx="217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Introduction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954076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52B953-776F-8B81-8B9E-AAD82921E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94E5825A-B318-3645-7EC0-DDA3770F173B}"/>
              </a:ext>
            </a:extLst>
          </p:cNvPr>
          <p:cNvSpPr txBox="1"/>
          <p:nvPr/>
        </p:nvSpPr>
        <p:spPr>
          <a:xfrm>
            <a:off x="203200" y="2551837"/>
            <a:ext cx="71932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Présentation des données</a:t>
            </a:r>
          </a:p>
          <a:p>
            <a:pPr>
              <a:buNone/>
            </a:pPr>
            <a:r>
              <a:rPr lang="fr-FR" dirty="0"/>
              <a:t>• </a:t>
            </a:r>
            <a:r>
              <a:rPr lang="fr-FR" b="1" dirty="0" err="1"/>
              <a:t>ERP.xlsx</a:t>
            </a:r>
            <a:r>
              <a:rPr lang="fr-FR" dirty="0"/>
              <a:t> → données commerciales</a:t>
            </a:r>
          </a:p>
          <a:p>
            <a:pPr>
              <a:buNone/>
            </a:pPr>
            <a:r>
              <a:rPr lang="fr-FR" dirty="0"/>
              <a:t>• </a:t>
            </a:r>
            <a:r>
              <a:rPr lang="fr-FR" b="1" dirty="0" err="1"/>
              <a:t>WEB.xlsx</a:t>
            </a:r>
            <a:r>
              <a:rPr lang="fr-FR" dirty="0"/>
              <a:t> → données CMS / ventes en ligne</a:t>
            </a:r>
          </a:p>
          <a:p>
            <a:pPr>
              <a:buNone/>
            </a:pPr>
            <a:r>
              <a:rPr lang="fr-FR" dirty="0"/>
              <a:t>• </a:t>
            </a:r>
            <a:r>
              <a:rPr lang="fr-FR" b="1" dirty="0" err="1"/>
              <a:t>LIAISON.xlsx</a:t>
            </a:r>
            <a:r>
              <a:rPr lang="fr-FR" dirty="0"/>
              <a:t> → correspondance entre systèmes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dirty="0"/>
              <a:t>• </a:t>
            </a:r>
            <a:r>
              <a:rPr lang="fr-FR" b="1" dirty="0"/>
              <a:t>Objectif :</a:t>
            </a:r>
            <a:r>
              <a:rPr lang="fr-FR" dirty="0"/>
              <a:t> fusionner ces sources pour produire des analyses fiables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DD8AAF6-793F-193D-1CED-0F4C5807B2D4}"/>
              </a:ext>
            </a:extLst>
          </p:cNvPr>
          <p:cNvSpPr txBox="1"/>
          <p:nvPr/>
        </p:nvSpPr>
        <p:spPr>
          <a:xfrm>
            <a:off x="4681220" y="74414"/>
            <a:ext cx="2829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Introduction</a:t>
            </a:r>
            <a:endParaRPr lang="fr-FR" sz="28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326E10C-6E79-88D6-2237-0919F58C3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252" y="842278"/>
            <a:ext cx="3716708" cy="153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549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F1770E-03BC-9AE2-16DD-32AEC0351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AA74118-6682-A871-E699-0F819B2D128D}"/>
              </a:ext>
            </a:extLst>
          </p:cNvPr>
          <p:cNvSpPr txBox="1"/>
          <p:nvPr/>
        </p:nvSpPr>
        <p:spPr>
          <a:xfrm>
            <a:off x="2804160" y="0"/>
            <a:ext cx="8036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 Conception de l’architecture d’automatisation</a:t>
            </a:r>
            <a:endParaRPr lang="fr-FR" sz="24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03CC5A5-61C5-81DF-9C92-F21C78815B92}"/>
              </a:ext>
            </a:extLst>
          </p:cNvPr>
          <p:cNvSpPr txBox="1"/>
          <p:nvPr/>
        </p:nvSpPr>
        <p:spPr>
          <a:xfrm>
            <a:off x="203200" y="2079397"/>
            <a:ext cx="64312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Compréhension des besoins métiers</a:t>
            </a:r>
          </a:p>
          <a:p>
            <a:pPr>
              <a:buNone/>
            </a:pPr>
            <a:r>
              <a:rPr lang="fr-FR" dirty="0"/>
              <a:t>• Automatiser les traitements réalisés par le Data </a:t>
            </a:r>
            <a:r>
              <a:rPr lang="fr-FR" dirty="0" err="1"/>
              <a:t>Analyst</a:t>
            </a:r>
            <a:endParaRPr lang="fr-FR" dirty="0"/>
          </a:p>
          <a:p>
            <a:pPr>
              <a:buNone/>
            </a:pPr>
            <a:r>
              <a:rPr lang="fr-FR" dirty="0"/>
              <a:t>• Produire automatiquement les rapports de chiffre d’affaires</a:t>
            </a:r>
          </a:p>
          <a:p>
            <a:pPr>
              <a:buNone/>
            </a:pPr>
            <a:r>
              <a:rPr lang="fr-FR" dirty="0"/>
              <a:t>• Identifier les vins premium et ordinaires</a:t>
            </a:r>
          </a:p>
          <a:p>
            <a:pPr>
              <a:buNone/>
            </a:pPr>
            <a:r>
              <a:rPr lang="fr-FR" dirty="0"/>
              <a:t>• Garantir des résultats fiables grâce aux contrôles qualité</a:t>
            </a:r>
          </a:p>
          <a:p>
            <a:pPr>
              <a:buNone/>
            </a:pPr>
            <a:r>
              <a:rPr lang="fr-FR" dirty="0"/>
              <a:t>• Planifier l’exécution régulière du pipeline</a:t>
            </a:r>
          </a:p>
        </p:txBody>
      </p:sp>
    </p:spTree>
    <p:extLst>
      <p:ext uri="{BB962C8B-B14F-4D97-AF65-F5344CB8AC3E}">
        <p14:creationId xmlns:p14="http://schemas.microsoft.com/office/powerpoint/2010/main" val="1659032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DEDD22-8772-6643-539A-7DCD3E3FF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B985E7B5-16BB-2836-2AD0-312EF1101087}"/>
              </a:ext>
            </a:extLst>
          </p:cNvPr>
          <p:cNvSpPr txBox="1"/>
          <p:nvPr/>
        </p:nvSpPr>
        <p:spPr>
          <a:xfrm>
            <a:off x="2804160" y="0"/>
            <a:ext cx="8036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 Conception de l’architecture d’automatisation</a:t>
            </a:r>
            <a:endParaRPr lang="fr-FR" sz="24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C9637E8-B18C-7919-EA99-A243CCA8EDAB}"/>
              </a:ext>
            </a:extLst>
          </p:cNvPr>
          <p:cNvSpPr txBox="1"/>
          <p:nvPr/>
        </p:nvSpPr>
        <p:spPr>
          <a:xfrm>
            <a:off x="185057" y="2036804"/>
            <a:ext cx="70974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Objectif : conceptualiser l’enchaînement des traitements automatisés</a:t>
            </a:r>
            <a:endParaRPr lang="fr-FR" dirty="0"/>
          </a:p>
          <a:p>
            <a:r>
              <a:rPr lang="fr-FR" dirty="0"/>
              <a:t>• Import des fichiers ERP, WEB et LIAISON</a:t>
            </a:r>
          </a:p>
          <a:p>
            <a:r>
              <a:rPr lang="fr-FR" dirty="0"/>
              <a:t>• Nettoyage des données et suppression des doublons</a:t>
            </a:r>
          </a:p>
          <a:p>
            <a:r>
              <a:rPr lang="fr-FR" dirty="0"/>
              <a:t>• Fusion des différentes sources</a:t>
            </a:r>
          </a:p>
          <a:p>
            <a:r>
              <a:rPr lang="fr-FR" dirty="0"/>
              <a:t>• Calcul du chiffre d’affaires et détection des vins premium</a:t>
            </a:r>
          </a:p>
          <a:p>
            <a:r>
              <a:rPr lang="fr-FR" dirty="0"/>
              <a:t>• Génération automatique des exports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3AFB30B-6629-C543-F646-059996441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527" y="564252"/>
            <a:ext cx="3854416" cy="604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934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D9E895-4D5D-1011-672E-D9DC5140D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66BA3CC-EF7F-F32D-1F39-1DAA6F7DDB5C}"/>
              </a:ext>
            </a:extLst>
          </p:cNvPr>
          <p:cNvSpPr txBox="1"/>
          <p:nvPr/>
        </p:nvSpPr>
        <p:spPr>
          <a:xfrm>
            <a:off x="2804160" y="0"/>
            <a:ext cx="8036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 Conception de l’architecture d’automatisation</a:t>
            </a:r>
            <a:endParaRPr lang="fr-FR" sz="24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10F0384-C893-F48C-5C6B-7DB07F00A69F}"/>
              </a:ext>
            </a:extLst>
          </p:cNvPr>
          <p:cNvSpPr txBox="1"/>
          <p:nvPr/>
        </p:nvSpPr>
        <p:spPr>
          <a:xfrm>
            <a:off x="163286" y="1484955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Flux des traitements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b="1" dirty="0"/>
              <a:t>Pipeline de transformation des données</a:t>
            </a:r>
            <a:endParaRPr lang="fr-FR" dirty="0"/>
          </a:p>
          <a:p>
            <a:pPr>
              <a:buNone/>
            </a:pPr>
            <a:r>
              <a:rPr lang="fr-FR" dirty="0" err="1"/>
              <a:t>ERP.xlsx</a:t>
            </a:r>
            <a:r>
              <a:rPr lang="fr-FR" dirty="0"/>
              <a:t> + </a:t>
            </a:r>
            <a:r>
              <a:rPr lang="fr-FR" dirty="0" err="1"/>
              <a:t>WEB.xlsx</a:t>
            </a:r>
            <a:r>
              <a:rPr lang="fr-FR" dirty="0"/>
              <a:t> + </a:t>
            </a:r>
            <a:r>
              <a:rPr lang="fr-FR" dirty="0" err="1"/>
              <a:t>LIAISON.xlsx</a:t>
            </a:r>
            <a:endParaRPr lang="fr-FR" dirty="0"/>
          </a:p>
          <a:p>
            <a:pPr>
              <a:buNone/>
            </a:pPr>
            <a:r>
              <a:rPr lang="fr-FR" dirty="0"/>
              <a:t>↓</a:t>
            </a:r>
          </a:p>
          <a:p>
            <a:pPr>
              <a:buNone/>
            </a:pPr>
            <a:r>
              <a:rPr lang="fr-FR" dirty="0"/>
              <a:t>Nettoyage des données</a:t>
            </a:r>
          </a:p>
          <a:p>
            <a:pPr>
              <a:buNone/>
            </a:pPr>
            <a:r>
              <a:rPr lang="fr-FR" dirty="0"/>
              <a:t>↓</a:t>
            </a:r>
          </a:p>
          <a:p>
            <a:pPr>
              <a:buNone/>
            </a:pPr>
            <a:r>
              <a:rPr lang="fr-FR" dirty="0"/>
              <a:t>Fusion des systèmes</a:t>
            </a:r>
          </a:p>
          <a:p>
            <a:pPr>
              <a:buNone/>
            </a:pPr>
            <a:r>
              <a:rPr lang="fr-FR" dirty="0"/>
              <a:t>↓</a:t>
            </a:r>
          </a:p>
          <a:p>
            <a:pPr>
              <a:buNone/>
            </a:pPr>
            <a:r>
              <a:rPr lang="fr-FR" dirty="0"/>
              <a:t>Calcul chiffre d’affaires</a:t>
            </a:r>
          </a:p>
          <a:p>
            <a:pPr>
              <a:buNone/>
            </a:pPr>
            <a:r>
              <a:rPr lang="fr-FR" dirty="0"/>
              <a:t>↓</a:t>
            </a:r>
          </a:p>
          <a:p>
            <a:pPr>
              <a:buNone/>
            </a:pPr>
            <a:r>
              <a:rPr lang="fr-FR" dirty="0"/>
              <a:t>Calcul du Z-score</a:t>
            </a:r>
          </a:p>
          <a:p>
            <a:pPr>
              <a:buNone/>
            </a:pPr>
            <a:r>
              <a:rPr lang="fr-FR" dirty="0"/>
              <a:t>↓</a:t>
            </a:r>
          </a:p>
          <a:p>
            <a:pPr>
              <a:buNone/>
            </a:pPr>
            <a:r>
              <a:rPr lang="fr-FR" dirty="0"/>
              <a:t>Exports automatiques</a:t>
            </a:r>
          </a:p>
          <a:p>
            <a:pPr>
              <a:buNone/>
            </a:pPr>
            <a:r>
              <a:rPr lang="fr-FR" dirty="0"/>
              <a:t>↓</a:t>
            </a:r>
          </a:p>
          <a:p>
            <a:pPr>
              <a:buNone/>
            </a:pPr>
            <a:r>
              <a:rPr lang="fr-FR" dirty="0"/>
              <a:t>Tests qualité</a:t>
            </a:r>
          </a:p>
        </p:txBody>
      </p:sp>
    </p:spTree>
    <p:extLst>
      <p:ext uri="{BB962C8B-B14F-4D97-AF65-F5344CB8AC3E}">
        <p14:creationId xmlns:p14="http://schemas.microsoft.com/office/powerpoint/2010/main" val="1072739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8C7927-FA7E-436B-81E8-CB17941D4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0F8664B7-4735-9014-83A9-6A17FEEB8872}"/>
              </a:ext>
            </a:extLst>
          </p:cNvPr>
          <p:cNvSpPr txBox="1"/>
          <p:nvPr/>
        </p:nvSpPr>
        <p:spPr>
          <a:xfrm>
            <a:off x="2804160" y="0"/>
            <a:ext cx="8036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 Conception de l’architecture d’automatisation</a:t>
            </a:r>
            <a:endParaRPr lang="fr-FR" sz="24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6F698BD-D3DF-4978-A303-90C66D420B48}"/>
              </a:ext>
            </a:extLst>
          </p:cNvPr>
          <p:cNvSpPr txBox="1"/>
          <p:nvPr/>
        </p:nvSpPr>
        <p:spPr>
          <a:xfrm>
            <a:off x="228600" y="202990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Intégration des tests qualité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b="1" dirty="0"/>
              <a:t>Contrôles réalisés à chaque étape du pipeline</a:t>
            </a:r>
            <a:endParaRPr lang="fr-FR" dirty="0"/>
          </a:p>
          <a:p>
            <a:pPr>
              <a:buNone/>
            </a:pPr>
            <a:r>
              <a:rPr lang="fr-FR" dirty="0"/>
              <a:t>✓ Vérification absence de doublons</a:t>
            </a:r>
          </a:p>
          <a:p>
            <a:pPr>
              <a:buNone/>
            </a:pPr>
            <a:r>
              <a:rPr lang="fr-FR" dirty="0"/>
              <a:t>✓ Contrôle des valeurs manquantes</a:t>
            </a:r>
          </a:p>
          <a:p>
            <a:pPr>
              <a:buNone/>
            </a:pPr>
            <a:r>
              <a:rPr lang="fr-FR" dirty="0"/>
              <a:t>✓ Validation des jointures</a:t>
            </a:r>
          </a:p>
          <a:p>
            <a:pPr>
              <a:buNone/>
            </a:pPr>
            <a:r>
              <a:rPr lang="fr-FR" dirty="0"/>
              <a:t>✓ Vérification cohérence du chiffre d’affaires</a:t>
            </a:r>
          </a:p>
          <a:p>
            <a:pPr>
              <a:buNone/>
            </a:pPr>
            <a:r>
              <a:rPr lang="fr-FR" dirty="0"/>
              <a:t>✓ Validation du calcul du Z-score</a:t>
            </a:r>
          </a:p>
          <a:p>
            <a:pPr>
              <a:buNone/>
            </a:pPr>
            <a:r>
              <a:rPr lang="fr-FR" dirty="0"/>
              <a:t>✓ Vérification finale des résultats</a:t>
            </a:r>
          </a:p>
        </p:txBody>
      </p:sp>
    </p:spTree>
    <p:extLst>
      <p:ext uri="{BB962C8B-B14F-4D97-AF65-F5344CB8AC3E}">
        <p14:creationId xmlns:p14="http://schemas.microsoft.com/office/powerpoint/2010/main" val="622821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8DC95C-E43E-E354-202E-8BA30AED2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5726FF0-850D-FB57-DD77-BF074D26F5F0}"/>
              </a:ext>
            </a:extLst>
          </p:cNvPr>
          <p:cNvSpPr txBox="1"/>
          <p:nvPr/>
        </p:nvSpPr>
        <p:spPr>
          <a:xfrm>
            <a:off x="3635828" y="0"/>
            <a:ext cx="4920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Construction du workflow avec Kestra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4C6F85D-55E1-519C-EF6C-E25B37B72487}"/>
              </a:ext>
            </a:extLst>
          </p:cNvPr>
          <p:cNvSpPr txBox="1"/>
          <p:nvPr/>
        </p:nvSpPr>
        <p:spPr>
          <a:xfrm>
            <a:off x="174171" y="967965"/>
            <a:ext cx="838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Présentation de Kestra</a:t>
            </a:r>
          </a:p>
          <a:p>
            <a:pPr>
              <a:buNone/>
            </a:pPr>
            <a:r>
              <a:rPr lang="fr-FR" dirty="0"/>
              <a:t>• Outil d’orchestration permettant d’automatiser les workflows de données</a:t>
            </a:r>
          </a:p>
          <a:p>
            <a:pPr>
              <a:buNone/>
            </a:pPr>
            <a:r>
              <a:rPr lang="fr-FR" dirty="0"/>
              <a:t>• Gestion de l’enchaînement des traitements SQL et Python</a:t>
            </a:r>
          </a:p>
          <a:p>
            <a:pPr>
              <a:buNone/>
            </a:pPr>
            <a:r>
              <a:rPr lang="fr-FR" dirty="0"/>
              <a:t>• Visualisation des exécutions et des logs</a:t>
            </a:r>
          </a:p>
          <a:p>
            <a:pPr>
              <a:buNone/>
            </a:pPr>
            <a:r>
              <a:rPr lang="fr-FR" dirty="0"/>
              <a:t>• Planification automatique des pipelines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AB182D5-BC9B-BFCC-0FBF-42EEED7F9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6880" y="2615325"/>
            <a:ext cx="7772400" cy="410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30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C05EA6-BC43-23C0-9024-29C1E92BA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A2E7BB16-C04F-0632-EE9D-FB9944C81DE7}"/>
              </a:ext>
            </a:extLst>
          </p:cNvPr>
          <p:cNvSpPr txBox="1"/>
          <p:nvPr/>
        </p:nvSpPr>
        <p:spPr>
          <a:xfrm>
            <a:off x="3635828" y="0"/>
            <a:ext cx="4920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Construction du workflow avec Kestra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7F58139-ED5C-6359-3874-CCCB85FD1DBB}"/>
              </a:ext>
            </a:extLst>
          </p:cNvPr>
          <p:cNvSpPr txBox="1"/>
          <p:nvPr/>
        </p:nvSpPr>
        <p:spPr>
          <a:xfrm>
            <a:off x="152400" y="11179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Développement des traitements SQL avec </a:t>
            </a:r>
            <a:r>
              <a:rPr lang="fr-FR" b="1" dirty="0" err="1"/>
              <a:t>DuckDB</a:t>
            </a:r>
            <a:endParaRPr lang="fr-FR" b="1" dirty="0"/>
          </a:p>
          <a:p>
            <a:pPr>
              <a:buNone/>
            </a:pPr>
            <a:r>
              <a:rPr lang="fr-FR" dirty="0"/>
              <a:t>• Nettoyage des données ERP</a:t>
            </a:r>
          </a:p>
          <a:p>
            <a:pPr>
              <a:buNone/>
            </a:pPr>
            <a:r>
              <a:rPr lang="fr-FR" dirty="0"/>
              <a:t>• Nettoyage des données WEB</a:t>
            </a:r>
          </a:p>
          <a:p>
            <a:pPr>
              <a:buNone/>
            </a:pPr>
            <a:r>
              <a:rPr lang="fr-FR" dirty="0"/>
              <a:t>• Nettoyage du fichier LIAISON</a:t>
            </a:r>
          </a:p>
          <a:p>
            <a:pPr>
              <a:buNone/>
            </a:pPr>
            <a:r>
              <a:rPr lang="fr-FR" dirty="0"/>
              <a:t>• Fusion des différentes sources</a:t>
            </a:r>
          </a:p>
          <a:p>
            <a:pPr>
              <a:buNone/>
            </a:pPr>
            <a:r>
              <a:rPr lang="fr-FR" dirty="0"/>
              <a:t>• Calcul du chiffre d’affaires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b="1" dirty="0"/>
              <a:t>Objectif : préparer des données fiables avant analyse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A5B6015-B122-8C95-86DC-202737E67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520" y="855979"/>
            <a:ext cx="3775710" cy="179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544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B8532B-5D80-9208-E474-C65E0A50A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953BD2E2-F82D-7E57-B450-2010B2EE6FE7}"/>
              </a:ext>
            </a:extLst>
          </p:cNvPr>
          <p:cNvSpPr txBox="1"/>
          <p:nvPr/>
        </p:nvSpPr>
        <p:spPr>
          <a:xfrm>
            <a:off x="3635828" y="0"/>
            <a:ext cx="4920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Construction du workflow avec Kestra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DA6946F-8B9D-227C-9356-65B05E1DAC57}"/>
              </a:ext>
            </a:extLst>
          </p:cNvPr>
          <p:cNvSpPr txBox="1"/>
          <p:nvPr/>
        </p:nvSpPr>
        <p:spPr>
          <a:xfrm>
            <a:off x="213360" y="132755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Développement des scripts Python</a:t>
            </a:r>
          </a:p>
          <a:p>
            <a:pPr>
              <a:buNone/>
            </a:pPr>
            <a:r>
              <a:rPr lang="fr-FR" dirty="0"/>
              <a:t>• Calcul du Z-score des prix des vins</a:t>
            </a:r>
          </a:p>
          <a:p>
            <a:pPr>
              <a:buNone/>
            </a:pPr>
            <a:r>
              <a:rPr lang="fr-FR" dirty="0"/>
              <a:t>• Identification des vins premium</a:t>
            </a:r>
          </a:p>
          <a:p>
            <a:pPr>
              <a:buNone/>
            </a:pPr>
            <a:r>
              <a:rPr lang="fr-FR" dirty="0"/>
              <a:t>• Séparation vins premium / ordinaires</a:t>
            </a:r>
          </a:p>
          <a:p>
            <a:pPr>
              <a:buNone/>
            </a:pPr>
            <a:r>
              <a:rPr lang="fr-FR" dirty="0"/>
              <a:t>• Génération automatique des exports CSV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b="1" dirty="0"/>
              <a:t>Objectif : automatiser les traitements statistiques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5BC15CE-3B28-94E2-02F0-203B4CACB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5736" y="985520"/>
            <a:ext cx="3882724" cy="107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315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7D9BBB-6795-301B-44AC-A519BE461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B0A4A388-37AE-1FD1-6E67-DBE5895DFF26}"/>
              </a:ext>
            </a:extLst>
          </p:cNvPr>
          <p:cNvSpPr txBox="1"/>
          <p:nvPr/>
        </p:nvSpPr>
        <p:spPr>
          <a:xfrm>
            <a:off x="3635828" y="0"/>
            <a:ext cx="4920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Construction du workflow avec Kestra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CDDBFAE-8737-B569-7549-863F7A256554}"/>
              </a:ext>
            </a:extLst>
          </p:cNvPr>
          <p:cNvSpPr txBox="1"/>
          <p:nvPr/>
        </p:nvSpPr>
        <p:spPr>
          <a:xfrm>
            <a:off x="193040" y="162861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Organisation du projet</a:t>
            </a:r>
          </a:p>
          <a:p>
            <a:pPr>
              <a:buNone/>
            </a:pPr>
            <a:r>
              <a:rPr lang="fr-FR" dirty="0"/>
              <a:t>• Structure des dossiers du projet</a:t>
            </a:r>
          </a:p>
          <a:p>
            <a:pPr>
              <a:buNone/>
            </a:pPr>
            <a:r>
              <a:rPr lang="fr-FR" dirty="0"/>
              <a:t>• Séparation des scripts SQL et Python</a:t>
            </a:r>
          </a:p>
          <a:p>
            <a:pPr>
              <a:buNone/>
            </a:pPr>
            <a:r>
              <a:rPr lang="fr-FR" dirty="0"/>
              <a:t>• Gestion des fichiers sources</a:t>
            </a:r>
          </a:p>
          <a:p>
            <a:pPr>
              <a:buNone/>
            </a:pPr>
            <a:r>
              <a:rPr lang="fr-FR" dirty="0"/>
              <a:t>• Stockage des résultats générés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94FD8D1-BEC2-C4BE-1972-35C22AC20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437" y="772160"/>
            <a:ext cx="3392523" cy="592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70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A76A6D-2C6D-96A6-7BD9-F14937C10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BC192C96-00C6-1134-1F8C-0F8AE32EC182}"/>
              </a:ext>
            </a:extLst>
          </p:cNvPr>
          <p:cNvSpPr txBox="1"/>
          <p:nvPr/>
        </p:nvSpPr>
        <p:spPr>
          <a:xfrm>
            <a:off x="3635828" y="0"/>
            <a:ext cx="4920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Construction du workflow avec Kestra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30E7D7A-5B50-933C-94E5-C6F18AB5192D}"/>
              </a:ext>
            </a:extLst>
          </p:cNvPr>
          <p:cNvSpPr txBox="1"/>
          <p:nvPr/>
        </p:nvSpPr>
        <p:spPr>
          <a:xfrm>
            <a:off x="172720" y="132381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Implémentation du workflow YAML</a:t>
            </a:r>
          </a:p>
          <a:p>
            <a:pPr>
              <a:buNone/>
            </a:pPr>
            <a:r>
              <a:rPr lang="fr-FR" dirty="0"/>
              <a:t>• Intégration des traitements SQL dans Kestra</a:t>
            </a:r>
          </a:p>
          <a:p>
            <a:pPr>
              <a:buNone/>
            </a:pPr>
            <a:r>
              <a:rPr lang="fr-FR" dirty="0"/>
              <a:t>• Intégration des scripts Python</a:t>
            </a:r>
          </a:p>
          <a:p>
            <a:pPr>
              <a:buNone/>
            </a:pPr>
            <a:r>
              <a:rPr lang="fr-FR" dirty="0"/>
              <a:t>• Définition de l’ordre d’exécution des tâches</a:t>
            </a:r>
          </a:p>
          <a:p>
            <a:pPr>
              <a:buNone/>
            </a:pPr>
            <a:r>
              <a:rPr lang="fr-FR" dirty="0"/>
              <a:t>• Construction du pipeline automatisé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55EFA36-EF72-2F1A-B63A-C21FFEB24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7760" y="98213"/>
            <a:ext cx="1737801" cy="666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01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55516D-3206-6DB6-CDE9-4EBCBE0CB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1456698A-7524-CAF8-9557-51EFDED57AC3}"/>
              </a:ext>
            </a:extLst>
          </p:cNvPr>
          <p:cNvSpPr txBox="1"/>
          <p:nvPr/>
        </p:nvSpPr>
        <p:spPr>
          <a:xfrm>
            <a:off x="3635828" y="0"/>
            <a:ext cx="4920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Construction du workflow avec Kestra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AB53FBE-2363-1664-241E-F1B86663E378}"/>
              </a:ext>
            </a:extLst>
          </p:cNvPr>
          <p:cNvSpPr txBox="1"/>
          <p:nvPr/>
        </p:nvSpPr>
        <p:spPr>
          <a:xfrm>
            <a:off x="203200" y="1506696"/>
            <a:ext cx="50190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Déclenchement automatique du pipeline</a:t>
            </a:r>
          </a:p>
          <a:p>
            <a:pPr>
              <a:buNone/>
            </a:pPr>
            <a:r>
              <a:rPr lang="fr-FR" dirty="0"/>
              <a:t>• Mise en place d’un Trigger Cron</a:t>
            </a:r>
          </a:p>
          <a:p>
            <a:pPr>
              <a:buNone/>
            </a:pPr>
            <a:r>
              <a:rPr lang="fr-FR" dirty="0"/>
              <a:t>• Exécution automatique chaque </a:t>
            </a:r>
            <a:r>
              <a:rPr lang="fr-FR" b="1" dirty="0"/>
              <a:t>15 du mois à 9h</a:t>
            </a:r>
            <a:endParaRPr lang="fr-FR" dirty="0"/>
          </a:p>
          <a:p>
            <a:pPr>
              <a:buNone/>
            </a:pPr>
            <a:r>
              <a:rPr lang="fr-FR" dirty="0"/>
              <a:t>• Génération automatique des rapports</a:t>
            </a:r>
          </a:p>
          <a:p>
            <a:pPr>
              <a:buNone/>
            </a:pPr>
            <a:r>
              <a:rPr lang="fr-FR" dirty="0"/>
              <a:t>• Réduction des interventions manuelles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A93C24E-99E6-2394-007F-C3AE7FDCD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076" y="660400"/>
            <a:ext cx="3056013" cy="240157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7DD76EE-1F95-A86C-2ED9-25EF8C2CBA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076" y="3506828"/>
            <a:ext cx="3056013" cy="303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26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A8BD3B-5169-17C1-B778-7910227B7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963585E-2156-0BB5-3C47-A34B4A16FB3F}"/>
              </a:ext>
            </a:extLst>
          </p:cNvPr>
          <p:cNvSpPr txBox="1"/>
          <p:nvPr/>
        </p:nvSpPr>
        <p:spPr>
          <a:xfrm>
            <a:off x="3635828" y="0"/>
            <a:ext cx="4920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Construction du workflow avec Kestra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765CDED-C2A6-92D1-7EF3-BAB556E3D733}"/>
              </a:ext>
            </a:extLst>
          </p:cNvPr>
          <p:cNvSpPr txBox="1"/>
          <p:nvPr/>
        </p:nvSpPr>
        <p:spPr>
          <a:xfrm>
            <a:off x="152400" y="152701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Exécution du workflow</a:t>
            </a:r>
          </a:p>
          <a:p>
            <a:pPr>
              <a:buNone/>
            </a:pPr>
            <a:r>
              <a:rPr lang="fr-FR" dirty="0"/>
              <a:t>• Visualisation de l’ordonnancement des tâches</a:t>
            </a:r>
          </a:p>
          <a:p>
            <a:pPr>
              <a:buNone/>
            </a:pPr>
            <a:r>
              <a:rPr lang="fr-FR" dirty="0"/>
              <a:t>• Suivi du temps d’exécution</a:t>
            </a:r>
          </a:p>
          <a:p>
            <a:pPr>
              <a:buNone/>
            </a:pPr>
            <a:r>
              <a:rPr lang="fr-FR" dirty="0"/>
              <a:t>• Vérification du bon déroulement du pipeline</a:t>
            </a:r>
          </a:p>
          <a:p>
            <a:pPr>
              <a:buNone/>
            </a:pPr>
            <a:r>
              <a:rPr lang="fr-FR" dirty="0"/>
              <a:t>• Validation des résultats générés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AA5C794-021A-A7A6-33EC-CECCAAD60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386" y="3004343"/>
            <a:ext cx="7555413" cy="3744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827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2F0DA-A82B-5185-DEC1-2459958C9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6C3EAB19-4B28-A092-DC19-1267611A508E}"/>
              </a:ext>
            </a:extLst>
          </p:cNvPr>
          <p:cNvSpPr txBox="1"/>
          <p:nvPr/>
        </p:nvSpPr>
        <p:spPr>
          <a:xfrm>
            <a:off x="4267200" y="0"/>
            <a:ext cx="248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Résultats obtenus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1E92BBF-D908-C7CD-12CE-7E538E350537}"/>
              </a:ext>
            </a:extLst>
          </p:cNvPr>
          <p:cNvSpPr txBox="1"/>
          <p:nvPr/>
        </p:nvSpPr>
        <p:spPr>
          <a:xfrm>
            <a:off x="101600" y="1120676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Résultats après nettoyage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b="1" dirty="0"/>
              <a:t>Volumétrie obtenue après traitement :</a:t>
            </a:r>
            <a:endParaRPr lang="fr-FR" dirty="0"/>
          </a:p>
          <a:p>
            <a:pPr>
              <a:buNone/>
            </a:pPr>
            <a:r>
              <a:rPr lang="fr-FR" dirty="0"/>
              <a:t>• ERP après dédoublonnage </a:t>
            </a:r>
          </a:p>
          <a:p>
            <a:pPr>
              <a:buNone/>
            </a:pPr>
            <a:r>
              <a:rPr lang="fr-FR" dirty="0"/>
              <a:t>• LIAISON après dédoublonnage</a:t>
            </a:r>
          </a:p>
          <a:p>
            <a:pPr>
              <a:buNone/>
            </a:pPr>
            <a:r>
              <a:rPr lang="fr-FR" dirty="0"/>
              <a:t>• WEB après nettoyage</a:t>
            </a:r>
          </a:p>
          <a:p>
            <a:pPr>
              <a:buNone/>
            </a:pPr>
            <a:r>
              <a:rPr lang="fr-FR" dirty="0"/>
              <a:t>• WEB après dédoublonnage</a:t>
            </a:r>
          </a:p>
          <a:p>
            <a:pPr>
              <a:buNone/>
            </a:pPr>
            <a:r>
              <a:rPr lang="fr-FR" dirty="0"/>
              <a:t>• Données fusionnées</a:t>
            </a:r>
            <a:endParaRPr lang="fr-FR" b="1" dirty="0"/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b="1" dirty="0"/>
              <a:t>Résultat :</a:t>
            </a:r>
            <a:r>
              <a:rPr lang="fr-FR" dirty="0"/>
              <a:t> cohérence des volumes après fusion validée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0457479-E739-3489-F995-6D8BAECE4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0800" y="446040"/>
            <a:ext cx="4251960" cy="421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8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67795-070A-E75B-CA8E-85E401179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4E2564C1-EC05-A646-6145-C22531440EAD}"/>
              </a:ext>
            </a:extLst>
          </p:cNvPr>
          <p:cNvSpPr txBox="1"/>
          <p:nvPr/>
        </p:nvSpPr>
        <p:spPr>
          <a:xfrm>
            <a:off x="4267200" y="0"/>
            <a:ext cx="248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Résultats obtenus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D26F169-4D3E-D5A5-EFAC-EBC334B4AC40}"/>
              </a:ext>
            </a:extLst>
          </p:cNvPr>
          <p:cNvSpPr txBox="1"/>
          <p:nvPr/>
        </p:nvSpPr>
        <p:spPr>
          <a:xfrm>
            <a:off x="182880" y="1397675"/>
            <a:ext cx="74980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Résultats métier</a:t>
            </a:r>
          </a:p>
          <a:p>
            <a:pPr>
              <a:buNone/>
            </a:pPr>
            <a:r>
              <a:rPr lang="fr-FR" b="1" dirty="0"/>
              <a:t>Indicateurs calculés automatiquement :</a:t>
            </a:r>
            <a:endParaRPr lang="fr-FR" dirty="0"/>
          </a:p>
          <a:p>
            <a:pPr>
              <a:buNone/>
            </a:pPr>
            <a:r>
              <a:rPr lang="fr-FR" dirty="0"/>
              <a:t>• Chiffre d’affaires total → </a:t>
            </a:r>
            <a:r>
              <a:rPr lang="fr-FR" b="1" dirty="0"/>
              <a:t>70 568,60 €</a:t>
            </a:r>
            <a:endParaRPr lang="fr-FR" dirty="0"/>
          </a:p>
          <a:p>
            <a:pPr>
              <a:buNone/>
            </a:pPr>
            <a:r>
              <a:rPr lang="fr-FR" dirty="0"/>
              <a:t>• Nombre de vins premium détectés → </a:t>
            </a:r>
            <a:r>
              <a:rPr lang="fr-FR" b="1" dirty="0"/>
              <a:t>30</a:t>
            </a:r>
            <a:endParaRPr lang="fr-FR" dirty="0"/>
          </a:p>
          <a:p>
            <a:pPr>
              <a:buNone/>
            </a:pPr>
            <a:r>
              <a:rPr lang="fr-FR" dirty="0"/>
              <a:t>• Génération automatique du rapport chiffre d’affaires</a:t>
            </a:r>
          </a:p>
          <a:p>
            <a:pPr>
              <a:buNone/>
            </a:pPr>
            <a:r>
              <a:rPr lang="fr-FR" dirty="0"/>
              <a:t>• Segmentation des vins premium / ordinaires réalisée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2836270-6C85-D6BF-5A86-18F9DDD20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356" y="571500"/>
            <a:ext cx="4097924" cy="230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549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3AE033-9328-5752-E4E5-E68EF8167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A6C06A10-8662-99C5-A77B-2B8F1ABA1F57}"/>
              </a:ext>
            </a:extLst>
          </p:cNvPr>
          <p:cNvSpPr txBox="1"/>
          <p:nvPr/>
        </p:nvSpPr>
        <p:spPr>
          <a:xfrm>
            <a:off x="4267200" y="0"/>
            <a:ext cx="248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Résultats obtenus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1CBBC69-D253-2786-4291-DC5E6834A398}"/>
              </a:ext>
            </a:extLst>
          </p:cNvPr>
          <p:cNvSpPr txBox="1"/>
          <p:nvPr/>
        </p:nvSpPr>
        <p:spPr>
          <a:xfrm>
            <a:off x="132080" y="1418997"/>
            <a:ext cx="73253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Exports générés automatiquement</a:t>
            </a:r>
          </a:p>
          <a:p>
            <a:pPr>
              <a:buNone/>
            </a:pPr>
            <a:r>
              <a:rPr lang="fr-FR" b="1" dirty="0"/>
              <a:t>Fichiers produits par le pipeline :</a:t>
            </a:r>
            <a:endParaRPr lang="fr-FR" dirty="0"/>
          </a:p>
          <a:p>
            <a:pPr>
              <a:buNone/>
            </a:pPr>
            <a:r>
              <a:rPr lang="fr-FR" dirty="0"/>
              <a:t>✓ </a:t>
            </a:r>
            <a:r>
              <a:rPr lang="fr-FR" dirty="0" err="1"/>
              <a:t>rapport_chiffre_affaires.csv</a:t>
            </a:r>
            <a:endParaRPr lang="fr-FR" dirty="0"/>
          </a:p>
          <a:p>
            <a:pPr>
              <a:buNone/>
            </a:pPr>
            <a:r>
              <a:rPr lang="fr-FR" dirty="0"/>
              <a:t>✓ </a:t>
            </a:r>
            <a:r>
              <a:rPr lang="fr-FR" dirty="0" err="1"/>
              <a:t>vins_premium.csv</a:t>
            </a:r>
            <a:endParaRPr lang="fr-FR" dirty="0"/>
          </a:p>
          <a:p>
            <a:pPr>
              <a:buNone/>
            </a:pPr>
            <a:r>
              <a:rPr lang="fr-FR" dirty="0"/>
              <a:t>✓ </a:t>
            </a:r>
            <a:r>
              <a:rPr lang="fr-FR" dirty="0" err="1"/>
              <a:t>vins_ordinaires.csv</a:t>
            </a:r>
            <a:endParaRPr lang="fr-FR" dirty="0"/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b="1" dirty="0"/>
              <a:t>Objectif atteint :</a:t>
            </a:r>
            <a:r>
              <a:rPr lang="fr-FR" dirty="0"/>
              <a:t> automatisation complète des livrables métiers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0A17061-B31D-460F-D06B-3867BAA02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705" y="600710"/>
            <a:ext cx="3618945" cy="146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641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982BF8-6E17-7B19-B86C-21B53B0E0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645B1B9F-5DE8-630A-585C-FF307D84C382}"/>
              </a:ext>
            </a:extLst>
          </p:cNvPr>
          <p:cNvSpPr txBox="1"/>
          <p:nvPr/>
        </p:nvSpPr>
        <p:spPr>
          <a:xfrm>
            <a:off x="4267200" y="0"/>
            <a:ext cx="248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Résultats obtenus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E1E200B-0025-76ED-24DF-B86D1224F256}"/>
              </a:ext>
            </a:extLst>
          </p:cNvPr>
          <p:cNvSpPr txBox="1"/>
          <p:nvPr/>
        </p:nvSpPr>
        <p:spPr>
          <a:xfrm>
            <a:off x="274320" y="1416318"/>
            <a:ext cx="58216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Validation des résultats</a:t>
            </a:r>
          </a:p>
          <a:p>
            <a:pPr>
              <a:buNone/>
            </a:pPr>
            <a:r>
              <a:rPr lang="fr-FR" b="1" dirty="0"/>
              <a:t>Comparaison avec les résultats attendus :</a:t>
            </a:r>
            <a:endParaRPr lang="fr-FR" dirty="0"/>
          </a:p>
          <a:p>
            <a:pPr>
              <a:buNone/>
            </a:pPr>
            <a:r>
              <a:rPr lang="fr-FR" dirty="0"/>
              <a:t>✓ ERP → 825 lignes</a:t>
            </a:r>
          </a:p>
          <a:p>
            <a:pPr>
              <a:buNone/>
            </a:pPr>
            <a:r>
              <a:rPr lang="fr-FR" dirty="0"/>
              <a:t>✓ WEB → 714 lignes après dédoublonnage</a:t>
            </a:r>
          </a:p>
          <a:p>
            <a:pPr>
              <a:buNone/>
            </a:pPr>
            <a:r>
              <a:rPr lang="fr-FR" dirty="0"/>
              <a:t>✓ Fusion → 714 lignes</a:t>
            </a:r>
          </a:p>
          <a:p>
            <a:pPr>
              <a:buNone/>
            </a:pPr>
            <a:r>
              <a:rPr lang="fr-FR" dirty="0"/>
              <a:t>✓ CA total → 70 568,60 €</a:t>
            </a:r>
          </a:p>
          <a:p>
            <a:pPr>
              <a:buNone/>
            </a:pPr>
            <a:r>
              <a:rPr lang="fr-FR" dirty="0"/>
              <a:t>✓ Vins premium → 30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b="1" dirty="0"/>
              <a:t>Conclusion :</a:t>
            </a:r>
            <a:r>
              <a:rPr lang="fr-FR" dirty="0"/>
              <a:t> résultats conformes aux analyses initiales</a:t>
            </a:r>
          </a:p>
        </p:txBody>
      </p:sp>
    </p:spTree>
    <p:extLst>
      <p:ext uri="{BB962C8B-B14F-4D97-AF65-F5344CB8AC3E}">
        <p14:creationId xmlns:p14="http://schemas.microsoft.com/office/powerpoint/2010/main" val="1682859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0DD860-A0F9-B60F-A74C-4D6A56EA3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4158BD7-A991-95F1-FCEF-CDFCA7156556}"/>
              </a:ext>
            </a:extLst>
          </p:cNvPr>
          <p:cNvSpPr txBox="1"/>
          <p:nvPr/>
        </p:nvSpPr>
        <p:spPr>
          <a:xfrm>
            <a:off x="5496560" y="0"/>
            <a:ext cx="1686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Conclusion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5B045EB-2120-D485-3487-3425FC940C7A}"/>
              </a:ext>
            </a:extLst>
          </p:cNvPr>
          <p:cNvSpPr txBox="1"/>
          <p:nvPr/>
        </p:nvSpPr>
        <p:spPr>
          <a:xfrm>
            <a:off x="243840" y="1591717"/>
            <a:ext cx="72237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Difficultés rencontrées</a:t>
            </a:r>
          </a:p>
          <a:p>
            <a:pPr>
              <a:buNone/>
            </a:pPr>
            <a:r>
              <a:rPr lang="fr-FR" dirty="0"/>
              <a:t>• Prise en main de Kestra et de son orchestration</a:t>
            </a:r>
          </a:p>
          <a:p>
            <a:pPr>
              <a:buNone/>
            </a:pPr>
            <a:r>
              <a:rPr lang="fr-FR" dirty="0"/>
              <a:t>• Intégration des scripts SQL/Python dans le workflow YAML</a:t>
            </a:r>
          </a:p>
          <a:p>
            <a:pPr>
              <a:buNone/>
            </a:pPr>
            <a:r>
              <a:rPr lang="fr-FR" dirty="0"/>
              <a:t>• Validation de la cohérence des données après fusion</a:t>
            </a:r>
          </a:p>
          <a:p>
            <a:pPr>
              <a:buNone/>
            </a:pPr>
            <a:r>
              <a:rPr lang="fr-FR" dirty="0"/>
              <a:t>• Mise en place des tests qualité à chaque étape</a:t>
            </a:r>
          </a:p>
          <a:p>
            <a:pPr>
              <a:buNone/>
            </a:pPr>
            <a:r>
              <a:rPr lang="fr-FR" dirty="0"/>
              <a:t>• Gestion du déclenchement automatique du pipeline</a:t>
            </a:r>
          </a:p>
        </p:txBody>
      </p:sp>
    </p:spTree>
    <p:extLst>
      <p:ext uri="{BB962C8B-B14F-4D97-AF65-F5344CB8AC3E}">
        <p14:creationId xmlns:p14="http://schemas.microsoft.com/office/powerpoint/2010/main" val="1670022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AD2A60-7B05-4464-8215-C5B44F47B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7EE76AE4-1434-43BD-00B6-F7E624EE9855}"/>
              </a:ext>
            </a:extLst>
          </p:cNvPr>
          <p:cNvSpPr txBox="1"/>
          <p:nvPr/>
        </p:nvSpPr>
        <p:spPr>
          <a:xfrm>
            <a:off x="5496560" y="0"/>
            <a:ext cx="1686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Conclusion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98C4409-2787-2B4F-F5F8-C2D00F5958D4}"/>
              </a:ext>
            </a:extLst>
          </p:cNvPr>
          <p:cNvSpPr txBox="1"/>
          <p:nvPr/>
        </p:nvSpPr>
        <p:spPr>
          <a:xfrm>
            <a:off x="243840" y="1774597"/>
            <a:ext cx="7518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Améliorations possibles</a:t>
            </a:r>
          </a:p>
          <a:p>
            <a:pPr>
              <a:buNone/>
            </a:pPr>
            <a:r>
              <a:rPr lang="fr-FR" dirty="0"/>
              <a:t>• Ajouter des alertes automatiques en cas d’échec</a:t>
            </a:r>
          </a:p>
          <a:p>
            <a:pPr>
              <a:buNone/>
            </a:pPr>
            <a:r>
              <a:rPr lang="fr-FR" dirty="0"/>
              <a:t>• Mettre en place des mécanismes de reprise après erreur</a:t>
            </a:r>
          </a:p>
          <a:p>
            <a:pPr>
              <a:buNone/>
            </a:pPr>
            <a:r>
              <a:rPr lang="fr-FR" dirty="0"/>
              <a:t>• Connecter directement les données à une base externe</a:t>
            </a:r>
          </a:p>
          <a:p>
            <a:pPr>
              <a:buNone/>
            </a:pPr>
            <a:r>
              <a:rPr lang="fr-FR" dirty="0"/>
              <a:t>• Ajouter des tableaux de bord de suivi</a:t>
            </a:r>
          </a:p>
          <a:p>
            <a:pPr>
              <a:buNone/>
            </a:pPr>
            <a:r>
              <a:rPr lang="fr-FR" dirty="0"/>
              <a:t>• Déployer le pipeline dans un environnement cloud</a:t>
            </a:r>
          </a:p>
        </p:txBody>
      </p:sp>
    </p:spTree>
    <p:extLst>
      <p:ext uri="{BB962C8B-B14F-4D97-AF65-F5344CB8AC3E}">
        <p14:creationId xmlns:p14="http://schemas.microsoft.com/office/powerpoint/2010/main" val="2115448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8A8B1-8672-FD87-48C3-57C0BC1E6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49253071-6465-E7CE-9618-769A5EBF00C9}"/>
              </a:ext>
            </a:extLst>
          </p:cNvPr>
          <p:cNvSpPr txBox="1"/>
          <p:nvPr/>
        </p:nvSpPr>
        <p:spPr>
          <a:xfrm>
            <a:off x="5496560" y="0"/>
            <a:ext cx="1686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Conclusion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6957307-CA78-888D-7608-F81539729106}"/>
              </a:ext>
            </a:extLst>
          </p:cNvPr>
          <p:cNvSpPr txBox="1"/>
          <p:nvPr/>
        </p:nvSpPr>
        <p:spPr>
          <a:xfrm>
            <a:off x="325120" y="1840359"/>
            <a:ext cx="116535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/>
              <a:t>Ce projet a permis d’automatiser un pipeline complet de transformation de données avec Kestra, intégrant le nettoyage, la fusion, les calculs métier, les contrôles qualité et la génération automatique des résultats.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dirty="0"/>
              <a:t>L’automatisation mise en place répond aux besoins de </a:t>
            </a:r>
            <a:r>
              <a:rPr lang="fr-FR" dirty="0" err="1"/>
              <a:t>BottleNeck</a:t>
            </a:r>
            <a:r>
              <a:rPr lang="fr-FR" dirty="0"/>
              <a:t> en améliorant la fiabilité des traitements, en réduisant les tâches manuelles et en permettant la production régulière de rapports exploitables pour les responsables métiers.</a:t>
            </a:r>
          </a:p>
        </p:txBody>
      </p:sp>
    </p:spTree>
    <p:extLst>
      <p:ext uri="{BB962C8B-B14F-4D97-AF65-F5344CB8AC3E}">
        <p14:creationId xmlns:p14="http://schemas.microsoft.com/office/powerpoint/2010/main" val="26304093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1361</TotalTime>
  <Words>1108</Words>
  <Application>Microsoft Macintosh PowerPoint</Application>
  <PresentationFormat>Grand écran</PresentationFormat>
  <Paragraphs>186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endaye</dc:creator>
  <cp:lastModifiedBy>ENDAYE MAZINA Aime</cp:lastModifiedBy>
  <cp:revision>2</cp:revision>
  <dcterms:created xsi:type="dcterms:W3CDTF">2026-05-18T15:16:50Z</dcterms:created>
  <dcterms:modified xsi:type="dcterms:W3CDTF">2026-05-19T13:58:13Z</dcterms:modified>
</cp:coreProperties>
</file>