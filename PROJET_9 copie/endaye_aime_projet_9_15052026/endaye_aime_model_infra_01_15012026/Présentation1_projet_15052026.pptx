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0" r:id="rId2"/>
    <p:sldId id="291" r:id="rId3"/>
    <p:sldId id="262" r:id="rId4"/>
    <p:sldId id="274" r:id="rId5"/>
    <p:sldId id="275" r:id="rId6"/>
    <p:sldId id="280" r:id="rId7"/>
    <p:sldId id="263" r:id="rId8"/>
    <p:sldId id="279" r:id="rId9"/>
    <p:sldId id="278" r:id="rId10"/>
    <p:sldId id="277" r:id="rId11"/>
    <p:sldId id="276" r:id="rId12"/>
    <p:sldId id="273" r:id="rId13"/>
    <p:sldId id="281" r:id="rId14"/>
    <p:sldId id="272" r:id="rId15"/>
    <p:sldId id="282" r:id="rId16"/>
    <p:sldId id="271" r:id="rId17"/>
    <p:sldId id="270" r:id="rId18"/>
    <p:sldId id="283" r:id="rId19"/>
    <p:sldId id="284" r:id="rId20"/>
    <p:sldId id="285" r:id="rId21"/>
    <p:sldId id="288" r:id="rId22"/>
    <p:sldId id="269" r:id="rId23"/>
    <p:sldId id="286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03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B0BF1-AF2B-5BF7-518A-46ADB7B96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803A85-323C-AB21-3976-2C53C64B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FBA41B-3854-EFF8-687B-6B2CA750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99F0A6-157B-9B2E-C82E-B88FC671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F05530-421E-488C-987B-966B9EB7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4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271F5-6FFA-36BE-1FAB-345B245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2C906-9BEB-107E-62EB-EF85DA6C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C5429D-6ED6-72F7-1E6B-55BBA294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E8F645-F24B-8743-C1EB-06EA47B4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665FAC-CA8B-8867-510B-3C86DFD8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28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065E2A-2B3E-9065-B806-F53F295D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E5D0B1-32D1-7F66-F3B5-CD3812176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3D2BE-636A-1FD4-A9CE-57902BF0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44C26A-05ED-9150-8707-7196D3AD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32D6BE-F7C1-F9BE-5167-A8791C21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94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EC6E4-950B-9E5D-72FF-38BE30D1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39DAF-7090-0541-CEDD-0D50D1CD3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1B654C-1644-A0FA-30F6-8982474B7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4F31E-1062-853F-FD02-BA2B7D64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B0F038-F790-A9A4-6837-1BEC74AD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945DDB-C7C8-58FC-47EB-BEFFEF1F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48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25F46A-11B5-C35B-747B-02DD5AB4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13B312-A579-986F-1DF3-CF49E1571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9145E5-1580-79E8-ED52-093F6C894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5C134A-675A-E05B-AE6D-C720334BB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C3C877-161E-8523-3177-10A5ED797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A768DD-91D9-6DA4-0F25-56EBC829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D599CD-BB08-3F25-041F-62DD1868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62C606-4297-BF3E-E861-AC0374F5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49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432D8-8A82-D174-0A6D-5D035F22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A069B2-4063-40BF-98B8-AA0BFF6B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DC9AE0-32EE-7A1D-6D9B-89A1907C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DFAFF7-20D2-4BF5-DD57-311D8EA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95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20CEDE-4621-B926-0E35-34148FED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F052BF-801F-FADC-3554-48ED43FE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F23D16-2B9C-2758-8C98-99597A60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39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0866A-386F-1225-643F-32C5714C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FA65D-C3E1-5DE8-124A-D18D4A3DF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C1D584-D264-52F2-F3BD-83BAE3ACC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291C36-C1AA-75B5-F822-7524A743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FB7D38-AC0F-B0E6-3B73-C4C9A276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A2DA04-5C7A-2239-A971-7A8FFE70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8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554F5-89BC-9E47-ED6C-E2AA02EE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3CC031-0BE3-868A-1D7F-20C07106A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B92186-8231-EA6D-E928-65DF01FFE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3719E7-1586-50AF-9BDB-ED8F2888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7113B2-2B93-5F89-25CA-A3B95FAF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8136C1-DF54-CA13-1E7C-9A2A4342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98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8734B2-1D02-24C6-F161-1F21A737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4B99B0-78EC-371F-F8CA-DFB1ACB3D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89C089-E87B-9540-D380-FA1EF273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FAC30C-3D15-7776-A1E3-F2DDA6EA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6F53B-1153-C975-2E12-12178657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3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23A083-3120-5433-5B3A-288F6AA6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BAC90C-1A18-96FE-7A70-3205807A4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9B2F7-D9E9-E691-BF58-CB56A998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5A97F4-A829-6CB5-12DD-08DB1D09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8738E-01EB-9602-A244-32A82400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53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60000">
              <a:srgbClr val="EEF4FA"/>
            </a:gs>
            <a:gs pos="100000">
              <a:srgbClr val="D8E4F2"/>
            </a:gs>
          </a:gsLst>
          <a:path path="circle">
            <a:fillToRect l="30000" t="20000" r="70000" b="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AFAC2A-F4F9-0994-A46B-B9E6F86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A2180E-16D2-298A-BAF8-18FCB0E9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65099F-49CA-5C51-BA8A-CC0989FE7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2B5F5-157A-5249-BA79-50BB0021C3F0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05E46-8D51-CBB8-3926-07ECB5D2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EADA2-C079-7938-A978-AA786FE2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65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C81E-ADD2-F78F-F858-1A68F11D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L1"/>
          <p:cNvSpPr/>
          <p:nvPr/>
        </p:nvSpPr>
        <p:spPr>
          <a:xfrm>
            <a:off x="-381000" y="-381000"/>
            <a:ext cx="4064000" cy="698500"/>
          </a:xfrm>
          <a:prstGeom prst="parallelogram">
            <a:avLst>
              <a:gd name="adj" fmla="val 70000"/>
            </a:avLst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2" name="TL2"/>
          <p:cNvSpPr/>
          <p:nvPr/>
        </p:nvSpPr>
        <p:spPr>
          <a:xfrm>
            <a:off x="-254000" y="406400"/>
            <a:ext cx="4318000" cy="38100"/>
          </a:xfrm>
          <a:prstGeom prst="parallelogram">
            <a:avLst>
              <a:gd name="adj" fmla="val 70000"/>
            </a:avLst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3" name="TL3"/>
          <p:cNvSpPr/>
          <p:nvPr/>
        </p:nvSpPr>
        <p:spPr>
          <a:xfrm>
            <a:off x="-381000" y="635000"/>
            <a:ext cx="2921000" cy="228600"/>
          </a:xfrm>
          <a:prstGeom prst="parallelogram">
            <a:avLst>
              <a:gd name="adj" fmla="val 70000"/>
            </a:avLst>
          </a:prstGeom>
          <a:solidFill>
            <a:srgbClr val="2E5A9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4" name="BR1"/>
          <p:cNvSpPr/>
          <p:nvPr/>
        </p:nvSpPr>
        <p:spPr>
          <a:xfrm rot="10800000">
            <a:off x="8509000" y="6540500"/>
            <a:ext cx="4064000" cy="698500"/>
          </a:xfrm>
          <a:prstGeom prst="parallelogram">
            <a:avLst>
              <a:gd name="adj" fmla="val 70000"/>
            </a:avLst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5" name="BR2"/>
          <p:cNvSpPr/>
          <p:nvPr/>
        </p:nvSpPr>
        <p:spPr>
          <a:xfrm rot="10800000">
            <a:off x="8128000" y="6413500"/>
            <a:ext cx="4318000" cy="38100"/>
          </a:xfrm>
          <a:prstGeom prst="parallelogram">
            <a:avLst>
              <a:gd name="adj" fmla="val 70000"/>
            </a:avLst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6" name="BR3"/>
          <p:cNvSpPr/>
          <p:nvPr/>
        </p:nvSpPr>
        <p:spPr>
          <a:xfrm rot="10800000">
            <a:off x="9652000" y="5994400"/>
            <a:ext cx="2921000" cy="228600"/>
          </a:xfrm>
          <a:prstGeom prst="parallelogram">
            <a:avLst>
              <a:gd name="adj" fmla="val 70000"/>
            </a:avLst>
          </a:prstGeom>
          <a:solidFill>
            <a:srgbClr val="2E5A9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0" name="Hex"/>
          <p:cNvSpPr/>
          <p:nvPr/>
        </p:nvSpPr>
        <p:spPr>
          <a:xfrm>
            <a:off x="127000" y="5461000"/>
            <a:ext cx="762000" cy="762000"/>
          </a:xfrm>
          <a:prstGeom prst="hexagon">
            <a:avLst/>
          </a:prstGeom>
          <a:noFill/>
          <a:ln w="9525">
            <a:solidFill>
              <a:srgbClr val="4A7BB8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21" name="Hex"/>
          <p:cNvSpPr/>
          <p:nvPr/>
        </p:nvSpPr>
        <p:spPr>
          <a:xfrm>
            <a:off x="635000" y="5842000"/>
            <a:ext cx="762000" cy="762000"/>
          </a:xfrm>
          <a:prstGeom prst="hexagon">
            <a:avLst/>
          </a:prstGeom>
          <a:noFill/>
          <a:ln w="9525">
            <a:solidFill>
              <a:srgbClr val="4A7BB8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22" name="Hex"/>
          <p:cNvSpPr/>
          <p:nvPr/>
        </p:nvSpPr>
        <p:spPr>
          <a:xfrm>
            <a:off x="1143000" y="5461000"/>
            <a:ext cx="762000" cy="762000"/>
          </a:xfrm>
          <a:prstGeom prst="hexagon">
            <a:avLst/>
          </a:prstGeom>
          <a:noFill/>
          <a:ln w="9525">
            <a:solidFill>
              <a:srgbClr val="4A7BB8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23" name="Hex"/>
          <p:cNvSpPr/>
          <p:nvPr/>
        </p:nvSpPr>
        <p:spPr>
          <a:xfrm>
            <a:off x="381000" y="6223000"/>
            <a:ext cx="762000" cy="762000"/>
          </a:xfrm>
          <a:prstGeom prst="hexagon">
            <a:avLst/>
          </a:prstGeom>
          <a:noFill/>
          <a:ln w="9525">
            <a:solidFill>
              <a:srgbClr val="4A7BB8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40" name="Dot"/>
          <p:cNvSpPr/>
          <p:nvPr/>
        </p:nvSpPr>
        <p:spPr>
          <a:xfrm>
            <a:off x="10160000" y="254000"/>
            <a:ext cx="63500" cy="63500"/>
          </a:xfrm>
          <a:prstGeom prst="ellipse">
            <a:avLst/>
          </a:prstGeom>
          <a:solidFill>
            <a:srgbClr val="2E5A9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1" name="Dot"/>
          <p:cNvSpPr/>
          <p:nvPr/>
        </p:nvSpPr>
        <p:spPr>
          <a:xfrm>
            <a:off x="10388600" y="254000"/>
            <a:ext cx="63500" cy="63500"/>
          </a:xfrm>
          <a:prstGeom prst="ellipse">
            <a:avLst/>
          </a:prstGeom>
          <a:solidFill>
            <a:srgbClr val="2E5A9E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2" name="Dot"/>
          <p:cNvSpPr/>
          <p:nvPr/>
        </p:nvSpPr>
        <p:spPr>
          <a:xfrm>
            <a:off x="10617200" y="254000"/>
            <a:ext cx="63500" cy="63500"/>
          </a:xfrm>
          <a:prstGeom prst="ellipse">
            <a:avLst/>
          </a:prstGeom>
          <a:solidFill>
            <a:srgbClr val="2E5A9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3" name="Dot"/>
          <p:cNvSpPr/>
          <p:nvPr/>
        </p:nvSpPr>
        <p:spPr>
          <a:xfrm>
            <a:off x="10845800" y="254000"/>
            <a:ext cx="63500" cy="63500"/>
          </a:xfrm>
          <a:prstGeom prst="ellipse">
            <a:avLst/>
          </a:prstGeom>
          <a:solidFill>
            <a:srgbClr val="2E5A9E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4" name="Dot"/>
          <p:cNvSpPr/>
          <p:nvPr/>
        </p:nvSpPr>
        <p:spPr>
          <a:xfrm>
            <a:off x="11074400" y="254000"/>
            <a:ext cx="63500" cy="63500"/>
          </a:xfrm>
          <a:prstGeom prst="ellipse">
            <a:avLst/>
          </a:prstGeom>
          <a:solidFill>
            <a:srgbClr val="2E5A9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5" name="Dot"/>
          <p:cNvSpPr/>
          <p:nvPr/>
        </p:nvSpPr>
        <p:spPr>
          <a:xfrm>
            <a:off x="11303000" y="254000"/>
            <a:ext cx="63500" cy="63500"/>
          </a:xfrm>
          <a:prstGeom prst="ellipse">
            <a:avLst/>
          </a:prstGeom>
          <a:solidFill>
            <a:srgbClr val="2E5A9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6" name="Dot"/>
          <p:cNvSpPr/>
          <p:nvPr/>
        </p:nvSpPr>
        <p:spPr>
          <a:xfrm>
            <a:off x="11531600" y="254000"/>
            <a:ext cx="63500" cy="63500"/>
          </a:xfrm>
          <a:prstGeom prst="ellipse">
            <a:avLst/>
          </a:prstGeom>
          <a:solidFill>
            <a:srgbClr val="2E5A9E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7" name="Dot"/>
          <p:cNvSpPr/>
          <p:nvPr/>
        </p:nvSpPr>
        <p:spPr>
          <a:xfrm>
            <a:off x="11760200" y="254000"/>
            <a:ext cx="63500" cy="63500"/>
          </a:xfrm>
          <a:prstGeom prst="ellipse">
            <a:avLst/>
          </a:prstGeom>
          <a:solidFill>
            <a:srgbClr val="2E5A9E">
              <a:alpha val="6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8" name="Dot"/>
          <p:cNvSpPr/>
          <p:nvPr/>
        </p:nvSpPr>
        <p:spPr>
          <a:xfrm>
            <a:off x="10160000" y="482600"/>
            <a:ext cx="63500" cy="63500"/>
          </a:xfrm>
          <a:prstGeom prst="ellipse">
            <a:avLst/>
          </a:prstGeom>
          <a:solidFill>
            <a:srgbClr val="2E5A9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9" name="Dot"/>
          <p:cNvSpPr/>
          <p:nvPr/>
        </p:nvSpPr>
        <p:spPr>
          <a:xfrm>
            <a:off x="10388600" y="482600"/>
            <a:ext cx="63500" cy="63500"/>
          </a:xfrm>
          <a:prstGeom prst="ellipse">
            <a:avLst/>
          </a:prstGeom>
          <a:solidFill>
            <a:srgbClr val="2E5A9E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0" name="Dot"/>
          <p:cNvSpPr/>
          <p:nvPr/>
        </p:nvSpPr>
        <p:spPr>
          <a:xfrm>
            <a:off x="10617200" y="482600"/>
            <a:ext cx="63500" cy="63500"/>
          </a:xfrm>
          <a:prstGeom prst="ellipse">
            <a:avLst/>
          </a:prstGeom>
          <a:solidFill>
            <a:srgbClr val="2E5A9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1" name="Dot"/>
          <p:cNvSpPr/>
          <p:nvPr/>
        </p:nvSpPr>
        <p:spPr>
          <a:xfrm>
            <a:off x="10845800" y="482600"/>
            <a:ext cx="63500" cy="63500"/>
          </a:xfrm>
          <a:prstGeom prst="ellipse">
            <a:avLst/>
          </a:prstGeom>
          <a:solidFill>
            <a:srgbClr val="2E5A9E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2" name="Dot"/>
          <p:cNvSpPr/>
          <p:nvPr/>
        </p:nvSpPr>
        <p:spPr>
          <a:xfrm>
            <a:off x="11074400" y="482600"/>
            <a:ext cx="63500" cy="63500"/>
          </a:xfrm>
          <a:prstGeom prst="ellipse">
            <a:avLst/>
          </a:prstGeom>
          <a:solidFill>
            <a:srgbClr val="2E5A9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3" name="Dot"/>
          <p:cNvSpPr/>
          <p:nvPr/>
        </p:nvSpPr>
        <p:spPr>
          <a:xfrm>
            <a:off x="11303000" y="482600"/>
            <a:ext cx="63500" cy="63500"/>
          </a:xfrm>
          <a:prstGeom prst="ellipse">
            <a:avLst/>
          </a:prstGeom>
          <a:solidFill>
            <a:srgbClr val="2E5A9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4" name="Dot"/>
          <p:cNvSpPr/>
          <p:nvPr/>
        </p:nvSpPr>
        <p:spPr>
          <a:xfrm>
            <a:off x="11531600" y="482600"/>
            <a:ext cx="63500" cy="63500"/>
          </a:xfrm>
          <a:prstGeom prst="ellipse">
            <a:avLst/>
          </a:prstGeom>
          <a:solidFill>
            <a:srgbClr val="2E5A9E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5" name="Dot"/>
          <p:cNvSpPr/>
          <p:nvPr/>
        </p:nvSpPr>
        <p:spPr>
          <a:xfrm>
            <a:off x="11760200" y="482600"/>
            <a:ext cx="63500" cy="63500"/>
          </a:xfrm>
          <a:prstGeom prst="ellipse">
            <a:avLst/>
          </a:prstGeom>
          <a:solidFill>
            <a:srgbClr val="2E5A9E">
              <a:alpha val="6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6" name="Dot"/>
          <p:cNvSpPr/>
          <p:nvPr/>
        </p:nvSpPr>
        <p:spPr>
          <a:xfrm>
            <a:off x="10160000" y="711200"/>
            <a:ext cx="63500" cy="63500"/>
          </a:xfrm>
          <a:prstGeom prst="ellipse">
            <a:avLst/>
          </a:prstGeom>
          <a:solidFill>
            <a:srgbClr val="2E5A9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7" name="Dot"/>
          <p:cNvSpPr/>
          <p:nvPr/>
        </p:nvSpPr>
        <p:spPr>
          <a:xfrm>
            <a:off x="10388600" y="711200"/>
            <a:ext cx="63500" cy="63500"/>
          </a:xfrm>
          <a:prstGeom prst="ellipse">
            <a:avLst/>
          </a:prstGeom>
          <a:solidFill>
            <a:srgbClr val="2E5A9E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8" name="Dot"/>
          <p:cNvSpPr/>
          <p:nvPr/>
        </p:nvSpPr>
        <p:spPr>
          <a:xfrm>
            <a:off x="10617200" y="711200"/>
            <a:ext cx="63500" cy="63500"/>
          </a:xfrm>
          <a:prstGeom prst="ellipse">
            <a:avLst/>
          </a:prstGeom>
          <a:solidFill>
            <a:srgbClr val="2E5A9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9" name="Dot"/>
          <p:cNvSpPr/>
          <p:nvPr/>
        </p:nvSpPr>
        <p:spPr>
          <a:xfrm>
            <a:off x="10845800" y="711200"/>
            <a:ext cx="63500" cy="63500"/>
          </a:xfrm>
          <a:prstGeom prst="ellipse">
            <a:avLst/>
          </a:prstGeom>
          <a:solidFill>
            <a:srgbClr val="2E5A9E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0" name="Dot"/>
          <p:cNvSpPr/>
          <p:nvPr/>
        </p:nvSpPr>
        <p:spPr>
          <a:xfrm>
            <a:off x="11074400" y="711200"/>
            <a:ext cx="63500" cy="63500"/>
          </a:xfrm>
          <a:prstGeom prst="ellipse">
            <a:avLst/>
          </a:prstGeom>
          <a:solidFill>
            <a:srgbClr val="2E5A9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1" name="Dot"/>
          <p:cNvSpPr/>
          <p:nvPr/>
        </p:nvSpPr>
        <p:spPr>
          <a:xfrm>
            <a:off x="11303000" y="711200"/>
            <a:ext cx="63500" cy="63500"/>
          </a:xfrm>
          <a:prstGeom prst="ellipse">
            <a:avLst/>
          </a:prstGeom>
          <a:solidFill>
            <a:srgbClr val="2E5A9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2" name="Dot"/>
          <p:cNvSpPr/>
          <p:nvPr/>
        </p:nvSpPr>
        <p:spPr>
          <a:xfrm>
            <a:off x="11531600" y="711200"/>
            <a:ext cx="63500" cy="63500"/>
          </a:xfrm>
          <a:prstGeom prst="ellipse">
            <a:avLst/>
          </a:prstGeom>
          <a:solidFill>
            <a:srgbClr val="2E5A9E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3" name="Dot"/>
          <p:cNvSpPr/>
          <p:nvPr/>
        </p:nvSpPr>
        <p:spPr>
          <a:xfrm>
            <a:off x="11760200" y="711200"/>
            <a:ext cx="63500" cy="63500"/>
          </a:xfrm>
          <a:prstGeom prst="ellipse">
            <a:avLst/>
          </a:prstGeom>
          <a:solidFill>
            <a:srgbClr val="2E5A9E">
              <a:alpha val="6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4" name="Dot"/>
          <p:cNvSpPr/>
          <p:nvPr/>
        </p:nvSpPr>
        <p:spPr>
          <a:xfrm>
            <a:off x="10160000" y="939800"/>
            <a:ext cx="63500" cy="63500"/>
          </a:xfrm>
          <a:prstGeom prst="ellipse">
            <a:avLst/>
          </a:prstGeom>
          <a:solidFill>
            <a:srgbClr val="2E5A9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5" name="Dot"/>
          <p:cNvSpPr/>
          <p:nvPr/>
        </p:nvSpPr>
        <p:spPr>
          <a:xfrm>
            <a:off x="10388600" y="939800"/>
            <a:ext cx="63500" cy="63500"/>
          </a:xfrm>
          <a:prstGeom prst="ellipse">
            <a:avLst/>
          </a:prstGeom>
          <a:solidFill>
            <a:srgbClr val="2E5A9E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6" name="Dot"/>
          <p:cNvSpPr/>
          <p:nvPr/>
        </p:nvSpPr>
        <p:spPr>
          <a:xfrm>
            <a:off x="10617200" y="939800"/>
            <a:ext cx="63500" cy="63500"/>
          </a:xfrm>
          <a:prstGeom prst="ellipse">
            <a:avLst/>
          </a:prstGeom>
          <a:solidFill>
            <a:srgbClr val="2E5A9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7" name="Dot"/>
          <p:cNvSpPr/>
          <p:nvPr/>
        </p:nvSpPr>
        <p:spPr>
          <a:xfrm>
            <a:off x="10845800" y="939800"/>
            <a:ext cx="63500" cy="63500"/>
          </a:xfrm>
          <a:prstGeom prst="ellipse">
            <a:avLst/>
          </a:prstGeom>
          <a:solidFill>
            <a:srgbClr val="2E5A9E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8" name="Dot"/>
          <p:cNvSpPr/>
          <p:nvPr/>
        </p:nvSpPr>
        <p:spPr>
          <a:xfrm>
            <a:off x="11074400" y="939800"/>
            <a:ext cx="63500" cy="63500"/>
          </a:xfrm>
          <a:prstGeom prst="ellipse">
            <a:avLst/>
          </a:prstGeom>
          <a:solidFill>
            <a:srgbClr val="2E5A9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9" name="Dot"/>
          <p:cNvSpPr/>
          <p:nvPr/>
        </p:nvSpPr>
        <p:spPr>
          <a:xfrm>
            <a:off x="11303000" y="939800"/>
            <a:ext cx="63500" cy="63500"/>
          </a:xfrm>
          <a:prstGeom prst="ellipse">
            <a:avLst/>
          </a:prstGeom>
          <a:solidFill>
            <a:srgbClr val="2E5A9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0" name="Dot"/>
          <p:cNvSpPr/>
          <p:nvPr/>
        </p:nvSpPr>
        <p:spPr>
          <a:xfrm>
            <a:off x="11531600" y="939800"/>
            <a:ext cx="63500" cy="63500"/>
          </a:xfrm>
          <a:prstGeom prst="ellipse">
            <a:avLst/>
          </a:prstGeom>
          <a:solidFill>
            <a:srgbClr val="2E5A9E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1" name="Dot"/>
          <p:cNvSpPr/>
          <p:nvPr/>
        </p:nvSpPr>
        <p:spPr>
          <a:xfrm>
            <a:off x="11760200" y="939800"/>
            <a:ext cx="63500" cy="63500"/>
          </a:xfrm>
          <a:prstGeom prst="ellipse">
            <a:avLst/>
          </a:prstGeom>
          <a:solidFill>
            <a:srgbClr val="2E5A9E">
              <a:alpha val="6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2" name="Dot"/>
          <p:cNvSpPr/>
          <p:nvPr/>
        </p:nvSpPr>
        <p:spPr>
          <a:xfrm>
            <a:off x="10160000" y="1168400"/>
            <a:ext cx="63500" cy="63500"/>
          </a:xfrm>
          <a:prstGeom prst="ellipse">
            <a:avLst/>
          </a:prstGeom>
          <a:solidFill>
            <a:srgbClr val="2E5A9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3" name="Dot"/>
          <p:cNvSpPr/>
          <p:nvPr/>
        </p:nvSpPr>
        <p:spPr>
          <a:xfrm>
            <a:off x="10388600" y="1168400"/>
            <a:ext cx="63500" cy="63500"/>
          </a:xfrm>
          <a:prstGeom prst="ellipse">
            <a:avLst/>
          </a:prstGeom>
          <a:solidFill>
            <a:srgbClr val="2E5A9E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4" name="Dot"/>
          <p:cNvSpPr/>
          <p:nvPr/>
        </p:nvSpPr>
        <p:spPr>
          <a:xfrm>
            <a:off x="10617200" y="1168400"/>
            <a:ext cx="63500" cy="63500"/>
          </a:xfrm>
          <a:prstGeom prst="ellipse">
            <a:avLst/>
          </a:prstGeom>
          <a:solidFill>
            <a:srgbClr val="2E5A9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5" name="Dot"/>
          <p:cNvSpPr/>
          <p:nvPr/>
        </p:nvSpPr>
        <p:spPr>
          <a:xfrm>
            <a:off x="10845800" y="1168400"/>
            <a:ext cx="63500" cy="63500"/>
          </a:xfrm>
          <a:prstGeom prst="ellipse">
            <a:avLst/>
          </a:prstGeom>
          <a:solidFill>
            <a:srgbClr val="2E5A9E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6" name="Dot"/>
          <p:cNvSpPr/>
          <p:nvPr/>
        </p:nvSpPr>
        <p:spPr>
          <a:xfrm>
            <a:off x="11074400" y="1168400"/>
            <a:ext cx="63500" cy="63500"/>
          </a:xfrm>
          <a:prstGeom prst="ellipse">
            <a:avLst/>
          </a:prstGeom>
          <a:solidFill>
            <a:srgbClr val="2E5A9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7" name="Dot"/>
          <p:cNvSpPr/>
          <p:nvPr/>
        </p:nvSpPr>
        <p:spPr>
          <a:xfrm>
            <a:off x="11303000" y="1168400"/>
            <a:ext cx="63500" cy="63500"/>
          </a:xfrm>
          <a:prstGeom prst="ellipse">
            <a:avLst/>
          </a:prstGeom>
          <a:solidFill>
            <a:srgbClr val="2E5A9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8" name="Dot"/>
          <p:cNvSpPr/>
          <p:nvPr/>
        </p:nvSpPr>
        <p:spPr>
          <a:xfrm>
            <a:off x="11531600" y="1168400"/>
            <a:ext cx="63500" cy="63500"/>
          </a:xfrm>
          <a:prstGeom prst="ellipse">
            <a:avLst/>
          </a:prstGeom>
          <a:solidFill>
            <a:srgbClr val="2E5A9E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9" name="Dot"/>
          <p:cNvSpPr/>
          <p:nvPr/>
        </p:nvSpPr>
        <p:spPr>
          <a:xfrm>
            <a:off x="11760200" y="1168400"/>
            <a:ext cx="63500" cy="63500"/>
          </a:xfrm>
          <a:prstGeom prst="ellipse">
            <a:avLst/>
          </a:prstGeom>
          <a:solidFill>
            <a:srgbClr val="2E5A9E">
              <a:alpha val="6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" name="GoldLine"/>
          <p:cNvSpPr/>
          <p:nvPr/>
        </p:nvSpPr>
        <p:spPr>
          <a:xfrm>
            <a:off x="1016000" y="3683000"/>
            <a:ext cx="1524000" cy="50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Tag"/>
          <p:cNvSpPr txBox="1"/>
          <p:nvPr/>
        </p:nvSpPr>
        <p:spPr>
          <a:xfrm>
            <a:off x="1016000" y="15240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600" b="1" spc="400" dirty="0">
                <a:solidFill>
                  <a:srgbClr val="E8A317"/>
                </a:solidFill>
                <a:latin typeface="Calibri"/>
              </a:rPr>
              <a:t>PROJET DATA ENGINEERING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16000" y="2032000"/>
            <a:ext cx="10160000" cy="158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0B2545"/>
                </a:solidFill>
                <a:latin typeface="Calibri"/>
              </a:rPr>
              <a:t>Infrastructure hybride</a:t>
            </a:r>
          </a:p>
          <a:p>
            <a:pPr algn="l">
              <a:buNone/>
            </a:pPr>
            <a:r>
              <a:rPr lang="fr-FR" sz="2800" b="0" dirty="0">
                <a:solidFill>
                  <a:srgbClr val="1B3A6B"/>
                </a:solidFill>
                <a:latin typeface="Calibri"/>
              </a:rPr>
              <a:t>pour le traitement des données industrielles en temps réel</a:t>
            </a:r>
          </a:p>
        </p:txBody>
      </p:sp>
      <p:sp>
        <p:nvSpPr>
          <p:cNvPr id="5" name="Card"/>
          <p:cNvSpPr/>
          <p:nvPr/>
        </p:nvSpPr>
        <p:spPr>
          <a:xfrm>
            <a:off x="1016000" y="4191000"/>
            <a:ext cx="22860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40000" dist="20000" dir="5400000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ardBar"/>
          <p:cNvSpPr/>
          <p:nvPr/>
        </p:nvSpPr>
        <p:spPr>
          <a:xfrm>
            <a:off x="1016000" y="4191000"/>
            <a:ext cx="2286000" cy="50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CardText"/>
          <p:cNvSpPr txBox="1"/>
          <p:nvPr/>
        </p:nvSpPr>
        <p:spPr>
          <a:xfrm>
            <a:off x="1206500" y="4445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200" b="0" spc="200" dirty="0">
                <a:solidFill>
                  <a:srgbClr val="6B7C93"/>
                </a:solidFill>
                <a:latin typeface="Calibri"/>
              </a:rPr>
              <a:t>ARCHITECTURE</a:t>
            </a:r>
          </a:p>
          <a:p>
            <a:pPr algn="l">
              <a:buNone/>
            </a:pPr>
            <a:r>
              <a:rPr lang="fr-FR" sz="2000" b="1" dirty="0">
                <a:solidFill>
                  <a:srgbClr val="0B2545"/>
                </a:solidFill>
                <a:latin typeface="Calibri"/>
              </a:rPr>
              <a:t>Hybride</a:t>
            </a:r>
          </a:p>
        </p:txBody>
      </p:sp>
      <p:sp>
        <p:nvSpPr>
          <p:cNvPr id="8" name="Card"/>
          <p:cNvSpPr/>
          <p:nvPr/>
        </p:nvSpPr>
        <p:spPr>
          <a:xfrm>
            <a:off x="3746500" y="4191000"/>
            <a:ext cx="22860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40000" dist="20000" dir="5400000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CardBar"/>
          <p:cNvSpPr/>
          <p:nvPr/>
        </p:nvSpPr>
        <p:spPr>
          <a:xfrm>
            <a:off x="3746500" y="4191000"/>
            <a:ext cx="2286000" cy="50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" name="CardText"/>
          <p:cNvSpPr txBox="1"/>
          <p:nvPr/>
        </p:nvSpPr>
        <p:spPr>
          <a:xfrm>
            <a:off x="3937000" y="4445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200" b="0" spc="200" dirty="0">
                <a:solidFill>
                  <a:srgbClr val="6B7C93"/>
                </a:solidFill>
                <a:latin typeface="Calibri"/>
              </a:rPr>
              <a:t>INGESTION</a:t>
            </a:r>
          </a:p>
          <a:p>
            <a:pPr algn="l">
              <a:buNone/>
            </a:pPr>
            <a:r>
              <a:rPr lang="fr-FR" sz="2000" b="1" dirty="0">
                <a:solidFill>
                  <a:srgbClr val="0B2545"/>
                </a:solidFill>
                <a:latin typeface="Calibri"/>
              </a:rPr>
              <a:t>Temps réel</a:t>
            </a:r>
          </a:p>
        </p:txBody>
      </p:sp>
      <p:sp>
        <p:nvSpPr>
          <p:cNvPr id="11" name="Card"/>
          <p:cNvSpPr/>
          <p:nvPr/>
        </p:nvSpPr>
        <p:spPr>
          <a:xfrm>
            <a:off x="6477000" y="4191000"/>
            <a:ext cx="22860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40000" dist="20000" dir="5400000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CardBar"/>
          <p:cNvSpPr/>
          <p:nvPr/>
        </p:nvSpPr>
        <p:spPr>
          <a:xfrm>
            <a:off x="6477000" y="4191000"/>
            <a:ext cx="2286000" cy="50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CardText"/>
          <p:cNvSpPr txBox="1"/>
          <p:nvPr/>
        </p:nvSpPr>
        <p:spPr>
          <a:xfrm>
            <a:off x="6667500" y="4445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200" b="0" spc="200" dirty="0">
                <a:solidFill>
                  <a:srgbClr val="6B7C93"/>
                </a:solidFill>
                <a:latin typeface="Calibri"/>
              </a:rPr>
              <a:t>STOCKAGE</a:t>
            </a:r>
          </a:p>
          <a:p>
            <a:pPr algn="l">
              <a:buNone/>
            </a:pPr>
            <a:r>
              <a:rPr lang="fr-FR" sz="2000" b="1" dirty="0">
                <a:solidFill>
                  <a:srgbClr val="0B2545"/>
                </a:solidFill>
                <a:latin typeface="Calibri"/>
              </a:rPr>
              <a:t>Cloud + Local</a:t>
            </a:r>
          </a:p>
        </p:txBody>
      </p:sp>
      <p:sp>
        <p:nvSpPr>
          <p:cNvPr id="14" name="Card"/>
          <p:cNvSpPr/>
          <p:nvPr/>
        </p:nvSpPr>
        <p:spPr>
          <a:xfrm>
            <a:off x="9207500" y="4191000"/>
            <a:ext cx="22860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40000" dist="20000" dir="5400000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80" name="CardBar"/>
          <p:cNvSpPr/>
          <p:nvPr/>
        </p:nvSpPr>
        <p:spPr>
          <a:xfrm>
            <a:off x="9207500" y="4191000"/>
            <a:ext cx="2286000" cy="508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81" name="CardText"/>
          <p:cNvSpPr txBox="1"/>
          <p:nvPr/>
        </p:nvSpPr>
        <p:spPr>
          <a:xfrm>
            <a:off x="9398000" y="4445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200" b="0" spc="200" dirty="0">
                <a:solidFill>
                  <a:srgbClr val="6B7C93"/>
                </a:solidFill>
                <a:latin typeface="Calibri"/>
              </a:rPr>
              <a:t>PERFORMANCE</a:t>
            </a:r>
          </a:p>
          <a:p>
            <a:pPr algn="l">
              <a:buNone/>
            </a:pPr>
            <a:r>
              <a:rPr lang="fr-FR" sz="2000" b="1" dirty="0">
                <a:solidFill>
                  <a:srgbClr val="0B2545"/>
                </a:solidFill>
                <a:latin typeface="Calibri"/>
              </a:rPr>
              <a:t>Scalable</a:t>
            </a:r>
          </a:p>
        </p:txBody>
      </p:sp>
      <p:sp>
        <p:nvSpPr>
          <p:cNvPr id="990" name="Footer"/>
          <p:cNvSpPr txBox="1"/>
          <p:nvPr/>
        </p:nvSpPr>
        <p:spPr>
          <a:xfrm>
            <a:off x="1016000" y="62230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200" b="0" spc="200" dirty="0">
                <a:solidFill>
                  <a:srgbClr val="6B7C93"/>
                </a:solidFill>
                <a:latin typeface="Calibri"/>
              </a:rPr>
              <a:t>INDUTECHDATA</a:t>
            </a:r>
            <a:r>
              <a:rPr lang="fr-FR" sz="1200" b="0" dirty="0">
                <a:solidFill>
                  <a:srgbClr val="6B7C93"/>
                </a:solidFill>
                <a:latin typeface="Calibri"/>
              </a:rPr>
              <a:t>   •   Ingestion temps réel  •  Architecture hybride on-premise / cloud</a:t>
            </a:r>
          </a:p>
        </p:txBody>
      </p:sp>
    </p:spTree>
    <p:extLst>
      <p:ext uri="{BB962C8B-B14F-4D97-AF65-F5344CB8AC3E}">
        <p14:creationId xmlns:p14="http://schemas.microsoft.com/office/powerpoint/2010/main" val="14788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995F-5C0F-68D5-E540-B52C93E4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opBand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2" name="GoldLine"/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3" name="Title"/>
          <p:cNvSpPr txBox="1"/>
          <p:nvPr/>
        </p:nvSpPr>
        <p:spPr>
          <a:xfrm>
            <a:off x="762000" y="2540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2400" b="1" dirty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904" name="SectionTag"/>
          <p:cNvSpPr txBox="1"/>
          <p:nvPr/>
        </p:nvSpPr>
        <p:spPr>
          <a:xfrm>
            <a:off x="9525000" y="254000"/>
            <a:ext cx="2286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00" b="0" spc="300" dirty="0">
                <a:solidFill>
                  <a:srgbClr val="E8A317"/>
                </a:solidFill>
                <a:latin typeface="Calibri"/>
              </a:rPr>
              <a:t>PROJET INDUTECHDATA</a:t>
            </a:r>
          </a:p>
        </p:txBody>
      </p:sp>
      <p:sp>
        <p:nvSpPr>
          <p:cNvPr id="920" name="Card0"/>
          <p:cNvSpPr/>
          <p:nvPr/>
        </p:nvSpPr>
        <p:spPr>
          <a:xfrm>
            <a:off x="635000" y="1460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21" name="Stripe0"/>
          <p:cNvSpPr/>
          <p:nvPr/>
        </p:nvSpPr>
        <p:spPr>
          <a:xfrm>
            <a:off x="635000" y="1460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2" name="Num0"/>
          <p:cNvSpPr txBox="1"/>
          <p:nvPr/>
        </p:nvSpPr>
        <p:spPr>
          <a:xfrm>
            <a:off x="863600" y="1638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01</a:t>
            </a:r>
          </a:p>
        </p:txBody>
      </p:sp>
      <p:sp>
        <p:nvSpPr>
          <p:cNvPr id="923" name="T0"/>
          <p:cNvSpPr txBox="1"/>
          <p:nvPr/>
        </p:nvSpPr>
        <p:spPr>
          <a:xfrm>
            <a:off x="863600" y="2324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Introduction</a:t>
            </a:r>
          </a:p>
        </p:txBody>
      </p:sp>
      <p:sp>
        <p:nvSpPr>
          <p:cNvPr id="924" name="D0"/>
          <p:cNvSpPr txBox="1"/>
          <p:nvPr/>
        </p:nvSpPr>
        <p:spPr>
          <a:xfrm>
            <a:off x="863600" y="2705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Contexte • Problématique • Objectifs</a:t>
            </a:r>
          </a:p>
        </p:txBody>
      </p:sp>
      <p:sp>
        <p:nvSpPr>
          <p:cNvPr id="925" name="Card1"/>
          <p:cNvSpPr/>
          <p:nvPr/>
        </p:nvSpPr>
        <p:spPr>
          <a:xfrm>
            <a:off x="4381500" y="1460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26" name="Stripe1"/>
          <p:cNvSpPr/>
          <p:nvPr/>
        </p:nvSpPr>
        <p:spPr>
          <a:xfrm>
            <a:off x="4381500" y="1460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7" name="Num1"/>
          <p:cNvSpPr txBox="1"/>
          <p:nvPr/>
        </p:nvSpPr>
        <p:spPr>
          <a:xfrm>
            <a:off x="4610100" y="1638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02</a:t>
            </a:r>
          </a:p>
        </p:txBody>
      </p:sp>
      <p:sp>
        <p:nvSpPr>
          <p:cNvPr id="928" name="T1"/>
          <p:cNvSpPr txBox="1"/>
          <p:nvPr/>
        </p:nvSpPr>
        <p:spPr>
          <a:xfrm>
            <a:off x="4610100" y="2324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Réalisation du POC local</a:t>
            </a:r>
          </a:p>
        </p:txBody>
      </p:sp>
      <p:sp>
        <p:nvSpPr>
          <p:cNvPr id="929" name="D1"/>
          <p:cNvSpPr txBox="1"/>
          <p:nvPr/>
        </p:nvSpPr>
        <p:spPr>
          <a:xfrm>
            <a:off x="4610100" y="2705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Pipeline, Redpanda, PySpark, Docker</a:t>
            </a:r>
          </a:p>
        </p:txBody>
      </p:sp>
      <p:sp>
        <p:nvSpPr>
          <p:cNvPr id="930" name="Card2"/>
          <p:cNvSpPr/>
          <p:nvPr/>
        </p:nvSpPr>
        <p:spPr>
          <a:xfrm>
            <a:off x="8128000" y="1460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31" name="Stripe2"/>
          <p:cNvSpPr/>
          <p:nvPr/>
        </p:nvSpPr>
        <p:spPr>
          <a:xfrm>
            <a:off x="8128000" y="1460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2" name="Num2"/>
          <p:cNvSpPr txBox="1"/>
          <p:nvPr/>
        </p:nvSpPr>
        <p:spPr>
          <a:xfrm>
            <a:off x="8356600" y="1638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03</a:t>
            </a:r>
          </a:p>
        </p:txBody>
      </p:sp>
      <p:sp>
        <p:nvSpPr>
          <p:cNvPr id="933" name="T2"/>
          <p:cNvSpPr txBox="1"/>
          <p:nvPr/>
        </p:nvSpPr>
        <p:spPr>
          <a:xfrm>
            <a:off x="8356600" y="2324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Transition hybride</a:t>
            </a:r>
          </a:p>
        </p:txBody>
      </p:sp>
      <p:sp>
        <p:nvSpPr>
          <p:cNvPr id="934" name="D2"/>
          <p:cNvSpPr txBox="1"/>
          <p:nvPr/>
        </p:nvSpPr>
        <p:spPr>
          <a:xfrm>
            <a:off x="8356600" y="2705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Limites du local • Choix cloud</a:t>
            </a:r>
          </a:p>
        </p:txBody>
      </p:sp>
      <p:sp>
        <p:nvSpPr>
          <p:cNvPr id="935" name="Card3"/>
          <p:cNvSpPr/>
          <p:nvPr/>
        </p:nvSpPr>
        <p:spPr>
          <a:xfrm>
            <a:off x="635000" y="3365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36" name="Stripe3"/>
          <p:cNvSpPr/>
          <p:nvPr/>
        </p:nvSpPr>
        <p:spPr>
          <a:xfrm>
            <a:off x="635000" y="3365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7" name="Num3"/>
          <p:cNvSpPr txBox="1"/>
          <p:nvPr/>
        </p:nvSpPr>
        <p:spPr>
          <a:xfrm>
            <a:off x="863600" y="3543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04</a:t>
            </a:r>
          </a:p>
        </p:txBody>
      </p:sp>
      <p:sp>
        <p:nvSpPr>
          <p:cNvPr id="938" name="T3"/>
          <p:cNvSpPr txBox="1"/>
          <p:nvPr/>
        </p:nvSpPr>
        <p:spPr>
          <a:xfrm>
            <a:off x="863600" y="4229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Architecture hybride</a:t>
            </a:r>
          </a:p>
        </p:txBody>
      </p:sp>
      <p:sp>
        <p:nvSpPr>
          <p:cNvPr id="939" name="D3"/>
          <p:cNvSpPr txBox="1"/>
          <p:nvPr/>
        </p:nvSpPr>
        <p:spPr>
          <a:xfrm>
            <a:off x="863600" y="4610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Diagramme global • Flux • AWS</a:t>
            </a:r>
          </a:p>
        </p:txBody>
      </p:sp>
      <p:sp>
        <p:nvSpPr>
          <p:cNvPr id="940" name="Card4"/>
          <p:cNvSpPr/>
          <p:nvPr/>
        </p:nvSpPr>
        <p:spPr>
          <a:xfrm>
            <a:off x="4381500" y="3365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41" name="Stripe4"/>
          <p:cNvSpPr/>
          <p:nvPr/>
        </p:nvSpPr>
        <p:spPr>
          <a:xfrm>
            <a:off x="4381500" y="3365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2" name="Num4"/>
          <p:cNvSpPr txBox="1"/>
          <p:nvPr/>
        </p:nvSpPr>
        <p:spPr>
          <a:xfrm>
            <a:off x="4610100" y="3543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05</a:t>
            </a:r>
          </a:p>
        </p:txBody>
      </p:sp>
      <p:sp>
        <p:nvSpPr>
          <p:cNvPr id="943" name="T4"/>
          <p:cNvSpPr txBox="1"/>
          <p:nvPr/>
        </p:nvSpPr>
        <p:spPr>
          <a:xfrm>
            <a:off x="4610100" y="4229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Évaluation de compatibilité</a:t>
            </a:r>
          </a:p>
        </p:txBody>
      </p:sp>
      <p:sp>
        <p:nvSpPr>
          <p:cNvPr id="944" name="D4"/>
          <p:cNvSpPr txBox="1"/>
          <p:nvPr/>
        </p:nvSpPr>
        <p:spPr>
          <a:xfrm>
            <a:off x="4610100" y="4610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Sécurité • Scalabilité • Coûts</a:t>
            </a:r>
          </a:p>
        </p:txBody>
      </p:sp>
      <p:sp>
        <p:nvSpPr>
          <p:cNvPr id="945" name="Card5"/>
          <p:cNvSpPr/>
          <p:nvPr/>
        </p:nvSpPr>
        <p:spPr>
          <a:xfrm>
            <a:off x="8128000" y="3365500"/>
            <a:ext cx="3429000" cy="16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</a:ln>
          <a:effectLst>
            <a:outerShdw blurRad="50000" dist="20000" dir="5400000" rotWithShape="0">
              <a:srgbClr val="0B2545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46" name="Stripe5"/>
          <p:cNvSpPr/>
          <p:nvPr/>
        </p:nvSpPr>
        <p:spPr>
          <a:xfrm>
            <a:off x="8128000" y="3365500"/>
            <a:ext cx="63500" cy="1651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7" name="Num5"/>
          <p:cNvSpPr txBox="1"/>
          <p:nvPr/>
        </p:nvSpPr>
        <p:spPr>
          <a:xfrm>
            <a:off x="8356600" y="35433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4000" b="1" dirty="0">
                <a:solidFill>
                  <a:srgbClr val="E8A317"/>
                </a:solidFill>
                <a:latin typeface="Calibri"/>
              </a:rPr>
              <a:t>06</a:t>
            </a:r>
          </a:p>
        </p:txBody>
      </p:sp>
      <p:sp>
        <p:nvSpPr>
          <p:cNvPr id="948" name="T5"/>
          <p:cNvSpPr txBox="1"/>
          <p:nvPr/>
        </p:nvSpPr>
        <p:spPr>
          <a:xfrm>
            <a:off x="8356600" y="42291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800" b="1" dirty="0">
                <a:solidFill>
                  <a:srgbClr val="0B2545"/>
                </a:solidFill>
                <a:latin typeface="Calibri"/>
              </a:rPr>
              <a:t>Conclusion</a:t>
            </a:r>
          </a:p>
        </p:txBody>
      </p:sp>
      <p:sp>
        <p:nvSpPr>
          <p:cNvPr id="949" name="D5"/>
          <p:cNvSpPr txBox="1"/>
          <p:nvPr/>
        </p:nvSpPr>
        <p:spPr>
          <a:xfrm>
            <a:off x="8356600" y="46101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300" dirty="0">
                <a:solidFill>
                  <a:srgbClr val="5A6B82"/>
                </a:solidFill>
                <a:latin typeface="Calibri"/>
              </a:rPr>
              <a:t>Résultats • Limites • Perspectives</a:t>
            </a:r>
          </a:p>
        </p:txBody>
      </p:sp>
      <p:sp>
        <p:nvSpPr>
          <p:cNvPr id="990" name="Footer"/>
          <p:cNvSpPr txBox="1"/>
          <p:nvPr/>
        </p:nvSpPr>
        <p:spPr>
          <a:xfrm>
            <a:off x="762000" y="64770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100" spc="200" dirty="0">
                <a:solidFill>
                  <a:srgbClr val="6B7C93"/>
                </a:solidFill>
                <a:latin typeface="Calibri"/>
              </a:rPr>
              <a:t>INFRASTRUCTURE HYBRIDE  •  INDUTECHDATA</a:t>
            </a:r>
          </a:p>
        </p:txBody>
      </p:sp>
    </p:spTree>
    <p:extLst>
      <p:ext uri="{BB962C8B-B14F-4D97-AF65-F5344CB8AC3E}">
        <p14:creationId xmlns:p14="http://schemas.microsoft.com/office/powerpoint/2010/main" val="3964891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A63F9-9117-7DBF-1232-697C370E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E93A5-803E-4041-B841-70E15FA6C2E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F945FE5-0C16-F944-AA37-98C4710E9880}"/>
              </a:ext>
            </a:extLst>
          </p:cNvPr>
          <p:cNvSpPr/>
          <p:nvPr/>
        </p:nvSpPr>
        <p:spPr>
          <a:xfrm>
            <a:off x="635000" y="508000"/>
            <a:ext cx="2540000" cy="381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01 · INTRODUCTION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839952-5A7C-1346-86C8-650EA83374CE}"/>
              </a:ext>
            </a:extLst>
          </p:cNvPr>
          <p:cNvSpPr txBox="1"/>
          <p:nvPr/>
        </p:nvSpPr>
        <p:spPr>
          <a:xfrm>
            <a:off x="635000" y="1079500"/>
            <a:ext cx="762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800" b="1">
                <a:solidFill>
                  <a:srgbClr val="0B2545"/>
                </a:solidFill>
              </a:rPr>
              <a:t>Contexte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E592B2-A9E6-5746-AC3B-06AAA09C36DA}"/>
              </a:ext>
            </a:extLst>
          </p:cNvPr>
          <p:cNvSpPr/>
          <p:nvPr/>
        </p:nvSpPr>
        <p:spPr>
          <a:xfrm>
            <a:off x="635000" y="19685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98760E6-22F6-E84E-ACE6-AA93A0D77241}"/>
              </a:ext>
            </a:extLst>
          </p:cNvPr>
          <p:cNvSpPr/>
          <p:nvPr/>
        </p:nvSpPr>
        <p:spPr>
          <a:xfrm>
            <a:off x="9144000" y="889000"/>
            <a:ext cx="2413000" cy="12065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+50 Go / mois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E5B6109-CB1A-7742-8CCF-5BE1DA322CE4}"/>
              </a:ext>
            </a:extLst>
          </p:cNvPr>
          <p:cNvSpPr txBox="1"/>
          <p:nvPr/>
        </p:nvSpPr>
        <p:spPr>
          <a:xfrm>
            <a:off x="635000" y="23495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i="1">
                <a:solidFill>
                  <a:srgbClr val="1B3A6B"/>
                </a:solidFill>
              </a:rPr>
              <a:t>InduTechData fait face à une explosion de données issues de ses capteurs IoT industriels.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6AAF87E-EA9C-9D49-BEC6-1DA75D06C7C3}"/>
              </a:ext>
            </a:extLst>
          </p:cNvPr>
          <p:cNvSpPr/>
          <p:nvPr/>
        </p:nvSpPr>
        <p:spPr>
          <a:xfrm>
            <a:off x="635000" y="3302000"/>
            <a:ext cx="5207000" cy="146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7A3F671-3A4E-4B47-AC88-4A965F44A8F5}"/>
              </a:ext>
            </a:extLst>
          </p:cNvPr>
          <p:cNvSpPr/>
          <p:nvPr/>
        </p:nvSpPr>
        <p:spPr>
          <a:xfrm>
            <a:off x="889000" y="3683000"/>
            <a:ext cx="698500" cy="6985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1EF430A-309C-E646-9A93-852E2356F66A}"/>
              </a:ext>
            </a:extLst>
          </p:cNvPr>
          <p:cNvSpPr txBox="1"/>
          <p:nvPr/>
        </p:nvSpPr>
        <p:spPr>
          <a:xfrm>
            <a:off x="1778000" y="35306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0B2545"/>
                </a:solidFill>
              </a:rPr>
              <a:t>Activité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18467C4-9C42-264A-B618-323E47D64F38}"/>
              </a:ext>
            </a:extLst>
          </p:cNvPr>
          <p:cNvSpPr txBox="1"/>
          <p:nvPr/>
        </p:nvSpPr>
        <p:spPr>
          <a:xfrm>
            <a:off x="1778000" y="3937000"/>
            <a:ext cx="387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444444"/>
                </a:solidFill>
              </a:rPr>
              <a:t>Analyse de données industrielles à grande échelle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C29674C-772F-D843-BC6F-F0A469E2B851}"/>
              </a:ext>
            </a:extLst>
          </p:cNvPr>
          <p:cNvSpPr/>
          <p:nvPr/>
        </p:nvSpPr>
        <p:spPr>
          <a:xfrm>
            <a:off x="6096000" y="3302000"/>
            <a:ext cx="5207000" cy="146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DAFD073-DDBC-1646-9259-B2B8542927FF}"/>
              </a:ext>
            </a:extLst>
          </p:cNvPr>
          <p:cNvSpPr/>
          <p:nvPr/>
        </p:nvSpPr>
        <p:spPr>
          <a:xfrm>
            <a:off x="6350000" y="3683000"/>
            <a:ext cx="698500" cy="6985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15FA6EF-90DE-3B40-8821-9642EFB8B2D2}"/>
              </a:ext>
            </a:extLst>
          </p:cNvPr>
          <p:cNvSpPr txBox="1"/>
          <p:nvPr/>
        </p:nvSpPr>
        <p:spPr>
          <a:xfrm>
            <a:off x="7239000" y="35306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0B2545"/>
                </a:solidFill>
              </a:rPr>
              <a:t>Croissance IoT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DCD4C34-A9FA-0E46-AB59-78C10E0EDEE4}"/>
              </a:ext>
            </a:extLst>
          </p:cNvPr>
          <p:cNvSpPr txBox="1"/>
          <p:nvPr/>
        </p:nvSpPr>
        <p:spPr>
          <a:xfrm>
            <a:off x="7239000" y="3937000"/>
            <a:ext cx="387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444444"/>
                </a:solidFill>
              </a:rPr>
              <a:t>Volume en hausse continue depuis l'intégration des capteurs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D249318-080C-F84D-B2AC-B9232CFC681B}"/>
              </a:ext>
            </a:extLst>
          </p:cNvPr>
          <p:cNvSpPr/>
          <p:nvPr/>
        </p:nvSpPr>
        <p:spPr>
          <a:xfrm>
            <a:off x="635000" y="4953000"/>
            <a:ext cx="5207000" cy="146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3C318A8-A02A-CD43-B4C3-B987E654F3DF}"/>
              </a:ext>
            </a:extLst>
          </p:cNvPr>
          <p:cNvSpPr/>
          <p:nvPr/>
        </p:nvSpPr>
        <p:spPr>
          <a:xfrm>
            <a:off x="889000" y="5334000"/>
            <a:ext cx="698500" cy="6985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437AD7E-F758-554E-A3FA-B31E91EFDD53}"/>
              </a:ext>
            </a:extLst>
          </p:cNvPr>
          <p:cNvSpPr txBox="1"/>
          <p:nvPr/>
        </p:nvSpPr>
        <p:spPr>
          <a:xfrm>
            <a:off x="1778000" y="51816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0B2545"/>
                </a:solidFill>
              </a:rPr>
              <a:t>Flux continus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4F51826-7610-734D-BCAE-FB0DDDB03239}"/>
              </a:ext>
            </a:extLst>
          </p:cNvPr>
          <p:cNvSpPr txBox="1"/>
          <p:nvPr/>
        </p:nvSpPr>
        <p:spPr>
          <a:xfrm>
            <a:off x="1778000" y="5588000"/>
            <a:ext cx="387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444444"/>
                </a:solidFill>
              </a:rPr>
              <a:t>Données issues de capteurs industriels en temps réel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B913D00-81CB-C049-9A3B-7B18F0CEB35F}"/>
              </a:ext>
            </a:extLst>
          </p:cNvPr>
          <p:cNvSpPr/>
          <p:nvPr/>
        </p:nvSpPr>
        <p:spPr>
          <a:xfrm>
            <a:off x="6096000" y="4953000"/>
            <a:ext cx="5207000" cy="146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D690E52-2409-EF41-B636-40E8304487F8}"/>
              </a:ext>
            </a:extLst>
          </p:cNvPr>
          <p:cNvSpPr/>
          <p:nvPr/>
        </p:nvSpPr>
        <p:spPr>
          <a:xfrm>
            <a:off x="6350000" y="5334000"/>
            <a:ext cx="698500" cy="6985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C685603-4A9F-2A44-973F-0AAB47C970CA}"/>
              </a:ext>
            </a:extLst>
          </p:cNvPr>
          <p:cNvSpPr txBox="1"/>
          <p:nvPr/>
        </p:nvSpPr>
        <p:spPr>
          <a:xfrm>
            <a:off x="7239000" y="51816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0B2545"/>
                </a:solidFill>
              </a:rPr>
              <a:t>Infrastructure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4CA71EC-8C4D-EE4C-9489-0E9EEAB9EB63}"/>
              </a:ext>
            </a:extLst>
          </p:cNvPr>
          <p:cNvSpPr txBox="1"/>
          <p:nvPr/>
        </p:nvSpPr>
        <p:spPr>
          <a:xfrm>
            <a:off x="7239000" y="5588000"/>
            <a:ext cx="387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444444"/>
                </a:solidFill>
              </a:rPr>
              <a:t>Limites atteintes en traitement et stockage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7E213DF-C5F6-AD44-9A0D-E53D66980F03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03 / 23</a:t>
            </a:r>
          </a:p>
        </p:txBody>
      </p:sp>
    </p:spTree>
    <p:extLst>
      <p:ext uri="{BB962C8B-B14F-4D97-AF65-F5344CB8AC3E}">
        <p14:creationId xmlns:p14="http://schemas.microsoft.com/office/powerpoint/2010/main" val="139289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187F-39EF-ACF9-5B1E-B32B7640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9B084A-043C-2940-BD8D-BD5D32333E81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0FBEAE6-9C69-FF43-B1D9-9C6EAAAD0E3F}"/>
              </a:ext>
            </a:extLst>
          </p:cNvPr>
          <p:cNvSpPr/>
          <p:nvPr/>
        </p:nvSpPr>
        <p:spPr>
          <a:xfrm>
            <a:off x="635000" y="508000"/>
            <a:ext cx="2540000" cy="381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01 · INTRODUCTION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100AA5E-3C67-3D4D-900F-82B10F655E0A}"/>
              </a:ext>
            </a:extLst>
          </p:cNvPr>
          <p:cNvSpPr txBox="1"/>
          <p:nvPr/>
        </p:nvSpPr>
        <p:spPr>
          <a:xfrm>
            <a:off x="635000" y="1079500"/>
            <a:ext cx="889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400" b="1">
                <a:solidFill>
                  <a:srgbClr val="0B2545"/>
                </a:solidFill>
              </a:rPr>
              <a:t>Problématique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45E351-B765-DD49-B4AA-F5740C067110}"/>
              </a:ext>
            </a:extLst>
          </p:cNvPr>
          <p:cNvSpPr/>
          <p:nvPr/>
        </p:nvSpPr>
        <p:spPr>
          <a:xfrm>
            <a:off x="635000" y="19685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E0C812-ACF4-5A46-9AE3-E3388AF2B5DE}"/>
              </a:ext>
            </a:extLst>
          </p:cNvPr>
          <p:cNvSpPr txBox="1"/>
          <p:nvPr/>
        </p:nvSpPr>
        <p:spPr>
          <a:xfrm>
            <a:off x="635000" y="23495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i="1">
                <a:solidFill>
                  <a:srgbClr val="1B3A6B"/>
                </a:solidFill>
              </a:rPr>
              <a:t>Comment concevoir une infrastructure hybride capable de répondre à ces 5 enjeux ?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5EB197B-981A-164C-9BB2-FA4C1344EAB2}"/>
              </a:ext>
            </a:extLst>
          </p:cNvPr>
          <p:cNvSpPr/>
          <p:nvPr/>
        </p:nvSpPr>
        <p:spPr>
          <a:xfrm>
            <a:off x="457200" y="3429000"/>
            <a:ext cx="21336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E15AF-1667-E54C-8FBB-CD34CD5F3974}"/>
              </a:ext>
            </a:extLst>
          </p:cNvPr>
          <p:cNvSpPr/>
          <p:nvPr/>
        </p:nvSpPr>
        <p:spPr>
          <a:xfrm>
            <a:off x="457200" y="3429000"/>
            <a:ext cx="2133600" cy="762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527324-7CFA-5740-B9C2-9F21A3266649}"/>
              </a:ext>
            </a:extLst>
          </p:cNvPr>
          <p:cNvSpPr txBox="1"/>
          <p:nvPr/>
        </p:nvSpPr>
        <p:spPr>
          <a:xfrm>
            <a:off x="457200" y="36830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E8A317"/>
                </a:solidFill>
              </a:rPr>
              <a:t>01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7CEF44C-144A-3E4A-ADC5-B714257CBB62}"/>
              </a:ext>
            </a:extLst>
          </p:cNvPr>
          <p:cNvSpPr txBox="1"/>
          <p:nvPr/>
        </p:nvSpPr>
        <p:spPr>
          <a:xfrm>
            <a:off x="584200" y="4572000"/>
            <a:ext cx="187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Temps réel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63DB35-346C-F748-97C1-C3B0362E4E64}"/>
              </a:ext>
            </a:extLst>
          </p:cNvPr>
          <p:cNvSpPr txBox="1"/>
          <p:nvPr/>
        </p:nvSpPr>
        <p:spPr>
          <a:xfrm>
            <a:off x="584200" y="5080000"/>
            <a:ext cx="187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44444"/>
                </a:solidFill>
              </a:rPr>
              <a:t>Traiter les flux IoT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048D7B0-F4EE-A247-8D78-6560C1825774}"/>
              </a:ext>
            </a:extLst>
          </p:cNvPr>
          <p:cNvSpPr/>
          <p:nvPr/>
        </p:nvSpPr>
        <p:spPr>
          <a:xfrm>
            <a:off x="2743200" y="3429000"/>
            <a:ext cx="21336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AF3C45-EEF1-BE4D-9726-C6C96231B267}"/>
              </a:ext>
            </a:extLst>
          </p:cNvPr>
          <p:cNvSpPr/>
          <p:nvPr/>
        </p:nvSpPr>
        <p:spPr>
          <a:xfrm>
            <a:off x="2743200" y="3429000"/>
            <a:ext cx="2133600" cy="76200"/>
          </a:xfrm>
          <a:prstGeom prst="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08900ED-491C-444D-8782-B6A5D2DDDB05}"/>
              </a:ext>
            </a:extLst>
          </p:cNvPr>
          <p:cNvSpPr txBox="1"/>
          <p:nvPr/>
        </p:nvSpPr>
        <p:spPr>
          <a:xfrm>
            <a:off x="2743200" y="36830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E8A317"/>
                </a:solidFill>
              </a:rPr>
              <a:t>02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A82887-CC42-054D-88ED-C7F84139F7CB}"/>
              </a:ext>
            </a:extLst>
          </p:cNvPr>
          <p:cNvSpPr txBox="1"/>
          <p:nvPr/>
        </p:nvSpPr>
        <p:spPr>
          <a:xfrm>
            <a:off x="2870200" y="4572000"/>
            <a:ext cx="187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Disponibilité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9967C36-E366-254E-850B-ABF2D3FE91B3}"/>
              </a:ext>
            </a:extLst>
          </p:cNvPr>
          <p:cNvSpPr txBox="1"/>
          <p:nvPr/>
        </p:nvSpPr>
        <p:spPr>
          <a:xfrm>
            <a:off x="2870200" y="5080000"/>
            <a:ext cx="187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44444"/>
                </a:solidFill>
              </a:rPr>
              <a:t>Haute disponibilité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A563BFD-D8E5-7E4B-B7B9-983C9763A1F9}"/>
              </a:ext>
            </a:extLst>
          </p:cNvPr>
          <p:cNvSpPr/>
          <p:nvPr/>
        </p:nvSpPr>
        <p:spPr>
          <a:xfrm>
            <a:off x="5029200" y="3429000"/>
            <a:ext cx="21336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A938C5-8C76-EA4C-842F-7331350257D6}"/>
              </a:ext>
            </a:extLst>
          </p:cNvPr>
          <p:cNvSpPr/>
          <p:nvPr/>
        </p:nvSpPr>
        <p:spPr>
          <a:xfrm>
            <a:off x="5029200" y="3429000"/>
            <a:ext cx="2133600" cy="762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B58850B-C614-154C-8830-6E0C0A3A1DB7}"/>
              </a:ext>
            </a:extLst>
          </p:cNvPr>
          <p:cNvSpPr txBox="1"/>
          <p:nvPr/>
        </p:nvSpPr>
        <p:spPr>
          <a:xfrm>
            <a:off x="5029200" y="36830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E8A317"/>
                </a:solidFill>
              </a:rPr>
              <a:t>03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4DA4EA2-8ACD-3348-808E-EBAEFCD5F7B5}"/>
              </a:ext>
            </a:extLst>
          </p:cNvPr>
          <p:cNvSpPr txBox="1"/>
          <p:nvPr/>
        </p:nvSpPr>
        <p:spPr>
          <a:xfrm>
            <a:off x="5156200" y="4572000"/>
            <a:ext cx="187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Scalabilité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2585D10-D2CD-6847-B2F3-5E0A3F46D13C}"/>
              </a:ext>
            </a:extLst>
          </p:cNvPr>
          <p:cNvSpPr txBox="1"/>
          <p:nvPr/>
        </p:nvSpPr>
        <p:spPr>
          <a:xfrm>
            <a:off x="5156200" y="5080000"/>
            <a:ext cx="187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44444"/>
                </a:solidFill>
              </a:rPr>
              <a:t>Croissance continue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695A719-BC68-2544-810F-88164BCC7E7C}"/>
              </a:ext>
            </a:extLst>
          </p:cNvPr>
          <p:cNvSpPr/>
          <p:nvPr/>
        </p:nvSpPr>
        <p:spPr>
          <a:xfrm>
            <a:off x="7315200" y="3429000"/>
            <a:ext cx="21336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65CFA0-ABD4-EA45-B99C-3496D7216EDD}"/>
              </a:ext>
            </a:extLst>
          </p:cNvPr>
          <p:cNvSpPr/>
          <p:nvPr/>
        </p:nvSpPr>
        <p:spPr>
          <a:xfrm>
            <a:off x="7315200" y="3429000"/>
            <a:ext cx="2133600" cy="76200"/>
          </a:xfrm>
          <a:prstGeom prst="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8052FB9-93AA-BE46-8BC0-F1F818C0EA26}"/>
              </a:ext>
            </a:extLst>
          </p:cNvPr>
          <p:cNvSpPr txBox="1"/>
          <p:nvPr/>
        </p:nvSpPr>
        <p:spPr>
          <a:xfrm>
            <a:off x="7315200" y="36830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E8A317"/>
                </a:solidFill>
              </a:rPr>
              <a:t>04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A2684A0-848C-A040-B753-82C777C3047C}"/>
              </a:ext>
            </a:extLst>
          </p:cNvPr>
          <p:cNvSpPr txBox="1"/>
          <p:nvPr/>
        </p:nvSpPr>
        <p:spPr>
          <a:xfrm>
            <a:off x="7442200" y="4572000"/>
            <a:ext cx="187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Performance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51ADF9E-79E8-1448-897F-935BBD9800B0}"/>
              </a:ext>
            </a:extLst>
          </p:cNvPr>
          <p:cNvSpPr txBox="1"/>
          <p:nvPr/>
        </p:nvSpPr>
        <p:spPr>
          <a:xfrm>
            <a:off x="7442200" y="5080000"/>
            <a:ext cx="187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44444"/>
                </a:solidFill>
              </a:rPr>
              <a:t>Traitement stable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3BEBC60-85C7-7647-B019-2FF009E2532A}"/>
              </a:ext>
            </a:extLst>
          </p:cNvPr>
          <p:cNvSpPr/>
          <p:nvPr/>
        </p:nvSpPr>
        <p:spPr>
          <a:xfrm>
            <a:off x="9601200" y="3429000"/>
            <a:ext cx="21336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C4E757-A2D2-FF43-9370-923DF9DC6946}"/>
              </a:ext>
            </a:extLst>
          </p:cNvPr>
          <p:cNvSpPr/>
          <p:nvPr/>
        </p:nvSpPr>
        <p:spPr>
          <a:xfrm>
            <a:off x="9601200" y="3429000"/>
            <a:ext cx="2133600" cy="762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5257D3D-F1DD-6641-BC33-1B078527D200}"/>
              </a:ext>
            </a:extLst>
          </p:cNvPr>
          <p:cNvSpPr txBox="1"/>
          <p:nvPr/>
        </p:nvSpPr>
        <p:spPr>
          <a:xfrm>
            <a:off x="9601200" y="36830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E8A317"/>
                </a:solidFill>
              </a:rPr>
              <a:t>05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69A615D-A9E9-9447-A7B8-389E5E92C92C}"/>
              </a:ext>
            </a:extLst>
          </p:cNvPr>
          <p:cNvSpPr txBox="1"/>
          <p:nvPr/>
        </p:nvSpPr>
        <p:spPr>
          <a:xfrm>
            <a:off x="9728200" y="4572000"/>
            <a:ext cx="187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Hybride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CC2D630-498C-774B-B437-6F7A525CC1FD}"/>
              </a:ext>
            </a:extLst>
          </p:cNvPr>
          <p:cNvSpPr txBox="1"/>
          <p:nvPr/>
        </p:nvSpPr>
        <p:spPr>
          <a:xfrm>
            <a:off x="9728200" y="5080000"/>
            <a:ext cx="187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44444"/>
                </a:solidFill>
              </a:rPr>
              <a:t>On-premise + Cloud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1341E04-0FF8-0E45-B373-0499D1427F01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04 / 23</a:t>
            </a:r>
          </a:p>
        </p:txBody>
      </p:sp>
    </p:spTree>
    <p:extLst>
      <p:ext uri="{BB962C8B-B14F-4D97-AF65-F5344CB8AC3E}">
        <p14:creationId xmlns:p14="http://schemas.microsoft.com/office/powerpoint/2010/main" val="4155563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CC1FE-6ECB-9C5C-4EEC-D250585D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68A222-2F3E-534D-87CB-47753F3D4CE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ECD6E56-3102-BA4C-B7CD-F2A99E44CF9B}"/>
              </a:ext>
            </a:extLst>
          </p:cNvPr>
          <p:cNvSpPr/>
          <p:nvPr/>
        </p:nvSpPr>
        <p:spPr>
          <a:xfrm>
            <a:off x="635000" y="508000"/>
            <a:ext cx="2540000" cy="381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01 · INTRODUCTION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A61969-9EA3-B04D-A289-F1B095AE6D9F}"/>
              </a:ext>
            </a:extLst>
          </p:cNvPr>
          <p:cNvSpPr txBox="1"/>
          <p:nvPr/>
        </p:nvSpPr>
        <p:spPr>
          <a:xfrm>
            <a:off x="635000" y="1079500"/>
            <a:ext cx="889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400" b="1">
                <a:solidFill>
                  <a:srgbClr val="0B2545"/>
                </a:solidFill>
              </a:rPr>
              <a:t>Objectifs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48E67-4BAA-3F4B-85F4-A79EC7068D15}"/>
              </a:ext>
            </a:extLst>
          </p:cNvPr>
          <p:cNvSpPr/>
          <p:nvPr/>
        </p:nvSpPr>
        <p:spPr>
          <a:xfrm>
            <a:off x="635000" y="19685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1344394-B3BA-F641-ADC9-A8AD7D5B1AAD}"/>
              </a:ext>
            </a:extLst>
          </p:cNvPr>
          <p:cNvSpPr txBox="1"/>
          <p:nvPr/>
        </p:nvSpPr>
        <p:spPr>
          <a:xfrm>
            <a:off x="635000" y="2349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i="1">
                <a:solidFill>
                  <a:srgbClr val="1B3A6B"/>
                </a:solidFill>
              </a:rPr>
              <a:t>Les 7 axes structurants du projet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9D165F7-0DD8-034A-A199-EDE302A433A4}"/>
              </a:ext>
            </a:extLst>
          </p:cNvPr>
          <p:cNvSpPr/>
          <p:nvPr/>
        </p:nvSpPr>
        <p:spPr>
          <a:xfrm>
            <a:off x="635000" y="3111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6AC1FCB-30BE-BD48-AD52-2BDCD0A2AC93}"/>
              </a:ext>
            </a:extLst>
          </p:cNvPr>
          <p:cNvSpPr txBox="1"/>
          <p:nvPr/>
        </p:nvSpPr>
        <p:spPr>
          <a:xfrm>
            <a:off x="1168400" y="3048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Mettre en place une architecture hybride (On-premise + Cloud)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CA96508-8172-4947-B682-6627ADA7B323}"/>
              </a:ext>
            </a:extLst>
          </p:cNvPr>
          <p:cNvSpPr/>
          <p:nvPr/>
        </p:nvSpPr>
        <p:spPr>
          <a:xfrm>
            <a:off x="635000" y="3746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DB2D98B-D3E8-1342-A2A7-8EFE70DFAF9D}"/>
              </a:ext>
            </a:extLst>
          </p:cNvPr>
          <p:cNvSpPr txBox="1"/>
          <p:nvPr/>
        </p:nvSpPr>
        <p:spPr>
          <a:xfrm>
            <a:off x="1168400" y="3683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Assurer l'ingestion temps réel des données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253265D-0EEC-BC47-AE4C-9ED1D508256F}"/>
              </a:ext>
            </a:extLst>
          </p:cNvPr>
          <p:cNvSpPr/>
          <p:nvPr/>
        </p:nvSpPr>
        <p:spPr>
          <a:xfrm>
            <a:off x="635000" y="4381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54E78D3-F1D5-654C-A199-8A173470E3B6}"/>
              </a:ext>
            </a:extLst>
          </p:cNvPr>
          <p:cNvSpPr txBox="1"/>
          <p:nvPr/>
        </p:nvSpPr>
        <p:spPr>
          <a:xfrm>
            <a:off x="1168400" y="4318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Intégrer une solution de streaming avec Redpanda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229342D-1A2F-AC42-BAC9-CBCA98B04E47}"/>
              </a:ext>
            </a:extLst>
          </p:cNvPr>
          <p:cNvSpPr/>
          <p:nvPr/>
        </p:nvSpPr>
        <p:spPr>
          <a:xfrm>
            <a:off x="635000" y="5016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3C74C3D-ACF2-DD4F-B6BC-AE7593E03551}"/>
              </a:ext>
            </a:extLst>
          </p:cNvPr>
          <p:cNvSpPr txBox="1"/>
          <p:nvPr/>
        </p:nvSpPr>
        <p:spPr>
          <a:xfrm>
            <a:off x="1168400" y="4953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Traiter les données avec PySpark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F84E022-B5CA-BF46-AE00-E837297C05EC}"/>
              </a:ext>
            </a:extLst>
          </p:cNvPr>
          <p:cNvSpPr/>
          <p:nvPr/>
        </p:nvSpPr>
        <p:spPr>
          <a:xfrm>
            <a:off x="6223000" y="3111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B81ABF2-D95F-C247-BCB9-3B76B4D2A6DB}"/>
              </a:ext>
            </a:extLst>
          </p:cNvPr>
          <p:cNvSpPr txBox="1"/>
          <p:nvPr/>
        </p:nvSpPr>
        <p:spPr>
          <a:xfrm>
            <a:off x="6756400" y="3048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Garantir disponibilité et performance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D4C6D40-0BBE-FE46-9560-18BABFA44FDB}"/>
              </a:ext>
            </a:extLst>
          </p:cNvPr>
          <p:cNvSpPr/>
          <p:nvPr/>
        </p:nvSpPr>
        <p:spPr>
          <a:xfrm>
            <a:off x="6223000" y="3746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3E241EA-471C-0540-B9CD-D2235F7A5911}"/>
              </a:ext>
            </a:extLst>
          </p:cNvPr>
          <p:cNvSpPr txBox="1"/>
          <p:nvPr/>
        </p:nvSpPr>
        <p:spPr>
          <a:xfrm>
            <a:off x="6756400" y="3683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Évaluer la compatibilité avec l'environnement existant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7998815-9425-454D-874E-E1A48589D0DE}"/>
              </a:ext>
            </a:extLst>
          </p:cNvPr>
          <p:cNvSpPr/>
          <p:nvPr/>
        </p:nvSpPr>
        <p:spPr>
          <a:xfrm>
            <a:off x="6223000" y="4381500"/>
            <a:ext cx="406400" cy="4064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454C192-4783-8849-81D3-018F53C4DB14}"/>
              </a:ext>
            </a:extLst>
          </p:cNvPr>
          <p:cNvSpPr txBox="1"/>
          <p:nvPr/>
        </p:nvSpPr>
        <p:spPr>
          <a:xfrm>
            <a:off x="6756400" y="4318000"/>
            <a:ext cx="46736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Proposer une architecture évolutive et sécurisée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556F3D7-A51F-0445-BA3C-72C8B1EBB5D8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05 / 23</a:t>
            </a:r>
          </a:p>
        </p:txBody>
      </p:sp>
    </p:spTree>
    <p:extLst>
      <p:ext uri="{BB962C8B-B14F-4D97-AF65-F5344CB8AC3E}">
        <p14:creationId xmlns:p14="http://schemas.microsoft.com/office/powerpoint/2010/main" val="3976353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9B7F7-54C5-B71A-6F0D-FE9B73C5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BEAAC6E-FC37-3107-FDE6-5FDCDF52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1813554"/>
            <a:ext cx="3034030" cy="49515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58AE0B-E4F0-5A4C-8BB1-31AD0D17E54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94335B6-01D4-4949-B778-98C709BF6ADD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551F88-F9BF-4D44-82A5-7C63DAB170F7}"/>
              </a:ext>
            </a:extLst>
          </p:cNvPr>
          <p:cNvSpPr txBox="1"/>
          <p:nvPr/>
        </p:nvSpPr>
        <p:spPr>
          <a:xfrm>
            <a:off x="635000" y="1079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000" b="1">
                <a:solidFill>
                  <a:srgbClr val="0B2545"/>
                </a:solidFill>
              </a:rPr>
              <a:t>Pipeline local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2B005-7A6F-CC49-9A00-64C1088DD937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400BFAA-13A7-3945-B3B5-D44BD01C5F7F}"/>
              </a:ext>
            </a:extLst>
          </p:cNvPr>
          <p:cNvSpPr txBox="1"/>
          <p:nvPr/>
        </p:nvSpPr>
        <p:spPr>
          <a:xfrm>
            <a:off x="635000" y="2222500"/>
            <a:ext cx="736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1B3A6B"/>
                </a:solidFill>
              </a:rPr>
              <a:t>Simuler une architecture de traitement de données en temps réel en environnement local.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DAA0289-D9D8-6140-A514-895D8D426C61}"/>
              </a:ext>
            </a:extLst>
          </p:cNvPr>
          <p:cNvSpPr txBox="1"/>
          <p:nvPr/>
        </p:nvSpPr>
        <p:spPr>
          <a:xfrm>
            <a:off x="635000" y="2921000"/>
            <a:ext cx="736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ÉTAPES PRINCIPALES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C3AA521-90EE-5C45-9A3B-23B89EA7F1E2}"/>
              </a:ext>
            </a:extLst>
          </p:cNvPr>
          <p:cNvSpPr/>
          <p:nvPr/>
        </p:nvSpPr>
        <p:spPr>
          <a:xfrm>
            <a:off x="635000" y="3365500"/>
            <a:ext cx="406400" cy="4064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5EC5419-75CF-F042-8BF1-8F351A5F33C8}"/>
              </a:ext>
            </a:extLst>
          </p:cNvPr>
          <p:cNvSpPr/>
          <p:nvPr/>
        </p:nvSpPr>
        <p:spPr>
          <a:xfrm>
            <a:off x="1206500" y="3302000"/>
            <a:ext cx="6667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Génération de données simulées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4C653B2-6428-5048-9826-D19FECDC85B6}"/>
              </a:ext>
            </a:extLst>
          </p:cNvPr>
          <p:cNvSpPr/>
          <p:nvPr/>
        </p:nvSpPr>
        <p:spPr>
          <a:xfrm>
            <a:off x="635000" y="3975100"/>
            <a:ext cx="406400" cy="4064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574828E-8239-624A-BE65-C826CEAF1BF5}"/>
              </a:ext>
            </a:extLst>
          </p:cNvPr>
          <p:cNvSpPr/>
          <p:nvPr/>
        </p:nvSpPr>
        <p:spPr>
          <a:xfrm>
            <a:off x="1206500" y="3911600"/>
            <a:ext cx="6667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Ingestion des flux avec Redpanda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321A862-A49B-C34D-9095-23DB9DB83DBD}"/>
              </a:ext>
            </a:extLst>
          </p:cNvPr>
          <p:cNvSpPr/>
          <p:nvPr/>
        </p:nvSpPr>
        <p:spPr>
          <a:xfrm>
            <a:off x="635000" y="4584700"/>
            <a:ext cx="406400" cy="4064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E8653CC-5E81-174C-9B57-5DA795CE8646}"/>
              </a:ext>
            </a:extLst>
          </p:cNvPr>
          <p:cNvSpPr/>
          <p:nvPr/>
        </p:nvSpPr>
        <p:spPr>
          <a:xfrm>
            <a:off x="1206500" y="4521200"/>
            <a:ext cx="6667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Traitement distribué avec PySpark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715A34C-DE4B-2C44-856C-DE0E9AD277CD}"/>
              </a:ext>
            </a:extLst>
          </p:cNvPr>
          <p:cNvSpPr/>
          <p:nvPr/>
        </p:nvSpPr>
        <p:spPr>
          <a:xfrm>
            <a:off x="635000" y="5194300"/>
            <a:ext cx="406400" cy="4064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8ADE8DB-E615-DC4B-BBA3-148EDF6C7CDF}"/>
              </a:ext>
            </a:extLst>
          </p:cNvPr>
          <p:cNvSpPr/>
          <p:nvPr/>
        </p:nvSpPr>
        <p:spPr>
          <a:xfrm>
            <a:off x="1206500" y="5130800"/>
            <a:ext cx="6667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Export des résultats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9A8AC7D-7E5E-B144-BFA1-60737CAA9318}"/>
              </a:ext>
            </a:extLst>
          </p:cNvPr>
          <p:cNvSpPr/>
          <p:nvPr/>
        </p:nvSpPr>
        <p:spPr>
          <a:xfrm>
            <a:off x="635000" y="5803900"/>
            <a:ext cx="406400" cy="4064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58C3E7C-CCE8-FB49-A997-912B35F1767F}"/>
              </a:ext>
            </a:extLst>
          </p:cNvPr>
          <p:cNvSpPr/>
          <p:nvPr/>
        </p:nvSpPr>
        <p:spPr>
          <a:xfrm>
            <a:off x="1206500" y="5740400"/>
            <a:ext cx="6667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Orchestration des services avec Docker Compose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1167B60-E1B2-4141-ACE2-BFB87912D70E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06 / 23</a:t>
            </a:r>
          </a:p>
        </p:txBody>
      </p:sp>
    </p:spTree>
    <p:extLst>
      <p:ext uri="{BB962C8B-B14F-4D97-AF65-F5344CB8AC3E}">
        <p14:creationId xmlns:p14="http://schemas.microsoft.com/office/powerpoint/2010/main" val="2092473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F685E-7680-B0EC-64B0-BFC5C2FD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21ABA-5523-764C-9EB7-DB399CB8350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F7AC0D2-A7B9-6341-857E-74638E957DBB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FFD8611-3EAA-0A48-99D7-A3C892BDF9C9}"/>
              </a:ext>
            </a:extLst>
          </p:cNvPr>
          <p:cNvSpPr txBox="1"/>
          <p:nvPr/>
        </p:nvSpPr>
        <p:spPr>
          <a:xfrm>
            <a:off x="635000" y="10795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Génération des tickets clients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58385-BDED-8142-B5CE-3BA531E0522F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419703-ED2F-0548-91D4-70C1988FD53E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07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00F0CE-A9AB-134F-9697-19E63836B54D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Créer des données simulées représentant des demandes clients réalistes.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FE70E1F-A69C-6A49-9710-546BF0EA50F9}"/>
              </a:ext>
            </a:extLst>
          </p:cNvPr>
          <p:cNvSpPr/>
          <p:nvPr/>
        </p:nvSpPr>
        <p:spPr>
          <a:xfrm>
            <a:off x="635000" y="2984500"/>
            <a:ext cx="6858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7A0E27-F7A9-684F-A7CC-E7918E693E3E}"/>
              </a:ext>
            </a:extLst>
          </p:cNvPr>
          <p:cNvSpPr/>
          <p:nvPr/>
        </p:nvSpPr>
        <p:spPr>
          <a:xfrm>
            <a:off x="635000" y="2984500"/>
            <a:ext cx="6858000" cy="4572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  📋  Données générées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9A1CD75-F54E-CB4A-82D7-097FACB6C36B}"/>
              </a:ext>
            </a:extLst>
          </p:cNvPr>
          <p:cNvSpPr/>
          <p:nvPr/>
        </p:nvSpPr>
        <p:spPr>
          <a:xfrm>
            <a:off x="889000" y="36830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ID du ticket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2A1CB2C-D322-AA4E-8640-2C1A13576FF7}"/>
              </a:ext>
            </a:extLst>
          </p:cNvPr>
          <p:cNvSpPr/>
          <p:nvPr/>
        </p:nvSpPr>
        <p:spPr>
          <a:xfrm>
            <a:off x="4064000" y="36830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ID client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3EC203F-10F1-A84C-B44D-D7E43FAD1558}"/>
              </a:ext>
            </a:extLst>
          </p:cNvPr>
          <p:cNvSpPr/>
          <p:nvPr/>
        </p:nvSpPr>
        <p:spPr>
          <a:xfrm>
            <a:off x="889000" y="43815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Date de création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78AE28E-4B30-584F-B259-35842E98D0DE}"/>
              </a:ext>
            </a:extLst>
          </p:cNvPr>
          <p:cNvSpPr/>
          <p:nvPr/>
        </p:nvSpPr>
        <p:spPr>
          <a:xfrm>
            <a:off x="4064000" y="43815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Type de demande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206A9D5-4408-7E44-BDBB-B628C4BEEB1D}"/>
              </a:ext>
            </a:extLst>
          </p:cNvPr>
          <p:cNvSpPr/>
          <p:nvPr/>
        </p:nvSpPr>
        <p:spPr>
          <a:xfrm>
            <a:off x="889000" y="50800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Priorité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76F860A-3653-D547-8E33-9215E242EAB7}"/>
              </a:ext>
            </a:extLst>
          </p:cNvPr>
          <p:cNvSpPr/>
          <p:nvPr/>
        </p:nvSpPr>
        <p:spPr>
          <a:xfrm>
            <a:off x="4064000" y="5080000"/>
            <a:ext cx="2984500" cy="533400"/>
          </a:xfrm>
          <a:prstGeom prst="roundRect">
            <a:avLst/>
          </a:prstGeom>
          <a:solidFill>
            <a:srgbClr val="F4F8FC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B2545"/>
                </a:solidFill>
              </a:rPr>
              <a:t>  Description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45BCDFF-487C-AD40-8320-BCFF3A79D4D3}"/>
              </a:ext>
            </a:extLst>
          </p:cNvPr>
          <p:cNvSpPr/>
          <p:nvPr/>
        </p:nvSpPr>
        <p:spPr>
          <a:xfrm>
            <a:off x="7747000" y="2984500"/>
            <a:ext cx="3810000" cy="3175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03A9FC7-2379-F24F-9973-BFD1A7388922}"/>
              </a:ext>
            </a:extLst>
          </p:cNvPr>
          <p:cNvSpPr txBox="1"/>
          <p:nvPr/>
        </p:nvSpPr>
        <p:spPr>
          <a:xfrm>
            <a:off x="7937500" y="32385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</a:rPr>
              <a:t>RÉSULTAT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0C41EBC-C241-554C-A086-09059865ED48}"/>
              </a:ext>
            </a:extLst>
          </p:cNvPr>
          <p:cNvSpPr txBox="1"/>
          <p:nvPr/>
        </p:nvSpPr>
        <p:spPr>
          <a:xfrm>
            <a:off x="7937500" y="3746500"/>
            <a:ext cx="342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FFFFF"/>
                </a:solidFill>
              </a:rPr>
              <a:t>Production automatique de données proches d'un cas réel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C7AE529-4DED-0F4A-9AE6-8C63F372270B}"/>
              </a:ext>
            </a:extLst>
          </p:cNvPr>
          <p:cNvSpPr txBox="1"/>
          <p:nvPr/>
        </p:nvSpPr>
        <p:spPr>
          <a:xfrm>
            <a:off x="7937500" y="5080000"/>
            <a:ext cx="342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5600">
                <a:solidFill>
                  <a:srgbClr val="FFFFFF"/>
                </a:solidFill>
              </a:rPr>
              <a:t>⚙</a:t>
            </a:r>
          </a:p>
        </p:txBody>
      </p:sp>
    </p:spTree>
    <p:extLst>
      <p:ext uri="{BB962C8B-B14F-4D97-AF65-F5344CB8AC3E}">
        <p14:creationId xmlns:p14="http://schemas.microsoft.com/office/powerpoint/2010/main" val="1249233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A67D3-D67A-4915-1D66-5F58E06C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B14A04-8E42-6C41-834F-97124102DC0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CFCC489-CECC-D645-88A8-7B4497DFD18F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637ECE-0FF6-6C45-83EF-D362A9316AA6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Ingestion temps réel avec Redpanda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BD085-67A7-154C-9B01-9B182100BC34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B157D7-FB8A-0947-A109-03F87F678B8F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08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7CBEE43-16A2-6D4E-BE35-03B8842938F2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Recevoir et transporter les flux de données en continu.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FCCFDC-D0AF-244D-B793-79A59D61E4C3}"/>
              </a:ext>
            </a:extLst>
          </p:cNvPr>
          <p:cNvSpPr txBox="1"/>
          <p:nvPr/>
        </p:nvSpPr>
        <p:spPr>
          <a:xfrm>
            <a:off x="635000" y="2921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FONCTIONNEMENT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94E3A90-8A59-5C4A-9CB3-FA9E07066233}"/>
              </a:ext>
            </a:extLst>
          </p:cNvPr>
          <p:cNvSpPr/>
          <p:nvPr/>
        </p:nvSpPr>
        <p:spPr>
          <a:xfrm>
            <a:off x="635000" y="3302000"/>
            <a:ext cx="5461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C6C0573-4E4C-364F-9D7D-D8F2E64404CE}"/>
              </a:ext>
            </a:extLst>
          </p:cNvPr>
          <p:cNvSpPr/>
          <p:nvPr/>
        </p:nvSpPr>
        <p:spPr>
          <a:xfrm>
            <a:off x="762000" y="3390900"/>
            <a:ext cx="355600" cy="3556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606742E-58C2-E845-833A-18C65F8A742F}"/>
              </a:ext>
            </a:extLst>
          </p:cNvPr>
          <p:cNvSpPr txBox="1"/>
          <p:nvPr/>
        </p:nvSpPr>
        <p:spPr>
          <a:xfrm>
            <a:off x="1244600" y="3302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Création d'un topic dédié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9B1D29C-85B1-9D44-8DE8-0BF0F4F7D6EC}"/>
              </a:ext>
            </a:extLst>
          </p:cNvPr>
          <p:cNvSpPr/>
          <p:nvPr/>
        </p:nvSpPr>
        <p:spPr>
          <a:xfrm>
            <a:off x="635000" y="3937000"/>
            <a:ext cx="5461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DD33EA0-C3C6-A142-BC30-7D9886B77DB0}"/>
              </a:ext>
            </a:extLst>
          </p:cNvPr>
          <p:cNvSpPr/>
          <p:nvPr/>
        </p:nvSpPr>
        <p:spPr>
          <a:xfrm>
            <a:off x="762000" y="4025900"/>
            <a:ext cx="355600" cy="3556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1B261D7-A63B-8947-92E7-8141B6731175}"/>
              </a:ext>
            </a:extLst>
          </p:cNvPr>
          <p:cNvSpPr txBox="1"/>
          <p:nvPr/>
        </p:nvSpPr>
        <p:spPr>
          <a:xfrm>
            <a:off x="1244600" y="3937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Envoi des tickets générés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0426E48-50EB-E34D-B8DE-8013D6A46DA5}"/>
              </a:ext>
            </a:extLst>
          </p:cNvPr>
          <p:cNvSpPr/>
          <p:nvPr/>
        </p:nvSpPr>
        <p:spPr>
          <a:xfrm>
            <a:off x="635000" y="4572000"/>
            <a:ext cx="5461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E0BC99C-5F9A-A24D-9DEF-AC474CBA6FBD}"/>
              </a:ext>
            </a:extLst>
          </p:cNvPr>
          <p:cNvSpPr/>
          <p:nvPr/>
        </p:nvSpPr>
        <p:spPr>
          <a:xfrm>
            <a:off x="762000" y="4660900"/>
            <a:ext cx="355600" cy="3556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8F82E3B-BE61-B245-81EF-36DA1DE74FCB}"/>
              </a:ext>
            </a:extLst>
          </p:cNvPr>
          <p:cNvSpPr txBox="1"/>
          <p:nvPr/>
        </p:nvSpPr>
        <p:spPr>
          <a:xfrm>
            <a:off x="1244600" y="4572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Mise en file des messages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84ABF51-4C25-E44C-BF9A-DC9E149FCDFC}"/>
              </a:ext>
            </a:extLst>
          </p:cNvPr>
          <p:cNvSpPr/>
          <p:nvPr/>
        </p:nvSpPr>
        <p:spPr>
          <a:xfrm>
            <a:off x="635000" y="5207000"/>
            <a:ext cx="5461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AF95EE4F-6593-3E42-85DC-410732162E96}"/>
              </a:ext>
            </a:extLst>
          </p:cNvPr>
          <p:cNvSpPr/>
          <p:nvPr/>
        </p:nvSpPr>
        <p:spPr>
          <a:xfrm>
            <a:off x="762000" y="5295900"/>
            <a:ext cx="355600" cy="3556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01AF5FA-A75F-1B41-9CAE-11F47383B85B}"/>
              </a:ext>
            </a:extLst>
          </p:cNvPr>
          <p:cNvSpPr txBox="1"/>
          <p:nvPr/>
        </p:nvSpPr>
        <p:spPr>
          <a:xfrm>
            <a:off x="1244600" y="5207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>
                <a:solidFill>
                  <a:srgbClr val="0B2545"/>
                </a:solidFill>
              </a:rPr>
              <a:t>Distribution vers consommateurs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62AAD20-B2D8-9E4D-88E1-2556AB44C290}"/>
              </a:ext>
            </a:extLst>
          </p:cNvPr>
          <p:cNvSpPr txBox="1"/>
          <p:nvPr/>
        </p:nvSpPr>
        <p:spPr>
          <a:xfrm>
            <a:off x="6604000" y="29210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AVANTAGES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3BE98C1-FAA1-EB41-9610-80DD46FAF3D6}"/>
              </a:ext>
            </a:extLst>
          </p:cNvPr>
          <p:cNvSpPr/>
          <p:nvPr/>
        </p:nvSpPr>
        <p:spPr>
          <a:xfrm>
            <a:off x="6604000" y="3302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5521DB4-FD65-E945-A41F-567EA44E721D}"/>
              </a:ext>
            </a:extLst>
          </p:cNvPr>
          <p:cNvSpPr txBox="1"/>
          <p:nvPr/>
        </p:nvSpPr>
        <p:spPr>
          <a:xfrm>
            <a:off x="6794500" y="3429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⚡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20A180F-8F09-A74F-8BB9-224E730A29C9}"/>
              </a:ext>
            </a:extLst>
          </p:cNvPr>
          <p:cNvSpPr txBox="1"/>
          <p:nvPr/>
        </p:nvSpPr>
        <p:spPr>
          <a:xfrm>
            <a:off x="7556500" y="3302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Faible latence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C19AE62-E106-D74C-98BB-7FE985FF3FB9}"/>
              </a:ext>
            </a:extLst>
          </p:cNvPr>
          <p:cNvSpPr/>
          <p:nvPr/>
        </p:nvSpPr>
        <p:spPr>
          <a:xfrm>
            <a:off x="6604000" y="4191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39C110-DC39-A942-A9FE-F4A72D4B122E}"/>
              </a:ext>
            </a:extLst>
          </p:cNvPr>
          <p:cNvSpPr txBox="1"/>
          <p:nvPr/>
        </p:nvSpPr>
        <p:spPr>
          <a:xfrm>
            <a:off x="6794500" y="4318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📊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8D923C6-A2A8-0B43-A66D-56939990FF75}"/>
              </a:ext>
            </a:extLst>
          </p:cNvPr>
          <p:cNvSpPr txBox="1"/>
          <p:nvPr/>
        </p:nvSpPr>
        <p:spPr>
          <a:xfrm>
            <a:off x="7556500" y="4191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Haut débit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3CC9180B-4C53-0F44-8722-1B6D210892F7}"/>
              </a:ext>
            </a:extLst>
          </p:cNvPr>
          <p:cNvSpPr/>
          <p:nvPr/>
        </p:nvSpPr>
        <p:spPr>
          <a:xfrm>
            <a:off x="6604000" y="5080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91DC3E9-F643-BE45-BA3D-68946F313923}"/>
              </a:ext>
            </a:extLst>
          </p:cNvPr>
          <p:cNvSpPr txBox="1"/>
          <p:nvPr/>
        </p:nvSpPr>
        <p:spPr>
          <a:xfrm>
            <a:off x="6794500" y="5207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🔌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9EAAB46-0288-A846-96EB-4B37071001A2}"/>
              </a:ext>
            </a:extLst>
          </p:cNvPr>
          <p:cNvSpPr txBox="1"/>
          <p:nvPr/>
        </p:nvSpPr>
        <p:spPr>
          <a:xfrm>
            <a:off x="7556500" y="5080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Compatible Kafka API</a:t>
            </a:r>
          </a:p>
        </p:txBody>
      </p:sp>
    </p:spTree>
    <p:extLst>
      <p:ext uri="{BB962C8B-B14F-4D97-AF65-F5344CB8AC3E}">
        <p14:creationId xmlns:p14="http://schemas.microsoft.com/office/powerpoint/2010/main" val="168703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200C3-B678-6102-AC30-832F0E42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425320-69E6-0D46-A916-0F8366C7ADE1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23A9A38-8DE4-CF4A-9A5E-AD58E0A2117B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ECADAD8-AC2C-874D-A650-B3C234F00F26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Traitement des données avec PySpark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7FB7AC-027C-A548-869E-E7A49958D143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B97614-2A4A-994E-91CB-320CCF545EC0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09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4A30B8F-70B3-EA40-B88C-37A49A17181B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Analyser les données reçues depuis Redpanda.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79A207F-E42C-4943-9463-F39BD5763511}"/>
              </a:ext>
            </a:extLst>
          </p:cNvPr>
          <p:cNvSpPr/>
          <p:nvPr/>
        </p:nvSpPr>
        <p:spPr>
          <a:xfrm>
            <a:off x="876300" y="3175000"/>
            <a:ext cx="1905000" cy="228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3AFC7C4-95D4-2549-ABE3-5F78EC565A8E}"/>
              </a:ext>
            </a:extLst>
          </p:cNvPr>
          <p:cNvSpPr/>
          <p:nvPr/>
        </p:nvSpPr>
        <p:spPr>
          <a:xfrm>
            <a:off x="1447800" y="34290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86F3C13-253A-9542-BB89-42BCF0637559}"/>
              </a:ext>
            </a:extLst>
          </p:cNvPr>
          <p:cNvSpPr txBox="1"/>
          <p:nvPr/>
        </p:nvSpPr>
        <p:spPr>
          <a:xfrm>
            <a:off x="876300" y="4381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A317"/>
                </a:solidFill>
              </a:rPr>
              <a:t>Étape 01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F34C2A5-3BEC-C847-9FD2-28D7DE0CCB66}"/>
              </a:ext>
            </a:extLst>
          </p:cNvPr>
          <p:cNvSpPr txBox="1"/>
          <p:nvPr/>
        </p:nvSpPr>
        <p:spPr>
          <a:xfrm>
            <a:off x="977900" y="47625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Lecture flux</a:t>
            </a:r>
          </a:p>
        </p:txBody>
      </p:sp>
      <p:sp>
        <p:nvSpPr>
          <p:cNvPr id="16" name="Flèche vers la droite 15">
            <a:extLst>
              <a:ext uri="{FF2B5EF4-FFF2-40B4-BE49-F238E27FC236}">
                <a16:creationId xmlns:a16="http://schemas.microsoft.com/office/drawing/2014/main" id="{C596FFA5-AED2-124B-A729-6140121B75A7}"/>
              </a:ext>
            </a:extLst>
          </p:cNvPr>
          <p:cNvSpPr/>
          <p:nvPr/>
        </p:nvSpPr>
        <p:spPr>
          <a:xfrm>
            <a:off x="2794000" y="4127500"/>
            <a:ext cx="203200" cy="3810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838D16A-3FA7-1244-9C7B-6672CF0D2450}"/>
              </a:ext>
            </a:extLst>
          </p:cNvPr>
          <p:cNvSpPr/>
          <p:nvPr/>
        </p:nvSpPr>
        <p:spPr>
          <a:xfrm>
            <a:off x="3009900" y="3175000"/>
            <a:ext cx="1905000" cy="228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6D1FC68-3893-064B-8C78-3AF4312D3C7B}"/>
              </a:ext>
            </a:extLst>
          </p:cNvPr>
          <p:cNvSpPr/>
          <p:nvPr/>
        </p:nvSpPr>
        <p:spPr>
          <a:xfrm>
            <a:off x="3581400" y="3429000"/>
            <a:ext cx="762000" cy="762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DAF29A9-AEE2-2045-B7B7-112531225185}"/>
              </a:ext>
            </a:extLst>
          </p:cNvPr>
          <p:cNvSpPr txBox="1"/>
          <p:nvPr/>
        </p:nvSpPr>
        <p:spPr>
          <a:xfrm>
            <a:off x="3009900" y="4381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A317"/>
                </a:solidFill>
              </a:rPr>
              <a:t>Étape 02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CE5DC5-3117-F846-8AB3-A2831B2139D4}"/>
              </a:ext>
            </a:extLst>
          </p:cNvPr>
          <p:cNvSpPr txBox="1"/>
          <p:nvPr/>
        </p:nvSpPr>
        <p:spPr>
          <a:xfrm>
            <a:off x="3111500" y="47625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Transformation</a:t>
            </a:r>
          </a:p>
        </p:txBody>
      </p:sp>
      <p:sp>
        <p:nvSpPr>
          <p:cNvPr id="21" name="Flèche vers la droite 20">
            <a:extLst>
              <a:ext uri="{FF2B5EF4-FFF2-40B4-BE49-F238E27FC236}">
                <a16:creationId xmlns:a16="http://schemas.microsoft.com/office/drawing/2014/main" id="{F315619E-941A-1044-BDEE-AAE389AFEC94}"/>
              </a:ext>
            </a:extLst>
          </p:cNvPr>
          <p:cNvSpPr/>
          <p:nvPr/>
        </p:nvSpPr>
        <p:spPr>
          <a:xfrm>
            <a:off x="4927600" y="4127500"/>
            <a:ext cx="203200" cy="3810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27A371B-4041-904A-B2AD-EED7CF64B53C}"/>
              </a:ext>
            </a:extLst>
          </p:cNvPr>
          <p:cNvSpPr/>
          <p:nvPr/>
        </p:nvSpPr>
        <p:spPr>
          <a:xfrm>
            <a:off x="5143500" y="3175000"/>
            <a:ext cx="1905000" cy="228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3B4564D-0466-DA4F-B944-3D8B3B20F48C}"/>
              </a:ext>
            </a:extLst>
          </p:cNvPr>
          <p:cNvSpPr/>
          <p:nvPr/>
        </p:nvSpPr>
        <p:spPr>
          <a:xfrm>
            <a:off x="5715000" y="34290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2BD944F-C122-294C-A77B-0F4087FB4AC2}"/>
              </a:ext>
            </a:extLst>
          </p:cNvPr>
          <p:cNvSpPr txBox="1"/>
          <p:nvPr/>
        </p:nvSpPr>
        <p:spPr>
          <a:xfrm>
            <a:off x="5143500" y="4381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A317"/>
                </a:solidFill>
              </a:rPr>
              <a:t>Étape 03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6537A44-F76C-B34C-8030-772F92199DF3}"/>
              </a:ext>
            </a:extLst>
          </p:cNvPr>
          <p:cNvSpPr txBox="1"/>
          <p:nvPr/>
        </p:nvSpPr>
        <p:spPr>
          <a:xfrm>
            <a:off x="5245100" y="47625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Filtrage</a:t>
            </a:r>
          </a:p>
        </p:txBody>
      </p:sp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A8FCBB22-0F36-3D47-A223-67FBBE1265A0}"/>
              </a:ext>
            </a:extLst>
          </p:cNvPr>
          <p:cNvSpPr/>
          <p:nvPr/>
        </p:nvSpPr>
        <p:spPr>
          <a:xfrm>
            <a:off x="7061200" y="4127500"/>
            <a:ext cx="203200" cy="3810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268C28C-93E3-2D45-8762-3048773A656C}"/>
              </a:ext>
            </a:extLst>
          </p:cNvPr>
          <p:cNvSpPr/>
          <p:nvPr/>
        </p:nvSpPr>
        <p:spPr>
          <a:xfrm>
            <a:off x="7277100" y="3175000"/>
            <a:ext cx="1905000" cy="228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E45C8B71-79D5-CC45-BAFD-1BE7069FC3EB}"/>
              </a:ext>
            </a:extLst>
          </p:cNvPr>
          <p:cNvSpPr/>
          <p:nvPr/>
        </p:nvSpPr>
        <p:spPr>
          <a:xfrm>
            <a:off x="7848600" y="3429000"/>
            <a:ext cx="762000" cy="762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>
                <a:solidFill>
                  <a:srgbClr val="FFFFFF"/>
                </a:solidFill>
              </a:rPr>
              <a:t>🏷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8A15EAD-0605-3D46-8ECA-6017297EC50A}"/>
              </a:ext>
            </a:extLst>
          </p:cNvPr>
          <p:cNvSpPr txBox="1"/>
          <p:nvPr/>
        </p:nvSpPr>
        <p:spPr>
          <a:xfrm>
            <a:off x="7277100" y="4381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A317"/>
                </a:solidFill>
              </a:rPr>
              <a:t>Étape 04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0396D71-023A-5143-985A-DD7AA5E4C497}"/>
              </a:ext>
            </a:extLst>
          </p:cNvPr>
          <p:cNvSpPr txBox="1"/>
          <p:nvPr/>
        </p:nvSpPr>
        <p:spPr>
          <a:xfrm>
            <a:off x="7378700" y="47625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Catégorisation</a:t>
            </a:r>
          </a:p>
        </p:txBody>
      </p:sp>
      <p:sp>
        <p:nvSpPr>
          <p:cNvPr id="31" name="Flèche vers la droite 30">
            <a:extLst>
              <a:ext uri="{FF2B5EF4-FFF2-40B4-BE49-F238E27FC236}">
                <a16:creationId xmlns:a16="http://schemas.microsoft.com/office/drawing/2014/main" id="{24099031-2567-FA49-B474-02C18B32CD59}"/>
              </a:ext>
            </a:extLst>
          </p:cNvPr>
          <p:cNvSpPr/>
          <p:nvPr/>
        </p:nvSpPr>
        <p:spPr>
          <a:xfrm>
            <a:off x="9194800" y="4127500"/>
            <a:ext cx="203200" cy="3810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9FFA361-C9E3-5B4D-9D3C-B7A2A673D6C4}"/>
              </a:ext>
            </a:extLst>
          </p:cNvPr>
          <p:cNvSpPr/>
          <p:nvPr/>
        </p:nvSpPr>
        <p:spPr>
          <a:xfrm>
            <a:off x="9410700" y="3175000"/>
            <a:ext cx="1905000" cy="228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09946C68-53C9-754D-90A9-B348CC4B6450}"/>
              </a:ext>
            </a:extLst>
          </p:cNvPr>
          <p:cNvSpPr/>
          <p:nvPr/>
        </p:nvSpPr>
        <p:spPr>
          <a:xfrm>
            <a:off x="9982200" y="34290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A102143-8C72-354C-9C98-6FF20E419F5E}"/>
              </a:ext>
            </a:extLst>
          </p:cNvPr>
          <p:cNvSpPr txBox="1"/>
          <p:nvPr/>
        </p:nvSpPr>
        <p:spPr>
          <a:xfrm>
            <a:off x="9410700" y="4381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A317"/>
                </a:solidFill>
              </a:rPr>
              <a:t>Étape 05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75EF31C-0363-AF44-97A5-467187988861}"/>
              </a:ext>
            </a:extLst>
          </p:cNvPr>
          <p:cNvSpPr txBox="1"/>
          <p:nvPr/>
        </p:nvSpPr>
        <p:spPr>
          <a:xfrm>
            <a:off x="9512300" y="47625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Agrégation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7629576-BEE4-764F-845B-7AAD40DB3E34}"/>
              </a:ext>
            </a:extLst>
          </p:cNvPr>
          <p:cNvSpPr/>
          <p:nvPr/>
        </p:nvSpPr>
        <p:spPr>
          <a:xfrm>
            <a:off x="2540000" y="5842000"/>
            <a:ext cx="2540000" cy="6350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Flux Redpanda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9AA52CA-F7E7-BA4F-A1E9-D9CA91962B9E}"/>
              </a:ext>
            </a:extLst>
          </p:cNvPr>
          <p:cNvSpPr/>
          <p:nvPr/>
        </p:nvSpPr>
        <p:spPr>
          <a:xfrm>
            <a:off x="7112000" y="5842000"/>
            <a:ext cx="2540000" cy="635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</a:rPr>
              <a:t>Données analysées</a:t>
            </a:r>
          </a:p>
        </p:txBody>
      </p:sp>
      <p:sp>
        <p:nvSpPr>
          <p:cNvPr id="38" name="Flèche vers la droite 37">
            <a:extLst>
              <a:ext uri="{FF2B5EF4-FFF2-40B4-BE49-F238E27FC236}">
                <a16:creationId xmlns:a16="http://schemas.microsoft.com/office/drawing/2014/main" id="{AB381F82-35E2-3A45-B879-BCBAA1D992C4}"/>
              </a:ext>
            </a:extLst>
          </p:cNvPr>
          <p:cNvSpPr/>
          <p:nvPr/>
        </p:nvSpPr>
        <p:spPr>
          <a:xfrm>
            <a:off x="5207000" y="5994400"/>
            <a:ext cx="1778000" cy="317500"/>
          </a:xfrm>
          <a:prstGeom prst="rightArrow">
            <a:avLst/>
          </a:prstGeom>
          <a:solidFill>
            <a:srgbClr val="0B254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617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F29E0-94AA-96AE-5016-6747BEB0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C0BC5D-06EC-B244-AC53-9210809461D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0DA792A-DDB6-0647-BAB4-A452B2657415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9D9A9F-1013-5946-B1B6-672FB020F535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Export et stockage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A2294B-265A-A543-98F7-AFE46EDCADE7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57D3F95-F4F9-7141-9CC0-0D799B2DC7CE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10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BB6FD4-7D1B-6C4B-B215-769D46FB1AE6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Conserver les résultats du traitement dans des formats adaptés.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50537BB-FEB6-EC43-8C12-4124F4208D2E}"/>
              </a:ext>
            </a:extLst>
          </p:cNvPr>
          <p:cNvSpPr/>
          <p:nvPr/>
        </p:nvSpPr>
        <p:spPr>
          <a:xfrm>
            <a:off x="698500" y="2921000"/>
            <a:ext cx="5207000" cy="342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88B8BE-5EEC-0D4F-A39D-A5776FD672FA}"/>
              </a:ext>
            </a:extLst>
          </p:cNvPr>
          <p:cNvSpPr/>
          <p:nvPr/>
        </p:nvSpPr>
        <p:spPr>
          <a:xfrm>
            <a:off x="698500" y="2921000"/>
            <a:ext cx="5207000" cy="889000"/>
          </a:xfrm>
          <a:prstGeom prst="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30BBC43-136A-C248-84E6-B45200547083}"/>
              </a:ext>
            </a:extLst>
          </p:cNvPr>
          <p:cNvSpPr txBox="1"/>
          <p:nvPr/>
        </p:nvSpPr>
        <p:spPr>
          <a:xfrm>
            <a:off x="952500" y="30734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{ 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B3098F5-4D7A-E14A-B5D5-647750F9915D}"/>
              </a:ext>
            </a:extLst>
          </p:cNvPr>
          <p:cNvSpPr txBox="1"/>
          <p:nvPr/>
        </p:nvSpPr>
        <p:spPr>
          <a:xfrm>
            <a:off x="1968500" y="3073400"/>
            <a:ext cx="3683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800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819EA2C-7DF2-DC47-BB39-B8BC18026BAB}"/>
              </a:ext>
            </a:extLst>
          </p:cNvPr>
          <p:cNvSpPr txBox="1"/>
          <p:nvPr/>
        </p:nvSpPr>
        <p:spPr>
          <a:xfrm>
            <a:off x="952500" y="4000500"/>
            <a:ext cx="4699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i="1">
                <a:solidFill>
                  <a:srgbClr val="1B3A6B"/>
                </a:solidFill>
              </a:rPr>
              <a:t>Lecture simple et flexible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C6F271C-6B5C-9248-93DF-327619791B30}"/>
              </a:ext>
            </a:extLst>
          </p:cNvPr>
          <p:cNvSpPr/>
          <p:nvPr/>
        </p:nvSpPr>
        <p:spPr>
          <a:xfrm>
            <a:off x="977900" y="4699000"/>
            <a:ext cx="101600" cy="1016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84A5DAB-EA00-D042-BC02-3CF91F07C2CB}"/>
              </a:ext>
            </a:extLst>
          </p:cNvPr>
          <p:cNvSpPr txBox="1"/>
          <p:nvPr/>
        </p:nvSpPr>
        <p:spPr>
          <a:xfrm>
            <a:off x="1206500" y="4572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Format universellement lisible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232AE2F-961C-E94E-8094-3D715A1AE1FB}"/>
              </a:ext>
            </a:extLst>
          </p:cNvPr>
          <p:cNvSpPr/>
          <p:nvPr/>
        </p:nvSpPr>
        <p:spPr>
          <a:xfrm>
            <a:off x="977900" y="5207000"/>
            <a:ext cx="101600" cy="1016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66547F8-37DC-234D-AC37-49753A6E9BD3}"/>
              </a:ext>
            </a:extLst>
          </p:cNvPr>
          <p:cNvSpPr txBox="1"/>
          <p:nvPr/>
        </p:nvSpPr>
        <p:spPr>
          <a:xfrm>
            <a:off x="1206500" y="5080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Idéal pour échanges et debug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CBE814E-67E4-9B4E-9482-59504047D62F}"/>
              </a:ext>
            </a:extLst>
          </p:cNvPr>
          <p:cNvSpPr/>
          <p:nvPr/>
        </p:nvSpPr>
        <p:spPr>
          <a:xfrm>
            <a:off x="977900" y="5715000"/>
            <a:ext cx="101600" cy="1016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F93B3B2-BD5F-C045-995D-85041B95F853}"/>
              </a:ext>
            </a:extLst>
          </p:cNvPr>
          <p:cNvSpPr txBox="1"/>
          <p:nvPr/>
        </p:nvSpPr>
        <p:spPr>
          <a:xfrm>
            <a:off x="1206500" y="5588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Structure auto-descriptive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1D49C16-0556-3442-BAE3-943037203E28}"/>
              </a:ext>
            </a:extLst>
          </p:cNvPr>
          <p:cNvSpPr/>
          <p:nvPr/>
        </p:nvSpPr>
        <p:spPr>
          <a:xfrm>
            <a:off x="6286500" y="2921000"/>
            <a:ext cx="5207000" cy="342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DD1CE4-F623-D244-B923-5FA5166DE9C2}"/>
              </a:ext>
            </a:extLst>
          </p:cNvPr>
          <p:cNvSpPr/>
          <p:nvPr/>
        </p:nvSpPr>
        <p:spPr>
          <a:xfrm>
            <a:off x="6286500" y="2921000"/>
            <a:ext cx="5207000" cy="889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6E0908-CD47-5D42-BAB2-91C02098EAC3}"/>
              </a:ext>
            </a:extLst>
          </p:cNvPr>
          <p:cNvSpPr txBox="1"/>
          <p:nvPr/>
        </p:nvSpPr>
        <p:spPr>
          <a:xfrm>
            <a:off x="6540500" y="30734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▦▦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96FD4D9-73C2-3744-9C9C-A07A0D22294E}"/>
              </a:ext>
            </a:extLst>
          </p:cNvPr>
          <p:cNvSpPr txBox="1"/>
          <p:nvPr/>
        </p:nvSpPr>
        <p:spPr>
          <a:xfrm>
            <a:off x="7556500" y="3073400"/>
            <a:ext cx="3683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800" b="1">
                <a:solidFill>
                  <a:srgbClr val="FFFFFF"/>
                </a:solidFill>
              </a:rPr>
              <a:t>Parquet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ADD10C1-C4D5-1C49-9DCB-1840703159BB}"/>
              </a:ext>
            </a:extLst>
          </p:cNvPr>
          <p:cNvSpPr txBox="1"/>
          <p:nvPr/>
        </p:nvSpPr>
        <p:spPr>
          <a:xfrm>
            <a:off x="6540500" y="4000500"/>
            <a:ext cx="4699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i="1">
                <a:solidFill>
                  <a:srgbClr val="1B3A6B"/>
                </a:solidFill>
              </a:rPr>
              <a:t>Stockage optimisé et performances élevées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EDA760A-BE7B-B642-8995-74BFD5209F65}"/>
              </a:ext>
            </a:extLst>
          </p:cNvPr>
          <p:cNvSpPr/>
          <p:nvPr/>
        </p:nvSpPr>
        <p:spPr>
          <a:xfrm>
            <a:off x="6565900" y="4699000"/>
            <a:ext cx="101600" cy="1016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8D3B47-B58B-E94C-8905-08C5817F14A7}"/>
              </a:ext>
            </a:extLst>
          </p:cNvPr>
          <p:cNvSpPr txBox="1"/>
          <p:nvPr/>
        </p:nvSpPr>
        <p:spPr>
          <a:xfrm>
            <a:off x="6794500" y="4572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Format columnaire compressé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EB7B77A-9DF8-3640-B4A5-093DD610A9DA}"/>
              </a:ext>
            </a:extLst>
          </p:cNvPr>
          <p:cNvSpPr/>
          <p:nvPr/>
        </p:nvSpPr>
        <p:spPr>
          <a:xfrm>
            <a:off x="6565900" y="5207000"/>
            <a:ext cx="101600" cy="1016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445CAFD-7E3E-DD44-8C9A-CDE18F97C27E}"/>
              </a:ext>
            </a:extLst>
          </p:cNvPr>
          <p:cNvSpPr txBox="1"/>
          <p:nvPr/>
        </p:nvSpPr>
        <p:spPr>
          <a:xfrm>
            <a:off x="6794500" y="5080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Lectures analytiques rapides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24C1BC2-DA9B-4341-85ED-890FAF9577AE}"/>
              </a:ext>
            </a:extLst>
          </p:cNvPr>
          <p:cNvSpPr/>
          <p:nvPr/>
        </p:nvSpPr>
        <p:spPr>
          <a:xfrm>
            <a:off x="6565900" y="5715000"/>
            <a:ext cx="101600" cy="1016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2A29C1E-03CD-6940-9A15-67BE0BCF7792}"/>
              </a:ext>
            </a:extLst>
          </p:cNvPr>
          <p:cNvSpPr txBox="1"/>
          <p:nvPr/>
        </p:nvSpPr>
        <p:spPr>
          <a:xfrm>
            <a:off x="6794500" y="55880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Réduction de l'empreinte disque</a:t>
            </a:r>
          </a:p>
        </p:txBody>
      </p:sp>
    </p:spTree>
    <p:extLst>
      <p:ext uri="{BB962C8B-B14F-4D97-AF65-F5344CB8AC3E}">
        <p14:creationId xmlns:p14="http://schemas.microsoft.com/office/powerpoint/2010/main" val="1582710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9B0BC-970C-EDF2-EAA0-ADA6679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DB587-12B7-CF44-B6DD-045383DD29F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F27DFB-5CD4-3B47-A160-17B81257662E}"/>
              </a:ext>
            </a:extLst>
          </p:cNvPr>
          <p:cNvSpPr/>
          <p:nvPr/>
        </p:nvSpPr>
        <p:spPr>
          <a:xfrm>
            <a:off x="635000" y="508000"/>
            <a:ext cx="2921000" cy="381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02 · POC LOCAL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0EC577-6665-A445-AE2A-264E92747297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Conteneurisation avec Docker Compose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E4953-AA87-1347-9D28-05976841DAD0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6E4AE64-3024-3A49-8112-241A56012AFC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11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AD3CF65-18A0-674D-B53E-CF25A7990B12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Automatiser le déploiement local de l'environnement.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AF92A0-FE04-6744-BF60-647164FC3BBA}"/>
              </a:ext>
            </a:extLst>
          </p:cNvPr>
          <p:cNvSpPr txBox="1"/>
          <p:nvPr/>
        </p:nvSpPr>
        <p:spPr>
          <a:xfrm>
            <a:off x="635000" y="2921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SERVICES ORCHESTRÉS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6A9F0CA-0482-674E-9C45-B6D587E0D847}"/>
              </a:ext>
            </a:extLst>
          </p:cNvPr>
          <p:cNvSpPr/>
          <p:nvPr/>
        </p:nvSpPr>
        <p:spPr>
          <a:xfrm>
            <a:off x="635000" y="3302000"/>
            <a:ext cx="5461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AAA18-66AA-2A41-AF95-E110F9AD9664}"/>
              </a:ext>
            </a:extLst>
          </p:cNvPr>
          <p:cNvSpPr/>
          <p:nvPr/>
        </p:nvSpPr>
        <p:spPr>
          <a:xfrm>
            <a:off x="635000" y="3302000"/>
            <a:ext cx="63500" cy="762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32B074-952C-9048-A769-63C572BD79E2}"/>
              </a:ext>
            </a:extLst>
          </p:cNvPr>
          <p:cNvSpPr/>
          <p:nvPr/>
        </p:nvSpPr>
        <p:spPr>
          <a:xfrm>
            <a:off x="889000" y="3454400"/>
            <a:ext cx="457200" cy="4572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8CE33F7-CCAE-8D48-B944-67943BE0B689}"/>
              </a:ext>
            </a:extLst>
          </p:cNvPr>
          <p:cNvSpPr txBox="1"/>
          <p:nvPr/>
        </p:nvSpPr>
        <p:spPr>
          <a:xfrm>
            <a:off x="1524000" y="34036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Redpanda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67CC492-4C90-4D4D-9C91-B89872DCCA87}"/>
              </a:ext>
            </a:extLst>
          </p:cNvPr>
          <p:cNvSpPr txBox="1"/>
          <p:nvPr/>
        </p:nvSpPr>
        <p:spPr>
          <a:xfrm>
            <a:off x="1524000" y="37084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666666"/>
                </a:solidFill>
              </a:rPr>
              <a:t>Broker de streaming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8028408-2788-9944-BF58-CEF1F04E014D}"/>
              </a:ext>
            </a:extLst>
          </p:cNvPr>
          <p:cNvSpPr/>
          <p:nvPr/>
        </p:nvSpPr>
        <p:spPr>
          <a:xfrm>
            <a:off x="635000" y="4191000"/>
            <a:ext cx="5461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0EC683-252F-3B47-B09B-17E1E567C27F}"/>
              </a:ext>
            </a:extLst>
          </p:cNvPr>
          <p:cNvSpPr/>
          <p:nvPr/>
        </p:nvSpPr>
        <p:spPr>
          <a:xfrm>
            <a:off x="635000" y="4191000"/>
            <a:ext cx="63500" cy="762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2D47331-E6D1-0D47-A6C9-B2C907CC44F7}"/>
              </a:ext>
            </a:extLst>
          </p:cNvPr>
          <p:cNvSpPr/>
          <p:nvPr/>
        </p:nvSpPr>
        <p:spPr>
          <a:xfrm>
            <a:off x="889000" y="4343400"/>
            <a:ext cx="457200" cy="4572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94C5014-0F9E-AB4F-A571-EBA7100A1502}"/>
              </a:ext>
            </a:extLst>
          </p:cNvPr>
          <p:cNvSpPr txBox="1"/>
          <p:nvPr/>
        </p:nvSpPr>
        <p:spPr>
          <a:xfrm>
            <a:off x="1524000" y="42926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Producteur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8692E8B-340C-0543-AB6A-7D723D869C6C}"/>
              </a:ext>
            </a:extLst>
          </p:cNvPr>
          <p:cNvSpPr txBox="1"/>
          <p:nvPr/>
        </p:nvSpPr>
        <p:spPr>
          <a:xfrm>
            <a:off x="1524000" y="45974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666666"/>
                </a:solidFill>
              </a:rPr>
              <a:t>Génération de tickets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5747ECA-EE67-A842-A85D-25097070B7CE}"/>
              </a:ext>
            </a:extLst>
          </p:cNvPr>
          <p:cNvSpPr/>
          <p:nvPr/>
        </p:nvSpPr>
        <p:spPr>
          <a:xfrm>
            <a:off x="635000" y="5080000"/>
            <a:ext cx="5461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8B90B6-DF08-6C40-97BB-BEAFA3CD0C2C}"/>
              </a:ext>
            </a:extLst>
          </p:cNvPr>
          <p:cNvSpPr/>
          <p:nvPr/>
        </p:nvSpPr>
        <p:spPr>
          <a:xfrm>
            <a:off x="635000" y="5080000"/>
            <a:ext cx="63500" cy="762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801671F-7DCA-414F-98F6-7F4D0E921C40}"/>
              </a:ext>
            </a:extLst>
          </p:cNvPr>
          <p:cNvSpPr/>
          <p:nvPr/>
        </p:nvSpPr>
        <p:spPr>
          <a:xfrm>
            <a:off x="889000" y="5232400"/>
            <a:ext cx="457200" cy="4572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090EFC8-81B5-5443-A4D9-063FCBAD8E2D}"/>
              </a:ext>
            </a:extLst>
          </p:cNvPr>
          <p:cNvSpPr txBox="1"/>
          <p:nvPr/>
        </p:nvSpPr>
        <p:spPr>
          <a:xfrm>
            <a:off x="1524000" y="51816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PySpark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29973E1-D364-9048-A6E1-A924DD0C28B1}"/>
              </a:ext>
            </a:extLst>
          </p:cNvPr>
          <p:cNvSpPr txBox="1"/>
          <p:nvPr/>
        </p:nvSpPr>
        <p:spPr>
          <a:xfrm>
            <a:off x="1524000" y="54864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666666"/>
                </a:solidFill>
              </a:rPr>
              <a:t>Consommateur &amp; traitement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8867449-6FA9-A343-B23F-2CF323D6AE88}"/>
              </a:ext>
            </a:extLst>
          </p:cNvPr>
          <p:cNvSpPr txBox="1"/>
          <p:nvPr/>
        </p:nvSpPr>
        <p:spPr>
          <a:xfrm>
            <a:off x="6604000" y="29210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AVANTAGES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CBD48AC-B2D1-D840-ABE8-FC96045BCC6C}"/>
              </a:ext>
            </a:extLst>
          </p:cNvPr>
          <p:cNvSpPr/>
          <p:nvPr/>
        </p:nvSpPr>
        <p:spPr>
          <a:xfrm>
            <a:off x="6604000" y="3302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061FABF-2A26-9C40-9010-73EFBCFF2BB8}"/>
              </a:ext>
            </a:extLst>
          </p:cNvPr>
          <p:cNvSpPr txBox="1"/>
          <p:nvPr/>
        </p:nvSpPr>
        <p:spPr>
          <a:xfrm>
            <a:off x="6794500" y="3429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>
                <a:solidFill>
                  <a:srgbClr val="E8A317"/>
                </a:solidFill>
              </a:rPr>
              <a:t>⚡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99622FC-5041-404E-82B9-CD653F0CF253}"/>
              </a:ext>
            </a:extLst>
          </p:cNvPr>
          <p:cNvSpPr txBox="1"/>
          <p:nvPr/>
        </p:nvSpPr>
        <p:spPr>
          <a:xfrm>
            <a:off x="7556500" y="3302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</a:rPr>
              <a:t>Déploiement simplifié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2FA34F1-ABB9-B74F-9666-1A3FBA363D57}"/>
              </a:ext>
            </a:extLst>
          </p:cNvPr>
          <p:cNvSpPr/>
          <p:nvPr/>
        </p:nvSpPr>
        <p:spPr>
          <a:xfrm>
            <a:off x="6604000" y="4191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F649299-EC1A-EF4F-8C30-0CAB16CD7A62}"/>
              </a:ext>
            </a:extLst>
          </p:cNvPr>
          <p:cNvSpPr txBox="1"/>
          <p:nvPr/>
        </p:nvSpPr>
        <p:spPr>
          <a:xfrm>
            <a:off x="6794500" y="4318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>
                <a:solidFill>
                  <a:srgbClr val="E8A317"/>
                </a:solidFill>
              </a:rPr>
              <a:t>🔁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0B79629-8265-294C-8812-65BA1E2987E4}"/>
              </a:ext>
            </a:extLst>
          </p:cNvPr>
          <p:cNvSpPr txBox="1"/>
          <p:nvPr/>
        </p:nvSpPr>
        <p:spPr>
          <a:xfrm>
            <a:off x="7556500" y="4191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</a:rPr>
              <a:t>Reproductibilité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F92355E-E534-6745-8687-AF13265E3917}"/>
              </a:ext>
            </a:extLst>
          </p:cNvPr>
          <p:cNvSpPr/>
          <p:nvPr/>
        </p:nvSpPr>
        <p:spPr>
          <a:xfrm>
            <a:off x="6604000" y="5080000"/>
            <a:ext cx="4953000" cy="762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DC1EEE0-A712-A04C-B1A0-3621D4CA9E98}"/>
              </a:ext>
            </a:extLst>
          </p:cNvPr>
          <p:cNvSpPr txBox="1"/>
          <p:nvPr/>
        </p:nvSpPr>
        <p:spPr>
          <a:xfrm>
            <a:off x="6794500" y="5207000"/>
            <a:ext cx="63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>
                <a:solidFill>
                  <a:srgbClr val="E8A317"/>
                </a:solidFill>
              </a:rPr>
              <a:t>🎛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6BEEFEC-07E1-DB42-BCC6-C57C49299D7F}"/>
              </a:ext>
            </a:extLst>
          </p:cNvPr>
          <p:cNvSpPr txBox="1"/>
          <p:nvPr/>
        </p:nvSpPr>
        <p:spPr>
          <a:xfrm>
            <a:off x="7556500" y="50800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</a:rPr>
              <a:t>Gestion centralisée</a:t>
            </a:r>
          </a:p>
        </p:txBody>
      </p:sp>
    </p:spTree>
    <p:extLst>
      <p:ext uri="{BB962C8B-B14F-4D97-AF65-F5344CB8AC3E}">
        <p14:creationId xmlns:p14="http://schemas.microsoft.com/office/powerpoint/2010/main" val="77650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03D96-0292-3B03-46DD-988E55E5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B7B126-E655-3C45-A151-B25E32EC531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84611B0-ED87-384F-9C1F-27B0A444D2EA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03 · TRANSITION HYBRIDE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BBE171-D894-A74B-8D5C-9DFAC51964E6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0B2545"/>
                </a:solidFill>
              </a:rPr>
              <a:t>Limites de l'environnement local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DFB901-2BBB-AE46-9206-9364AE8C624B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C3B702E-B4EB-3844-A699-F1B58E78B100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12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0EB3A8-C01F-9C4E-BF7C-C47FACC9FFAB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Pourquoi le POC local ne suffit pas à un usage en production.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9AACBD0-9A1D-4041-8735-457D62CDDD22}"/>
              </a:ext>
            </a:extLst>
          </p:cNvPr>
          <p:cNvSpPr/>
          <p:nvPr/>
        </p:nvSpPr>
        <p:spPr>
          <a:xfrm>
            <a:off x="533400" y="28575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91C93-7547-D149-BE1B-7D9F073C1EC0}"/>
              </a:ext>
            </a:extLst>
          </p:cNvPr>
          <p:cNvSpPr/>
          <p:nvPr/>
        </p:nvSpPr>
        <p:spPr>
          <a:xfrm>
            <a:off x="5334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516F10A-0AE8-CF4E-BD7A-A1FCA61A4FF2}"/>
              </a:ext>
            </a:extLst>
          </p:cNvPr>
          <p:cNvSpPr txBox="1"/>
          <p:nvPr/>
        </p:nvSpPr>
        <p:spPr>
          <a:xfrm>
            <a:off x="723900" y="3009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⚙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EE7CE5E-FC91-8147-AF64-4F0FB8843055}"/>
              </a:ext>
            </a:extLst>
          </p:cNvPr>
          <p:cNvSpPr txBox="1"/>
          <p:nvPr/>
        </p:nvSpPr>
        <p:spPr>
          <a:xfrm>
            <a:off x="1295400" y="30607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Ressources limitées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0BF92BB-170C-B545-B8CF-DEC054936C42}"/>
              </a:ext>
            </a:extLst>
          </p:cNvPr>
          <p:cNvSpPr txBox="1"/>
          <p:nvPr/>
        </p:nvSpPr>
        <p:spPr>
          <a:xfrm>
            <a:off x="723900" y="35560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CPU, RAM et stockage matériels restreints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C0C2732-AD4D-F544-A5E9-C83D02CDFBCC}"/>
              </a:ext>
            </a:extLst>
          </p:cNvPr>
          <p:cNvSpPr/>
          <p:nvPr/>
        </p:nvSpPr>
        <p:spPr>
          <a:xfrm>
            <a:off x="4318000" y="28575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E7E03-8FB5-B648-8656-161A5670C2A0}"/>
              </a:ext>
            </a:extLst>
          </p:cNvPr>
          <p:cNvSpPr/>
          <p:nvPr/>
        </p:nvSpPr>
        <p:spPr>
          <a:xfrm>
            <a:off x="43180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6F64E79-9EA0-1B43-80F3-B20FBF71DD0A}"/>
              </a:ext>
            </a:extLst>
          </p:cNvPr>
          <p:cNvSpPr txBox="1"/>
          <p:nvPr/>
        </p:nvSpPr>
        <p:spPr>
          <a:xfrm>
            <a:off x="4508500" y="3009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📈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D49D7B-E4BB-6F4B-9FD8-A9B26D6EED2A}"/>
              </a:ext>
            </a:extLst>
          </p:cNvPr>
          <p:cNvSpPr txBox="1"/>
          <p:nvPr/>
        </p:nvSpPr>
        <p:spPr>
          <a:xfrm>
            <a:off x="5080000" y="30607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Forte croissance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E92102-09AE-1C4D-8D65-1EBC0BD7690E}"/>
              </a:ext>
            </a:extLst>
          </p:cNvPr>
          <p:cNvSpPr txBox="1"/>
          <p:nvPr/>
        </p:nvSpPr>
        <p:spPr>
          <a:xfrm>
            <a:off x="4508500" y="35560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Difficulté à gérer l'augmentation des flux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DAFD340-3675-9E4C-80D9-ED32C0C6ADEA}"/>
              </a:ext>
            </a:extLst>
          </p:cNvPr>
          <p:cNvSpPr/>
          <p:nvPr/>
        </p:nvSpPr>
        <p:spPr>
          <a:xfrm>
            <a:off x="8102600" y="28575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BEE23-41CA-F649-BD45-565D6959DD5F}"/>
              </a:ext>
            </a:extLst>
          </p:cNvPr>
          <p:cNvSpPr/>
          <p:nvPr/>
        </p:nvSpPr>
        <p:spPr>
          <a:xfrm>
            <a:off x="81026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D1EE209-05F3-D145-93AC-6B17F236B60B}"/>
              </a:ext>
            </a:extLst>
          </p:cNvPr>
          <p:cNvSpPr txBox="1"/>
          <p:nvPr/>
        </p:nvSpPr>
        <p:spPr>
          <a:xfrm>
            <a:off x="8293100" y="3009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⚠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A6B362D-FA16-1E46-8420-AFC1CA669DB0}"/>
              </a:ext>
            </a:extLst>
          </p:cNvPr>
          <p:cNvSpPr txBox="1"/>
          <p:nvPr/>
        </p:nvSpPr>
        <p:spPr>
          <a:xfrm>
            <a:off x="8864600" y="30607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Disponibilité réduite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9D3F378-B340-B145-BBB7-F498C931612A}"/>
              </a:ext>
            </a:extLst>
          </p:cNvPr>
          <p:cNvSpPr txBox="1"/>
          <p:nvPr/>
        </p:nvSpPr>
        <p:spPr>
          <a:xfrm>
            <a:off x="8293100" y="35560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Panne d'un service = arrêt complet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391F13A-472B-9C4E-B232-E6727ADC4C3F}"/>
              </a:ext>
            </a:extLst>
          </p:cNvPr>
          <p:cNvSpPr/>
          <p:nvPr/>
        </p:nvSpPr>
        <p:spPr>
          <a:xfrm>
            <a:off x="2425700" y="45720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97013F-6944-6D45-AF73-902FE37C6D9C}"/>
              </a:ext>
            </a:extLst>
          </p:cNvPr>
          <p:cNvSpPr/>
          <p:nvPr/>
        </p:nvSpPr>
        <p:spPr>
          <a:xfrm>
            <a:off x="2425700" y="45720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1B4B25B-4B8B-3B49-93B8-F9F48D14A6D0}"/>
              </a:ext>
            </a:extLst>
          </p:cNvPr>
          <p:cNvSpPr txBox="1"/>
          <p:nvPr/>
        </p:nvSpPr>
        <p:spPr>
          <a:xfrm>
            <a:off x="2616200" y="4724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🚧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6DF8F87-1BCE-9744-9C2B-A2614DF2B0F3}"/>
              </a:ext>
            </a:extLst>
          </p:cNvPr>
          <p:cNvSpPr txBox="1"/>
          <p:nvPr/>
        </p:nvSpPr>
        <p:spPr>
          <a:xfrm>
            <a:off x="3187700" y="4775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Échelle insuffisante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0FAD269-AED5-EA44-971F-2E8F589852AD}"/>
              </a:ext>
            </a:extLst>
          </p:cNvPr>
          <p:cNvSpPr txBox="1"/>
          <p:nvPr/>
        </p:nvSpPr>
        <p:spPr>
          <a:xfrm>
            <a:off x="2616200" y="52705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Capacité limitée pour traitements à grande échelle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D1116E1-9DDB-EA43-B29D-255A2FDEF66B}"/>
              </a:ext>
            </a:extLst>
          </p:cNvPr>
          <p:cNvSpPr/>
          <p:nvPr/>
        </p:nvSpPr>
        <p:spPr>
          <a:xfrm>
            <a:off x="6210300" y="45720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BB2852-E9D2-2E4D-AAB6-2281563B006F}"/>
              </a:ext>
            </a:extLst>
          </p:cNvPr>
          <p:cNvSpPr/>
          <p:nvPr/>
        </p:nvSpPr>
        <p:spPr>
          <a:xfrm>
            <a:off x="6210300" y="45720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2F1739E-EA70-9242-91D3-53CD86159808}"/>
              </a:ext>
            </a:extLst>
          </p:cNvPr>
          <p:cNvSpPr txBox="1"/>
          <p:nvPr/>
        </p:nvSpPr>
        <p:spPr>
          <a:xfrm>
            <a:off x="6400800" y="4724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🔒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CE52740-2631-3C49-83AF-35C79D4B67C3}"/>
              </a:ext>
            </a:extLst>
          </p:cNvPr>
          <p:cNvSpPr txBox="1"/>
          <p:nvPr/>
        </p:nvSpPr>
        <p:spPr>
          <a:xfrm>
            <a:off x="6972300" y="4775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Peu de flexibilité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2F7112B-AF83-0C43-BB93-BC39900A43D2}"/>
              </a:ext>
            </a:extLst>
          </p:cNvPr>
          <p:cNvSpPr txBox="1"/>
          <p:nvPr/>
        </p:nvSpPr>
        <p:spPr>
          <a:xfrm>
            <a:off x="6400800" y="52705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Difficile d'ajouter de nouvelles ressources</a:t>
            </a:r>
          </a:p>
        </p:txBody>
      </p:sp>
    </p:spTree>
    <p:extLst>
      <p:ext uri="{BB962C8B-B14F-4D97-AF65-F5344CB8AC3E}">
        <p14:creationId xmlns:p14="http://schemas.microsoft.com/office/powerpoint/2010/main" val="884827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58EC1-9FBE-044E-30B6-0BCA8EC2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A83D0B-505F-8141-9A31-B1FD303A244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E7E432D-49CC-064E-86D8-2EFF472439DA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03 · TRANSITION HYBRIDE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2C9B116-9FD8-EF40-B401-03B3B9DC0A7F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Besoins identifiés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65CE4A-EC96-C843-BF19-AA8C1C19BDA5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138783-17E0-CB4E-AAA1-6252DDB0AC80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13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F9031F7-4AD0-0D4F-A83C-935C97A600A2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Les 6 exigences techniques pour une infrastructure adaptée.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B3C8C8B-4D80-F141-A4D8-ED4B0B6E98EB}"/>
              </a:ext>
            </a:extLst>
          </p:cNvPr>
          <p:cNvSpPr/>
          <p:nvPr/>
        </p:nvSpPr>
        <p:spPr>
          <a:xfrm>
            <a:off x="533400" y="28575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A818E0A-1340-3143-A8C9-5B09DFA521E4}"/>
              </a:ext>
            </a:extLst>
          </p:cNvPr>
          <p:cNvSpPr/>
          <p:nvPr/>
        </p:nvSpPr>
        <p:spPr>
          <a:xfrm>
            <a:off x="787400" y="32385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⏱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25305D5-66A8-6245-8097-C36AFBBD1480}"/>
              </a:ext>
            </a:extLst>
          </p:cNvPr>
          <p:cNvSpPr txBox="1"/>
          <p:nvPr/>
        </p:nvSpPr>
        <p:spPr>
          <a:xfrm>
            <a:off x="1739900" y="3175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Temps réel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8764C24-0E04-4743-8662-30D589203430}"/>
              </a:ext>
            </a:extLst>
          </p:cNvPr>
          <p:cNvSpPr txBox="1"/>
          <p:nvPr/>
        </p:nvSpPr>
        <p:spPr>
          <a:xfrm>
            <a:off x="1739900" y="35941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Traiter les flux IoT en continu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8958265-92E0-AE43-8A72-8E710D11FC10}"/>
              </a:ext>
            </a:extLst>
          </p:cNvPr>
          <p:cNvSpPr/>
          <p:nvPr/>
        </p:nvSpPr>
        <p:spPr>
          <a:xfrm>
            <a:off x="4318000" y="28575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A7A7D2C-EFFE-7F4C-8376-EAE5FFB0008E}"/>
              </a:ext>
            </a:extLst>
          </p:cNvPr>
          <p:cNvSpPr/>
          <p:nvPr/>
        </p:nvSpPr>
        <p:spPr>
          <a:xfrm>
            <a:off x="4572000" y="32385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📈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AB94852-AE74-6241-BC9E-2490702CC440}"/>
              </a:ext>
            </a:extLst>
          </p:cNvPr>
          <p:cNvSpPr txBox="1"/>
          <p:nvPr/>
        </p:nvSpPr>
        <p:spPr>
          <a:xfrm>
            <a:off x="5524500" y="3175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Scalabilité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99AAB00-4B18-8345-9BAA-B2E35CA57155}"/>
              </a:ext>
            </a:extLst>
          </p:cNvPr>
          <p:cNvSpPr txBox="1"/>
          <p:nvPr/>
        </p:nvSpPr>
        <p:spPr>
          <a:xfrm>
            <a:off x="5524500" y="35941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Gérer la croissance des volumes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E2692F7-0228-C949-97CF-9DF4E839577E}"/>
              </a:ext>
            </a:extLst>
          </p:cNvPr>
          <p:cNvSpPr/>
          <p:nvPr/>
        </p:nvSpPr>
        <p:spPr>
          <a:xfrm>
            <a:off x="8102600" y="28575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6156F16-0625-3243-8787-BE127AD7C8E5}"/>
              </a:ext>
            </a:extLst>
          </p:cNvPr>
          <p:cNvSpPr/>
          <p:nvPr/>
        </p:nvSpPr>
        <p:spPr>
          <a:xfrm>
            <a:off x="8356600" y="3238500"/>
            <a:ext cx="762000" cy="762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🛡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DF26DAC-BA78-B848-A37E-C212CC3F2FDE}"/>
              </a:ext>
            </a:extLst>
          </p:cNvPr>
          <p:cNvSpPr txBox="1"/>
          <p:nvPr/>
        </p:nvSpPr>
        <p:spPr>
          <a:xfrm>
            <a:off x="9309100" y="3175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Haute disponibilité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C3F6582-8331-DE41-A3CB-80F323B603D1}"/>
              </a:ext>
            </a:extLst>
          </p:cNvPr>
          <p:cNvSpPr txBox="1"/>
          <p:nvPr/>
        </p:nvSpPr>
        <p:spPr>
          <a:xfrm>
            <a:off x="9309100" y="35941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Garantir la continuité des services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118FE36-EDFD-B749-902A-9F5D6BE52DDD}"/>
              </a:ext>
            </a:extLst>
          </p:cNvPr>
          <p:cNvSpPr/>
          <p:nvPr/>
        </p:nvSpPr>
        <p:spPr>
          <a:xfrm>
            <a:off x="533400" y="45720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85F20F7-9A45-5345-9F19-D1D0675A22CC}"/>
              </a:ext>
            </a:extLst>
          </p:cNvPr>
          <p:cNvSpPr/>
          <p:nvPr/>
        </p:nvSpPr>
        <p:spPr>
          <a:xfrm>
            <a:off x="787400" y="4953000"/>
            <a:ext cx="762000" cy="762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⚡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123F7AA-8A50-484A-BFA5-4C183013E878}"/>
              </a:ext>
            </a:extLst>
          </p:cNvPr>
          <p:cNvSpPr txBox="1"/>
          <p:nvPr/>
        </p:nvSpPr>
        <p:spPr>
          <a:xfrm>
            <a:off x="1739900" y="48895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Performance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BF59C80-56E1-5648-93A2-3992F223F06B}"/>
              </a:ext>
            </a:extLst>
          </p:cNvPr>
          <p:cNvSpPr txBox="1"/>
          <p:nvPr/>
        </p:nvSpPr>
        <p:spPr>
          <a:xfrm>
            <a:off x="1739900" y="53086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Maintenir un traitement stable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ACA3B62-369A-1D4E-A386-03D8CC1D712B}"/>
              </a:ext>
            </a:extLst>
          </p:cNvPr>
          <p:cNvSpPr/>
          <p:nvPr/>
        </p:nvSpPr>
        <p:spPr>
          <a:xfrm>
            <a:off x="4318000" y="45720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00B15A5-4055-AA4A-B729-245144562409}"/>
              </a:ext>
            </a:extLst>
          </p:cNvPr>
          <p:cNvSpPr/>
          <p:nvPr/>
        </p:nvSpPr>
        <p:spPr>
          <a:xfrm>
            <a:off x="4572000" y="4953000"/>
            <a:ext cx="762000" cy="762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📊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08D0B02-5805-8B47-919A-76248F0F0BCF}"/>
              </a:ext>
            </a:extLst>
          </p:cNvPr>
          <p:cNvSpPr txBox="1"/>
          <p:nvPr/>
        </p:nvSpPr>
        <p:spPr>
          <a:xfrm>
            <a:off x="5524500" y="48895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Montée en charge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C3F6293-FD74-1D40-AD8F-39349CA8AD0A}"/>
              </a:ext>
            </a:extLst>
          </p:cNvPr>
          <p:cNvSpPr txBox="1"/>
          <p:nvPr/>
        </p:nvSpPr>
        <p:spPr>
          <a:xfrm>
            <a:off x="5524500" y="53086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Adapter l'infrastructure dynamiquement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A554C16-5C0C-AF44-AE4E-B1FF6E8D1ACB}"/>
              </a:ext>
            </a:extLst>
          </p:cNvPr>
          <p:cNvSpPr/>
          <p:nvPr/>
        </p:nvSpPr>
        <p:spPr>
          <a:xfrm>
            <a:off x="8102600" y="4572000"/>
            <a:ext cx="3556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61D2BFC-D8A9-7740-9C22-C3E964993ED5}"/>
              </a:ext>
            </a:extLst>
          </p:cNvPr>
          <p:cNvSpPr/>
          <p:nvPr/>
        </p:nvSpPr>
        <p:spPr>
          <a:xfrm>
            <a:off x="8356600" y="4953000"/>
            <a:ext cx="762000" cy="762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>
                <a:solidFill>
                  <a:srgbClr val="E8A317"/>
                </a:solidFill>
              </a:rPr>
              <a:t>🔐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A1B27C4-3B38-2544-B4E1-5DD3AADA9C87}"/>
              </a:ext>
            </a:extLst>
          </p:cNvPr>
          <p:cNvSpPr txBox="1"/>
          <p:nvPr/>
        </p:nvSpPr>
        <p:spPr>
          <a:xfrm>
            <a:off x="9309100" y="48895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B2545"/>
                </a:solidFill>
              </a:rPr>
              <a:t>Sécurité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DA11060-0C8F-AC4D-8274-BF42EFC5A6D0}"/>
              </a:ext>
            </a:extLst>
          </p:cNvPr>
          <p:cNvSpPr txBox="1"/>
          <p:nvPr/>
        </p:nvSpPr>
        <p:spPr>
          <a:xfrm>
            <a:off x="9309100" y="5308600"/>
            <a:ext cx="2159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Sécuriser les échanges entre composants</a:t>
            </a:r>
          </a:p>
        </p:txBody>
      </p:sp>
    </p:spTree>
    <p:extLst>
      <p:ext uri="{BB962C8B-B14F-4D97-AF65-F5344CB8AC3E}">
        <p14:creationId xmlns:p14="http://schemas.microsoft.com/office/powerpoint/2010/main" val="225202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17D0F-6262-49DE-FB8B-E816617D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B2132B7-8211-4974-82AB-F8AEA3167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80" y="445202"/>
            <a:ext cx="4770119" cy="63010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13E881-5B0B-744D-B0D4-B3AC38DD768C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77A1C76-4BBE-6948-AFD4-8F19ED242DDE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04 · ARCHITECTURE HYBRIDE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92B9321-4849-2845-BD27-A2F33C793B16}"/>
              </a:ext>
            </a:extLst>
          </p:cNvPr>
          <p:cNvSpPr txBox="1"/>
          <p:nvPr/>
        </p:nvSpPr>
        <p:spPr>
          <a:xfrm>
            <a:off x="635000" y="1079500"/>
            <a:ext cx="647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800" b="1">
                <a:solidFill>
                  <a:srgbClr val="0B2545"/>
                </a:solidFill>
              </a:rPr>
              <a:t>Architecture hybride proposée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DB5FDC-86F5-AF4D-A83B-C9913BC791C6}"/>
              </a:ext>
            </a:extLst>
          </p:cNvPr>
          <p:cNvSpPr/>
          <p:nvPr/>
        </p:nvSpPr>
        <p:spPr>
          <a:xfrm>
            <a:off x="635000" y="2159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D91360-7D56-F74B-A3F2-6004215ACFD9}"/>
              </a:ext>
            </a:extLst>
          </p:cNvPr>
          <p:cNvSpPr txBox="1"/>
          <p:nvPr/>
        </p:nvSpPr>
        <p:spPr>
          <a:xfrm>
            <a:off x="635000" y="2413000"/>
            <a:ext cx="647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1B3A6B"/>
                </a:solidFill>
              </a:rPr>
              <a:t>Trois environnements combinés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CF285-316A-1E4D-86D4-5C698DEE64B6}"/>
              </a:ext>
            </a:extLst>
          </p:cNvPr>
          <p:cNvSpPr/>
          <p:nvPr/>
        </p:nvSpPr>
        <p:spPr>
          <a:xfrm>
            <a:off x="635000" y="2921000"/>
            <a:ext cx="76200" cy="1168400"/>
          </a:xfrm>
          <a:prstGeom prst="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CC63DD-0CAD-9C4D-AC19-78DCFE2313FF}"/>
              </a:ext>
            </a:extLst>
          </p:cNvPr>
          <p:cNvSpPr/>
          <p:nvPr/>
        </p:nvSpPr>
        <p:spPr>
          <a:xfrm>
            <a:off x="711200" y="2921000"/>
            <a:ext cx="62738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7F407D-036D-FC49-B573-42C61DD36DE4}"/>
              </a:ext>
            </a:extLst>
          </p:cNvPr>
          <p:cNvSpPr txBox="1"/>
          <p:nvPr/>
        </p:nvSpPr>
        <p:spPr>
          <a:xfrm>
            <a:off x="889000" y="30226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B3A6B"/>
                </a:solidFill>
              </a:rPr>
              <a:t>On-premise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C62065-2AB2-0E4E-9F01-F48247461241}"/>
              </a:ext>
            </a:extLst>
          </p:cNvPr>
          <p:cNvSpPr txBox="1"/>
          <p:nvPr/>
        </p:nvSpPr>
        <p:spPr>
          <a:xfrm>
            <a:off x="3492500" y="30734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i="1">
                <a:solidFill>
                  <a:srgbClr val="888888"/>
                </a:solidFill>
              </a:rPr>
              <a:t>SI InduTechData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BC72F44-9D28-224A-A8CE-506E4A7EE4D3}"/>
              </a:ext>
            </a:extLst>
          </p:cNvPr>
          <p:cNvSpPr/>
          <p:nvPr/>
        </p:nvSpPr>
        <p:spPr>
          <a:xfrm>
            <a:off x="889000" y="3454400"/>
            <a:ext cx="76200" cy="76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0978E3-0CDD-6A4E-AAA9-4F97D3692FB0}"/>
              </a:ext>
            </a:extLst>
          </p:cNvPr>
          <p:cNvSpPr txBox="1"/>
          <p:nvPr/>
        </p:nvSpPr>
        <p:spPr>
          <a:xfrm>
            <a:off x="1041400" y="33782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SQL Server (ERP / CRM)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ABA4E22-F2AD-0149-A8C8-B17570FDA7AF}"/>
              </a:ext>
            </a:extLst>
          </p:cNvPr>
          <p:cNvSpPr/>
          <p:nvPr/>
        </p:nvSpPr>
        <p:spPr>
          <a:xfrm>
            <a:off x="889000" y="3670300"/>
            <a:ext cx="76200" cy="76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FAEAF78-2C2F-4B4C-BE40-365BCC4427F8}"/>
              </a:ext>
            </a:extLst>
          </p:cNvPr>
          <p:cNvSpPr txBox="1"/>
          <p:nvPr/>
        </p:nvSpPr>
        <p:spPr>
          <a:xfrm>
            <a:off x="1041400" y="35941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SAN Storage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31A18E8-5A68-3B45-AC32-1F98A5789C66}"/>
              </a:ext>
            </a:extLst>
          </p:cNvPr>
          <p:cNvSpPr/>
          <p:nvPr/>
        </p:nvSpPr>
        <p:spPr>
          <a:xfrm>
            <a:off x="889000" y="3886200"/>
            <a:ext cx="76200" cy="762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2451713-D7BB-8D4F-912D-C2017FFBF2EF}"/>
              </a:ext>
            </a:extLst>
          </p:cNvPr>
          <p:cNvSpPr txBox="1"/>
          <p:nvPr/>
        </p:nvSpPr>
        <p:spPr>
          <a:xfrm>
            <a:off x="1041400" y="38100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Active Directory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4A8F89-3BF7-DB4B-AED4-9F82FE3F81BF}"/>
              </a:ext>
            </a:extLst>
          </p:cNvPr>
          <p:cNvSpPr/>
          <p:nvPr/>
        </p:nvSpPr>
        <p:spPr>
          <a:xfrm>
            <a:off x="635000" y="4165600"/>
            <a:ext cx="76200" cy="1168400"/>
          </a:xfrm>
          <a:prstGeom prst="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36E6D3-FDF8-E04A-B195-3018453D819D}"/>
              </a:ext>
            </a:extLst>
          </p:cNvPr>
          <p:cNvSpPr/>
          <p:nvPr/>
        </p:nvSpPr>
        <p:spPr>
          <a:xfrm>
            <a:off x="711200" y="4165600"/>
            <a:ext cx="62738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0350637-E1A9-C641-B0F5-AA3D8BAC48C1}"/>
              </a:ext>
            </a:extLst>
          </p:cNvPr>
          <p:cNvSpPr txBox="1"/>
          <p:nvPr/>
        </p:nvSpPr>
        <p:spPr>
          <a:xfrm>
            <a:off x="889000" y="4267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2E5A9E"/>
                </a:solidFill>
              </a:rPr>
              <a:t>POC Local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D751263-699B-2A43-8346-75447A60440B}"/>
              </a:ext>
            </a:extLst>
          </p:cNvPr>
          <p:cNvSpPr txBox="1"/>
          <p:nvPr/>
        </p:nvSpPr>
        <p:spPr>
          <a:xfrm>
            <a:off x="3492500" y="43180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i="1">
                <a:solidFill>
                  <a:srgbClr val="888888"/>
                </a:solidFill>
              </a:rPr>
              <a:t>Docker Compose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C21528D-C09E-FB40-B951-861195D96F36}"/>
              </a:ext>
            </a:extLst>
          </p:cNvPr>
          <p:cNvSpPr/>
          <p:nvPr/>
        </p:nvSpPr>
        <p:spPr>
          <a:xfrm>
            <a:off x="889000" y="4699000"/>
            <a:ext cx="76200" cy="762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B7320CA-446B-8A49-9085-5FAB8085F5A5}"/>
              </a:ext>
            </a:extLst>
          </p:cNvPr>
          <p:cNvSpPr txBox="1"/>
          <p:nvPr/>
        </p:nvSpPr>
        <p:spPr>
          <a:xfrm>
            <a:off x="1041400" y="46228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Producteur de tickets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648562A-C403-5F45-886A-73E549113C9B}"/>
              </a:ext>
            </a:extLst>
          </p:cNvPr>
          <p:cNvSpPr/>
          <p:nvPr/>
        </p:nvSpPr>
        <p:spPr>
          <a:xfrm>
            <a:off x="889000" y="4914900"/>
            <a:ext cx="76200" cy="762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674CEC5-4AAC-D043-BE5E-AB054CBC9CF8}"/>
              </a:ext>
            </a:extLst>
          </p:cNvPr>
          <p:cNvSpPr txBox="1"/>
          <p:nvPr/>
        </p:nvSpPr>
        <p:spPr>
          <a:xfrm>
            <a:off x="1041400" y="48387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Redpanda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160B62A-92B6-FF4C-AD1B-AE472A116646}"/>
              </a:ext>
            </a:extLst>
          </p:cNvPr>
          <p:cNvSpPr/>
          <p:nvPr/>
        </p:nvSpPr>
        <p:spPr>
          <a:xfrm>
            <a:off x="889000" y="5130800"/>
            <a:ext cx="76200" cy="762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11C710B-5B11-5242-999D-8217480591FE}"/>
              </a:ext>
            </a:extLst>
          </p:cNvPr>
          <p:cNvSpPr txBox="1"/>
          <p:nvPr/>
        </p:nvSpPr>
        <p:spPr>
          <a:xfrm>
            <a:off x="1041400" y="50546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PySpark + stockage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243B4A-1ED8-2643-A2FF-3A7117ACC7F1}"/>
              </a:ext>
            </a:extLst>
          </p:cNvPr>
          <p:cNvSpPr/>
          <p:nvPr/>
        </p:nvSpPr>
        <p:spPr>
          <a:xfrm>
            <a:off x="635000" y="5410200"/>
            <a:ext cx="76200" cy="11684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10C340-46D6-8840-BB0E-F7CF4DDFE340}"/>
              </a:ext>
            </a:extLst>
          </p:cNvPr>
          <p:cNvSpPr/>
          <p:nvPr/>
        </p:nvSpPr>
        <p:spPr>
          <a:xfrm>
            <a:off x="711200" y="5410200"/>
            <a:ext cx="62738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0B0DFF8-F493-3D45-AAFB-F0428C8C46D3}"/>
              </a:ext>
            </a:extLst>
          </p:cNvPr>
          <p:cNvSpPr txBox="1"/>
          <p:nvPr/>
        </p:nvSpPr>
        <p:spPr>
          <a:xfrm>
            <a:off x="889000" y="55118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E8A317"/>
                </a:solidFill>
              </a:rPr>
              <a:t>AWS Cloud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8907CFC-26B1-7946-BD81-63310DDD5A3F}"/>
              </a:ext>
            </a:extLst>
          </p:cNvPr>
          <p:cNvSpPr txBox="1"/>
          <p:nvPr/>
        </p:nvSpPr>
        <p:spPr>
          <a:xfrm>
            <a:off x="3492500" y="55626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i="1">
                <a:solidFill>
                  <a:srgbClr val="888888"/>
                </a:solidFill>
              </a:rPr>
              <a:t>Production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922019-06D9-5241-A043-4FED4CBA099F}"/>
              </a:ext>
            </a:extLst>
          </p:cNvPr>
          <p:cNvSpPr/>
          <p:nvPr/>
        </p:nvSpPr>
        <p:spPr>
          <a:xfrm>
            <a:off x="889000" y="5943600"/>
            <a:ext cx="76200" cy="762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3CFBFEA-D813-9344-B776-E2C83884812D}"/>
              </a:ext>
            </a:extLst>
          </p:cNvPr>
          <p:cNvSpPr txBox="1"/>
          <p:nvPr/>
        </p:nvSpPr>
        <p:spPr>
          <a:xfrm>
            <a:off x="1041400" y="58674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Ingestion &amp; streaming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8D76DD2-1B78-DC4F-92D4-110F9B2DF645}"/>
              </a:ext>
            </a:extLst>
          </p:cNvPr>
          <p:cNvSpPr/>
          <p:nvPr/>
        </p:nvSpPr>
        <p:spPr>
          <a:xfrm>
            <a:off x="889000" y="6159500"/>
            <a:ext cx="76200" cy="762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B8A9BDC-A7CD-6448-A852-80ECAF4DFEC7}"/>
              </a:ext>
            </a:extLst>
          </p:cNvPr>
          <p:cNvSpPr txBox="1"/>
          <p:nvPr/>
        </p:nvSpPr>
        <p:spPr>
          <a:xfrm>
            <a:off x="1041400" y="60833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Traitement distribué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22E78F1-9461-AA49-9347-6EA67CD0173C}"/>
              </a:ext>
            </a:extLst>
          </p:cNvPr>
          <p:cNvSpPr/>
          <p:nvPr/>
        </p:nvSpPr>
        <p:spPr>
          <a:xfrm>
            <a:off x="889000" y="6375400"/>
            <a:ext cx="76200" cy="762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A2903CF-4E57-B34F-BEF7-D84F4CD0E3E9}"/>
              </a:ext>
            </a:extLst>
          </p:cNvPr>
          <p:cNvSpPr txBox="1"/>
          <p:nvPr/>
        </p:nvSpPr>
        <p:spPr>
          <a:xfrm>
            <a:off x="1041400" y="6299200"/>
            <a:ext cx="584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0B2545"/>
                </a:solidFill>
              </a:rPr>
              <a:t>Stockage &amp; analyse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D94EBE6-CF6E-C84A-826E-B8F57F5F5315}"/>
              </a:ext>
            </a:extLst>
          </p:cNvPr>
          <p:cNvSpPr txBox="1"/>
          <p:nvPr/>
        </p:nvSpPr>
        <p:spPr>
          <a:xfrm>
            <a:off x="59690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887063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8C84B-A8C0-F27F-D1D1-A2667467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3A04FF-B647-0547-9995-7FF21535C2A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692DA82-FCAF-294D-9B72-8B6FA5875C87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04 · ARCHITECTURE HYBRIDE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792CDD-33B1-0A43-9CF6-71B2B11C9681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Flux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64E1C-9024-5A4F-A963-C418B379C169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3D13E4A-0234-1349-96DA-3067743BF166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15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301A21-1EDA-0F4A-AF1E-34F7ECBA8115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De la source IoT à l'analyse — 7 étapes du pipeline.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93ECF59-80D1-244C-8FF9-2C5F4A45BBC0}"/>
              </a:ext>
            </a:extLst>
          </p:cNvPr>
          <p:cNvSpPr/>
          <p:nvPr/>
        </p:nvSpPr>
        <p:spPr>
          <a:xfrm>
            <a:off x="6794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9E35A6B-911E-9345-BD40-352DF99F97EC}"/>
              </a:ext>
            </a:extLst>
          </p:cNvPr>
          <p:cNvSpPr/>
          <p:nvPr/>
        </p:nvSpPr>
        <p:spPr>
          <a:xfrm>
            <a:off x="1092200" y="3175000"/>
            <a:ext cx="635000" cy="635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F5235B-17E7-B041-BB60-38FD60B81DD0}"/>
              </a:ext>
            </a:extLst>
          </p:cNvPr>
          <p:cNvSpPr txBox="1"/>
          <p:nvPr/>
        </p:nvSpPr>
        <p:spPr>
          <a:xfrm>
            <a:off x="7556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Génération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EBA767-3FC9-AE44-8887-620A24326718}"/>
              </a:ext>
            </a:extLst>
          </p:cNvPr>
          <p:cNvSpPr txBox="1"/>
          <p:nvPr/>
        </p:nvSpPr>
        <p:spPr>
          <a:xfrm>
            <a:off x="7556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ERP / CRM / Capteurs IoT</a:t>
            </a:r>
          </a:p>
        </p:txBody>
      </p:sp>
      <p:sp>
        <p:nvSpPr>
          <p:cNvPr id="16" name="Flèche vers la droite 15">
            <a:extLst>
              <a:ext uri="{FF2B5EF4-FFF2-40B4-BE49-F238E27FC236}">
                <a16:creationId xmlns:a16="http://schemas.microsoft.com/office/drawing/2014/main" id="{B7EC0FEA-E1D9-D940-9BFA-B3544BD08D5F}"/>
              </a:ext>
            </a:extLst>
          </p:cNvPr>
          <p:cNvSpPr/>
          <p:nvPr/>
        </p:nvSpPr>
        <p:spPr>
          <a:xfrm>
            <a:off x="21145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8A7232A-F96B-F240-8B8A-EDFB9A2AF19F}"/>
              </a:ext>
            </a:extLst>
          </p:cNvPr>
          <p:cNvSpPr/>
          <p:nvPr/>
        </p:nvSpPr>
        <p:spPr>
          <a:xfrm>
            <a:off x="22415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E03E96F-0A88-AA4C-97A9-6C4125277704}"/>
              </a:ext>
            </a:extLst>
          </p:cNvPr>
          <p:cNvSpPr/>
          <p:nvPr/>
        </p:nvSpPr>
        <p:spPr>
          <a:xfrm>
            <a:off x="2654300" y="3175000"/>
            <a:ext cx="635000" cy="6350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F13E7A3-E879-BD43-A44B-DEF1300BDC2A}"/>
              </a:ext>
            </a:extLst>
          </p:cNvPr>
          <p:cNvSpPr txBox="1"/>
          <p:nvPr/>
        </p:nvSpPr>
        <p:spPr>
          <a:xfrm>
            <a:off x="23177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Transmission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39C00DD-A977-884B-99BD-8DE74A7FA129}"/>
              </a:ext>
            </a:extLst>
          </p:cNvPr>
          <p:cNvSpPr txBox="1"/>
          <p:nvPr/>
        </p:nvSpPr>
        <p:spPr>
          <a:xfrm>
            <a:off x="23177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VPN IPSec / Direct Connect</a:t>
            </a:r>
          </a:p>
        </p:txBody>
      </p:sp>
      <p:sp>
        <p:nvSpPr>
          <p:cNvPr id="21" name="Flèche vers la droite 20">
            <a:extLst>
              <a:ext uri="{FF2B5EF4-FFF2-40B4-BE49-F238E27FC236}">
                <a16:creationId xmlns:a16="http://schemas.microsoft.com/office/drawing/2014/main" id="{9C55DDD5-D897-CD41-8F2C-3A6ADA920A45}"/>
              </a:ext>
            </a:extLst>
          </p:cNvPr>
          <p:cNvSpPr/>
          <p:nvPr/>
        </p:nvSpPr>
        <p:spPr>
          <a:xfrm>
            <a:off x="36766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CD2DA9C-D872-4A49-A3E5-9ADC312455B1}"/>
              </a:ext>
            </a:extLst>
          </p:cNvPr>
          <p:cNvSpPr/>
          <p:nvPr/>
        </p:nvSpPr>
        <p:spPr>
          <a:xfrm>
            <a:off x="38036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FCC2080-835E-1A40-9033-9E2828CD07FE}"/>
              </a:ext>
            </a:extLst>
          </p:cNvPr>
          <p:cNvSpPr/>
          <p:nvPr/>
        </p:nvSpPr>
        <p:spPr>
          <a:xfrm>
            <a:off x="4216400" y="3175000"/>
            <a:ext cx="635000" cy="635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1B7F8E8-9BE9-D349-911E-E9D25E2F08D5}"/>
              </a:ext>
            </a:extLst>
          </p:cNvPr>
          <p:cNvSpPr txBox="1"/>
          <p:nvPr/>
        </p:nvSpPr>
        <p:spPr>
          <a:xfrm>
            <a:off x="38798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Ingestion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DA4164C-3079-674D-8A3F-430098B767A7}"/>
              </a:ext>
            </a:extLst>
          </p:cNvPr>
          <p:cNvSpPr txBox="1"/>
          <p:nvPr/>
        </p:nvSpPr>
        <p:spPr>
          <a:xfrm>
            <a:off x="38798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AWS Lambda / Kinesis</a:t>
            </a:r>
          </a:p>
        </p:txBody>
      </p:sp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683BA1DD-2C88-A94A-A2D5-E51C5C12B3E3}"/>
              </a:ext>
            </a:extLst>
          </p:cNvPr>
          <p:cNvSpPr/>
          <p:nvPr/>
        </p:nvSpPr>
        <p:spPr>
          <a:xfrm>
            <a:off x="52387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7E13210-EEEA-6240-A2C7-A75AEBF7D4D8}"/>
              </a:ext>
            </a:extLst>
          </p:cNvPr>
          <p:cNvSpPr/>
          <p:nvPr/>
        </p:nvSpPr>
        <p:spPr>
          <a:xfrm>
            <a:off x="53657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E3FAD507-25D1-0943-91D8-BB85B81C8FE5}"/>
              </a:ext>
            </a:extLst>
          </p:cNvPr>
          <p:cNvSpPr/>
          <p:nvPr/>
        </p:nvSpPr>
        <p:spPr>
          <a:xfrm>
            <a:off x="5778500" y="3175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30FDE4F-F469-2547-B530-63A4AA43A398}"/>
              </a:ext>
            </a:extLst>
          </p:cNvPr>
          <p:cNvSpPr txBox="1"/>
          <p:nvPr/>
        </p:nvSpPr>
        <p:spPr>
          <a:xfrm>
            <a:off x="54419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Streaming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10C0E65-6192-F645-9F1E-244BC1137303}"/>
              </a:ext>
            </a:extLst>
          </p:cNvPr>
          <p:cNvSpPr txBox="1"/>
          <p:nvPr/>
        </p:nvSpPr>
        <p:spPr>
          <a:xfrm>
            <a:off x="54419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Amazon MSK</a:t>
            </a:r>
          </a:p>
        </p:txBody>
      </p:sp>
      <p:sp>
        <p:nvSpPr>
          <p:cNvPr id="31" name="Flèche vers la droite 30">
            <a:extLst>
              <a:ext uri="{FF2B5EF4-FFF2-40B4-BE49-F238E27FC236}">
                <a16:creationId xmlns:a16="http://schemas.microsoft.com/office/drawing/2014/main" id="{E8D56E31-F9BD-C541-946D-7B9C9D26C9A1}"/>
              </a:ext>
            </a:extLst>
          </p:cNvPr>
          <p:cNvSpPr/>
          <p:nvPr/>
        </p:nvSpPr>
        <p:spPr>
          <a:xfrm>
            <a:off x="68008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97BA76C-D4DD-A14C-871E-5681EBB06754}"/>
              </a:ext>
            </a:extLst>
          </p:cNvPr>
          <p:cNvSpPr/>
          <p:nvPr/>
        </p:nvSpPr>
        <p:spPr>
          <a:xfrm>
            <a:off x="69278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D8A38C1-B863-0B42-B78A-374FF6CE9F31}"/>
              </a:ext>
            </a:extLst>
          </p:cNvPr>
          <p:cNvSpPr/>
          <p:nvPr/>
        </p:nvSpPr>
        <p:spPr>
          <a:xfrm>
            <a:off x="7340600" y="3175000"/>
            <a:ext cx="635000" cy="635000"/>
          </a:xfrm>
          <a:prstGeom prst="ellipse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B6EF86E-36C4-7649-AAF6-A99E1FB4A427}"/>
              </a:ext>
            </a:extLst>
          </p:cNvPr>
          <p:cNvSpPr txBox="1"/>
          <p:nvPr/>
        </p:nvSpPr>
        <p:spPr>
          <a:xfrm>
            <a:off x="70040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Traitement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342849A-0C64-EC43-A78D-F23E64A82C91}"/>
              </a:ext>
            </a:extLst>
          </p:cNvPr>
          <p:cNvSpPr txBox="1"/>
          <p:nvPr/>
        </p:nvSpPr>
        <p:spPr>
          <a:xfrm>
            <a:off x="70040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Amazon EMR + PySpark</a:t>
            </a:r>
          </a:p>
        </p:txBody>
      </p:sp>
      <p:sp>
        <p:nvSpPr>
          <p:cNvPr id="36" name="Flèche vers la droite 35">
            <a:extLst>
              <a:ext uri="{FF2B5EF4-FFF2-40B4-BE49-F238E27FC236}">
                <a16:creationId xmlns:a16="http://schemas.microsoft.com/office/drawing/2014/main" id="{A9481752-06A4-4546-A849-CD5357C5F76F}"/>
              </a:ext>
            </a:extLst>
          </p:cNvPr>
          <p:cNvSpPr/>
          <p:nvPr/>
        </p:nvSpPr>
        <p:spPr>
          <a:xfrm>
            <a:off x="83629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CEF2391-BD07-E546-AE37-7596EBC00EAE}"/>
              </a:ext>
            </a:extLst>
          </p:cNvPr>
          <p:cNvSpPr/>
          <p:nvPr/>
        </p:nvSpPr>
        <p:spPr>
          <a:xfrm>
            <a:off x="84899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E1C1BF2-923E-D048-8BBB-013D36E348F4}"/>
              </a:ext>
            </a:extLst>
          </p:cNvPr>
          <p:cNvSpPr/>
          <p:nvPr/>
        </p:nvSpPr>
        <p:spPr>
          <a:xfrm>
            <a:off x="8902700" y="3175000"/>
            <a:ext cx="635000" cy="635000"/>
          </a:xfrm>
          <a:prstGeom prst="ellipse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2B83287-B8CC-CC41-9844-F38BA5C94322}"/>
              </a:ext>
            </a:extLst>
          </p:cNvPr>
          <p:cNvSpPr txBox="1"/>
          <p:nvPr/>
        </p:nvSpPr>
        <p:spPr>
          <a:xfrm>
            <a:off x="85661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Stockage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EE05840-98F2-D74C-8C4E-E6AE831FD8CB}"/>
              </a:ext>
            </a:extLst>
          </p:cNvPr>
          <p:cNvSpPr txBox="1"/>
          <p:nvPr/>
        </p:nvSpPr>
        <p:spPr>
          <a:xfrm>
            <a:off x="85661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Amazon S3</a:t>
            </a:r>
          </a:p>
        </p:txBody>
      </p:sp>
      <p:sp>
        <p:nvSpPr>
          <p:cNvPr id="41" name="Flèche vers la droite 40">
            <a:extLst>
              <a:ext uri="{FF2B5EF4-FFF2-40B4-BE49-F238E27FC236}">
                <a16:creationId xmlns:a16="http://schemas.microsoft.com/office/drawing/2014/main" id="{226C8A47-B216-FE46-A6F6-35B84051A12E}"/>
              </a:ext>
            </a:extLst>
          </p:cNvPr>
          <p:cNvSpPr/>
          <p:nvPr/>
        </p:nvSpPr>
        <p:spPr>
          <a:xfrm>
            <a:off x="9925050" y="3365500"/>
            <a:ext cx="152400" cy="228600"/>
          </a:xfrm>
          <a:prstGeom prst="rightArrow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DBF54405-E045-394A-96A1-AF1D439C14BA}"/>
              </a:ext>
            </a:extLst>
          </p:cNvPr>
          <p:cNvSpPr/>
          <p:nvPr/>
        </p:nvSpPr>
        <p:spPr>
          <a:xfrm>
            <a:off x="10052050" y="2921000"/>
            <a:ext cx="1460500" cy="292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7E775665-F482-FC46-89A8-41C889E88B44}"/>
              </a:ext>
            </a:extLst>
          </p:cNvPr>
          <p:cNvSpPr/>
          <p:nvPr/>
        </p:nvSpPr>
        <p:spPr>
          <a:xfrm>
            <a:off x="10464800" y="3175000"/>
            <a:ext cx="635000" cy="6350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05A8CA8-F08A-D94C-9564-FA5677CD9CAF}"/>
              </a:ext>
            </a:extLst>
          </p:cNvPr>
          <p:cNvSpPr txBox="1"/>
          <p:nvPr/>
        </p:nvSpPr>
        <p:spPr>
          <a:xfrm>
            <a:off x="10128250" y="4000500"/>
            <a:ext cx="1308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Analyse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930151FA-4A20-5A43-8064-A8E3ABCFB36F}"/>
              </a:ext>
            </a:extLst>
          </p:cNvPr>
          <p:cNvSpPr txBox="1"/>
          <p:nvPr/>
        </p:nvSpPr>
        <p:spPr>
          <a:xfrm>
            <a:off x="10128250" y="4445000"/>
            <a:ext cx="1308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555555"/>
                </a:solidFill>
              </a:rPr>
              <a:t>Amazon Redshift</a:t>
            </a:r>
          </a:p>
        </p:txBody>
      </p:sp>
    </p:spTree>
    <p:extLst>
      <p:ext uri="{BB962C8B-B14F-4D97-AF65-F5344CB8AC3E}">
        <p14:creationId xmlns:p14="http://schemas.microsoft.com/office/powerpoint/2010/main" val="3327391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7019B-0EC7-F85D-817E-BD00A57A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1D91BE-41C4-044B-B79E-6FFD2EA9C54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9D480C7-DCE0-F74A-A268-C46D0E90F156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04 · ARCHITECTURE HYBRIDE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8A8E3A7-3D6C-564F-8B5A-9B0AE536B123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Services AWS utilisés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E8124-9C2F-A643-902C-61F68864B651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694BEBB-4181-E946-B584-99EF8EFCC3E7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16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D50D30-5BA3-164E-A856-E3BE027FEB36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Stack AWS managé pour chaque étape du pipeline.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AC8B151-C0ED-BE4B-9D8A-E7E9FB10B828}"/>
              </a:ext>
            </a:extLst>
          </p:cNvPr>
          <p:cNvSpPr/>
          <p:nvPr/>
        </p:nvSpPr>
        <p:spPr>
          <a:xfrm>
            <a:off x="730250" y="28575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0E00F71-C36D-1848-895D-828B4467752A}"/>
              </a:ext>
            </a:extLst>
          </p:cNvPr>
          <p:cNvSpPr/>
          <p:nvPr/>
        </p:nvSpPr>
        <p:spPr>
          <a:xfrm>
            <a:off x="920750" y="3175000"/>
            <a:ext cx="698500" cy="6985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l-GR" sz="2600" b="1">
                <a:solidFill>
                  <a:srgbClr val="FFFFFF"/>
                </a:solidFill>
              </a:rPr>
              <a:t>λ</a:t>
            </a:r>
            <a:endParaRPr lang="fr-FR" sz="2600" b="1">
              <a:solidFill>
                <a:srgbClr val="FFFFFF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A60DDC5-479B-4F40-9B09-89225EA6C4E8}"/>
              </a:ext>
            </a:extLst>
          </p:cNvPr>
          <p:cNvSpPr txBox="1"/>
          <p:nvPr/>
        </p:nvSpPr>
        <p:spPr>
          <a:xfrm>
            <a:off x="1746250" y="31369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Lambda / Kinesis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DBE2D72-A620-A344-BDAF-AF6B8BA63030}"/>
              </a:ext>
            </a:extLst>
          </p:cNvPr>
          <p:cNvSpPr txBox="1"/>
          <p:nvPr/>
        </p:nvSpPr>
        <p:spPr>
          <a:xfrm>
            <a:off x="1746250" y="35179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Ingestion temps réel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93B9869-F7DF-F946-83E9-C38E5086AE8A}"/>
              </a:ext>
            </a:extLst>
          </p:cNvPr>
          <p:cNvSpPr/>
          <p:nvPr/>
        </p:nvSpPr>
        <p:spPr>
          <a:xfrm>
            <a:off x="3460750" y="28575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D3D4790-C2CC-5944-8F68-48BD1FEC1077}"/>
              </a:ext>
            </a:extLst>
          </p:cNvPr>
          <p:cNvSpPr/>
          <p:nvPr/>
        </p:nvSpPr>
        <p:spPr>
          <a:xfrm>
            <a:off x="3651250" y="3175000"/>
            <a:ext cx="698500" cy="6985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≋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B98C551-E49B-824C-BEC9-422E54C30A7F}"/>
              </a:ext>
            </a:extLst>
          </p:cNvPr>
          <p:cNvSpPr txBox="1"/>
          <p:nvPr/>
        </p:nvSpPr>
        <p:spPr>
          <a:xfrm>
            <a:off x="4476750" y="31369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Amazon MSK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C675069-18F6-A04A-966D-8B4148A992FB}"/>
              </a:ext>
            </a:extLst>
          </p:cNvPr>
          <p:cNvSpPr txBox="1"/>
          <p:nvPr/>
        </p:nvSpPr>
        <p:spPr>
          <a:xfrm>
            <a:off x="4476750" y="35179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Streaming Kafka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2C51812-C909-D648-A3E0-1EA20B4AE5EB}"/>
              </a:ext>
            </a:extLst>
          </p:cNvPr>
          <p:cNvSpPr/>
          <p:nvPr/>
        </p:nvSpPr>
        <p:spPr>
          <a:xfrm>
            <a:off x="6191250" y="28575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49034A5-B0FC-9148-8A37-1176150B20C8}"/>
              </a:ext>
            </a:extLst>
          </p:cNvPr>
          <p:cNvSpPr/>
          <p:nvPr/>
        </p:nvSpPr>
        <p:spPr>
          <a:xfrm>
            <a:off x="6381750" y="3175000"/>
            <a:ext cx="698500" cy="698500"/>
          </a:xfrm>
          <a:prstGeom prst="round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142D960-D0F7-344F-8971-0B7BA768D736}"/>
              </a:ext>
            </a:extLst>
          </p:cNvPr>
          <p:cNvSpPr txBox="1"/>
          <p:nvPr/>
        </p:nvSpPr>
        <p:spPr>
          <a:xfrm>
            <a:off x="7207250" y="31369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Amazon EMR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8A0D60F-4524-D843-8C0D-2BFB5695DD88}"/>
              </a:ext>
            </a:extLst>
          </p:cNvPr>
          <p:cNvSpPr txBox="1"/>
          <p:nvPr/>
        </p:nvSpPr>
        <p:spPr>
          <a:xfrm>
            <a:off x="7207250" y="35179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Traitement Spark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5243B44-30C1-D545-B9E6-7028BA64C36F}"/>
              </a:ext>
            </a:extLst>
          </p:cNvPr>
          <p:cNvSpPr/>
          <p:nvPr/>
        </p:nvSpPr>
        <p:spPr>
          <a:xfrm>
            <a:off x="8921750" y="28575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623FD9B-FF68-D346-9807-DF94981078F0}"/>
              </a:ext>
            </a:extLst>
          </p:cNvPr>
          <p:cNvSpPr/>
          <p:nvPr/>
        </p:nvSpPr>
        <p:spPr>
          <a:xfrm>
            <a:off x="9112250" y="3175000"/>
            <a:ext cx="698500" cy="6985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☁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045FA-E551-2E4A-8791-3FC18BBF9B20}"/>
              </a:ext>
            </a:extLst>
          </p:cNvPr>
          <p:cNvSpPr txBox="1"/>
          <p:nvPr/>
        </p:nvSpPr>
        <p:spPr>
          <a:xfrm>
            <a:off x="9937750" y="31369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Amazon S3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D2734F1-C964-184F-91EB-2EB168F7651D}"/>
              </a:ext>
            </a:extLst>
          </p:cNvPr>
          <p:cNvSpPr txBox="1"/>
          <p:nvPr/>
        </p:nvSpPr>
        <p:spPr>
          <a:xfrm>
            <a:off x="9937750" y="35179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Data Lake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F446C18-F3C0-0A48-A112-77D39F1CF51C}"/>
              </a:ext>
            </a:extLst>
          </p:cNvPr>
          <p:cNvSpPr/>
          <p:nvPr/>
        </p:nvSpPr>
        <p:spPr>
          <a:xfrm>
            <a:off x="730250" y="43434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8E79C97-1B48-2A4A-9F4F-61A80AFF1D4F}"/>
              </a:ext>
            </a:extLst>
          </p:cNvPr>
          <p:cNvSpPr/>
          <p:nvPr/>
        </p:nvSpPr>
        <p:spPr>
          <a:xfrm>
            <a:off x="920750" y="4660900"/>
            <a:ext cx="698500" cy="6985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▤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786D742-BB2D-8E4F-8D16-27D0C8728067}"/>
              </a:ext>
            </a:extLst>
          </p:cNvPr>
          <p:cNvSpPr txBox="1"/>
          <p:nvPr/>
        </p:nvSpPr>
        <p:spPr>
          <a:xfrm>
            <a:off x="1746250" y="46228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Amazon Redshift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0A60B57-1EDD-2A45-86FF-2D469A9CB3BE}"/>
              </a:ext>
            </a:extLst>
          </p:cNvPr>
          <p:cNvSpPr txBox="1"/>
          <p:nvPr/>
        </p:nvSpPr>
        <p:spPr>
          <a:xfrm>
            <a:off x="1746250" y="50038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Analyse SQL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65BAFED-DE4A-6F40-98CA-8224D5333A66}"/>
              </a:ext>
            </a:extLst>
          </p:cNvPr>
          <p:cNvSpPr/>
          <p:nvPr/>
        </p:nvSpPr>
        <p:spPr>
          <a:xfrm>
            <a:off x="3460750" y="43434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B392A52-77E4-394A-84B5-B206A127A8DE}"/>
              </a:ext>
            </a:extLst>
          </p:cNvPr>
          <p:cNvSpPr/>
          <p:nvPr/>
        </p:nvSpPr>
        <p:spPr>
          <a:xfrm>
            <a:off x="3651250" y="4660900"/>
            <a:ext cx="698500" cy="698500"/>
          </a:xfrm>
          <a:prstGeom prst="roundRect">
            <a:avLst/>
          </a:prstGeom>
          <a:solidFill>
            <a:srgbClr val="2E5A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⇆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FC96DB5-FC29-964D-A158-D8EA9167EEBB}"/>
              </a:ext>
            </a:extLst>
          </p:cNvPr>
          <p:cNvSpPr txBox="1"/>
          <p:nvPr/>
        </p:nvSpPr>
        <p:spPr>
          <a:xfrm>
            <a:off x="4476750" y="46228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AWS DMS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025AB81-3A05-874F-9A2E-D6E054688885}"/>
              </a:ext>
            </a:extLst>
          </p:cNvPr>
          <p:cNvSpPr txBox="1"/>
          <p:nvPr/>
        </p:nvSpPr>
        <p:spPr>
          <a:xfrm>
            <a:off x="4476750" y="50038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Sync SQL Server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F8E0EA3E-EE99-1048-9235-3D7A04B320E6}"/>
              </a:ext>
            </a:extLst>
          </p:cNvPr>
          <p:cNvSpPr/>
          <p:nvPr/>
        </p:nvSpPr>
        <p:spPr>
          <a:xfrm>
            <a:off x="6191250" y="43434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20EAD934-1ABD-AF42-AFA9-31765B32FAB5}"/>
              </a:ext>
            </a:extLst>
          </p:cNvPr>
          <p:cNvSpPr/>
          <p:nvPr/>
        </p:nvSpPr>
        <p:spPr>
          <a:xfrm>
            <a:off x="6381750" y="4660900"/>
            <a:ext cx="698500" cy="6985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424E58B-25DF-844A-AC03-D9447E6FDE51}"/>
              </a:ext>
            </a:extLst>
          </p:cNvPr>
          <p:cNvSpPr txBox="1"/>
          <p:nvPr/>
        </p:nvSpPr>
        <p:spPr>
          <a:xfrm>
            <a:off x="7207250" y="46228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IAM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FFD3E88-ED11-2145-BB1E-F15C1BCE7C4C}"/>
              </a:ext>
            </a:extLst>
          </p:cNvPr>
          <p:cNvSpPr txBox="1"/>
          <p:nvPr/>
        </p:nvSpPr>
        <p:spPr>
          <a:xfrm>
            <a:off x="7207250" y="50038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Sécurité &amp; accès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5C0E27BF-DCBB-8945-BDA6-9FA9CEE77341}"/>
              </a:ext>
            </a:extLst>
          </p:cNvPr>
          <p:cNvSpPr/>
          <p:nvPr/>
        </p:nvSpPr>
        <p:spPr>
          <a:xfrm>
            <a:off x="8921750" y="4343400"/>
            <a:ext cx="2540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FD838A63-0CC8-8443-9E7E-5BFE0A9AF7D9}"/>
              </a:ext>
            </a:extLst>
          </p:cNvPr>
          <p:cNvSpPr/>
          <p:nvPr/>
        </p:nvSpPr>
        <p:spPr>
          <a:xfrm>
            <a:off x="9112250" y="4660900"/>
            <a:ext cx="698500" cy="698500"/>
          </a:xfrm>
          <a:prstGeom prst="roundRect">
            <a:avLst/>
          </a:prstGeom>
          <a:solidFill>
            <a:srgbClr val="4A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600" b="1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E86FC9B-E985-9D46-A72A-B535B7438B12}"/>
              </a:ext>
            </a:extLst>
          </p:cNvPr>
          <p:cNvSpPr txBox="1"/>
          <p:nvPr/>
        </p:nvSpPr>
        <p:spPr>
          <a:xfrm>
            <a:off x="9937750" y="4622800"/>
            <a:ext cx="139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0B2545"/>
                </a:solidFill>
              </a:rPr>
              <a:t>CloudWatch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42BD374-9B26-6E4C-92E8-9BCF6B029A5D}"/>
              </a:ext>
            </a:extLst>
          </p:cNvPr>
          <p:cNvSpPr txBox="1"/>
          <p:nvPr/>
        </p:nvSpPr>
        <p:spPr>
          <a:xfrm>
            <a:off x="9937750" y="5003800"/>
            <a:ext cx="139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4169062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FC6E9-8AA6-8D1B-C977-9DAEF9CA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15670F-8E6B-8647-957F-DBE92AE56510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34FCAC4-8F8F-8F40-ACA2-CD7996E22BD6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C9A9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05 · ÉVALUATION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686B2D7-E839-4D4F-B1DA-DCABB104BFC7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Sécurité et conformité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4102A-9B87-1E45-B3A8-1853650D50A7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777107E-BB07-A741-9BA7-F1DDEAEC6DD8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17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1D66E4-2D97-1A4E-9126-13B5FF1731F1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Protection des données et conformité des accès.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7689EBE-2A5E-024F-B1A7-CB2067DEDCF2}"/>
              </a:ext>
            </a:extLst>
          </p:cNvPr>
          <p:cNvSpPr txBox="1"/>
          <p:nvPr/>
        </p:nvSpPr>
        <p:spPr>
          <a:xfrm>
            <a:off x="635000" y="29210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MÉCANISMES PROPOSÉS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1EABBF7-7524-7F46-A6BB-26D68271777F}"/>
              </a:ext>
            </a:extLst>
          </p:cNvPr>
          <p:cNvSpPr/>
          <p:nvPr/>
        </p:nvSpPr>
        <p:spPr>
          <a:xfrm>
            <a:off x="635000" y="3302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2D4843E-47EC-5B42-BCB8-5AA7C89AFF51}"/>
              </a:ext>
            </a:extLst>
          </p:cNvPr>
          <p:cNvSpPr/>
          <p:nvPr/>
        </p:nvSpPr>
        <p:spPr>
          <a:xfrm>
            <a:off x="762000" y="3378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C49FBB-2956-374D-9765-38E2D0A5111A}"/>
              </a:ext>
            </a:extLst>
          </p:cNvPr>
          <p:cNvSpPr txBox="1"/>
          <p:nvPr/>
        </p:nvSpPr>
        <p:spPr>
          <a:xfrm>
            <a:off x="1206500" y="3302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Chiffrement des échanges via SSL/TLS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39FBE22-E82A-CC45-AA8C-D55B6096517F}"/>
              </a:ext>
            </a:extLst>
          </p:cNvPr>
          <p:cNvSpPr/>
          <p:nvPr/>
        </p:nvSpPr>
        <p:spPr>
          <a:xfrm>
            <a:off x="635000" y="3810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99F4FE-15B6-5049-AA9B-792AC58A10C1}"/>
              </a:ext>
            </a:extLst>
          </p:cNvPr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BCA9734-E829-1644-A44D-C48EFD87311D}"/>
              </a:ext>
            </a:extLst>
          </p:cNvPr>
          <p:cNvSpPr txBox="1"/>
          <p:nvPr/>
        </p:nvSpPr>
        <p:spPr>
          <a:xfrm>
            <a:off x="1206500" y="3810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Connexion sécurisée VPN IPSec / AWS Direct Connect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52E5A8F-4272-D343-82F8-E5C13F8FA213}"/>
              </a:ext>
            </a:extLst>
          </p:cNvPr>
          <p:cNvSpPr/>
          <p:nvPr/>
        </p:nvSpPr>
        <p:spPr>
          <a:xfrm>
            <a:off x="635000" y="4318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7745873-F17F-9B4F-97F6-3D0C1D5F658D}"/>
              </a:ext>
            </a:extLst>
          </p:cNvPr>
          <p:cNvSpPr/>
          <p:nvPr/>
        </p:nvSpPr>
        <p:spPr>
          <a:xfrm>
            <a:off x="762000" y="4394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3433378-626C-5A47-8B3D-F2BAF21DCE82}"/>
              </a:ext>
            </a:extLst>
          </p:cNvPr>
          <p:cNvSpPr txBox="1"/>
          <p:nvPr/>
        </p:nvSpPr>
        <p:spPr>
          <a:xfrm>
            <a:off x="1206500" y="4318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Gestion centralisée des accès avec IAM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525FE99-B403-6B45-A8B8-E6C30F599D48}"/>
              </a:ext>
            </a:extLst>
          </p:cNvPr>
          <p:cNvSpPr/>
          <p:nvPr/>
        </p:nvSpPr>
        <p:spPr>
          <a:xfrm>
            <a:off x="635000" y="4826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D330721-80A4-384A-8F57-7504C793F53C}"/>
              </a:ext>
            </a:extLst>
          </p:cNvPr>
          <p:cNvSpPr/>
          <p:nvPr/>
        </p:nvSpPr>
        <p:spPr>
          <a:xfrm>
            <a:off x="762000" y="4902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0B30A3E-4D0B-1446-AE74-4A0EB58FFF67}"/>
              </a:ext>
            </a:extLst>
          </p:cNvPr>
          <p:cNvSpPr txBox="1"/>
          <p:nvPr/>
        </p:nvSpPr>
        <p:spPr>
          <a:xfrm>
            <a:off x="1206500" y="4826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Intégration avec Active Directory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4A84D02-29CF-8649-AB2D-94FE139B3327}"/>
              </a:ext>
            </a:extLst>
          </p:cNvPr>
          <p:cNvSpPr/>
          <p:nvPr/>
        </p:nvSpPr>
        <p:spPr>
          <a:xfrm>
            <a:off x="635000" y="5334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F38E0D8-CDFB-1C4A-82E8-97B0A091A392}"/>
              </a:ext>
            </a:extLst>
          </p:cNvPr>
          <p:cNvSpPr/>
          <p:nvPr/>
        </p:nvSpPr>
        <p:spPr>
          <a:xfrm>
            <a:off x="762000" y="5410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E45F05A-7E78-7C42-B834-F8C2F1D8CCC4}"/>
              </a:ext>
            </a:extLst>
          </p:cNvPr>
          <p:cNvSpPr txBox="1"/>
          <p:nvPr/>
        </p:nvSpPr>
        <p:spPr>
          <a:xfrm>
            <a:off x="1206500" y="5334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Contrôle des permissions utilisateurs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230251D-B782-D247-A099-968899F2B1BF}"/>
              </a:ext>
            </a:extLst>
          </p:cNvPr>
          <p:cNvSpPr/>
          <p:nvPr/>
        </p:nvSpPr>
        <p:spPr>
          <a:xfrm>
            <a:off x="8128000" y="2921000"/>
            <a:ext cx="3429000" cy="3048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37C525F-09C0-EE44-95AD-3C178425B084}"/>
              </a:ext>
            </a:extLst>
          </p:cNvPr>
          <p:cNvSpPr txBox="1"/>
          <p:nvPr/>
        </p:nvSpPr>
        <p:spPr>
          <a:xfrm>
            <a:off x="8382000" y="3238500"/>
            <a:ext cx="292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RÉSULTAT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063D4BA-E104-884E-8A8D-BBD37FF0B6AF}"/>
              </a:ext>
            </a:extLst>
          </p:cNvPr>
          <p:cNvSpPr txBox="1"/>
          <p:nvPr/>
        </p:nvSpPr>
        <p:spPr>
          <a:xfrm>
            <a:off x="8382000" y="36830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FFFFFF"/>
                </a:solidFill>
              </a:rPr>
              <a:t>Protection des données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4418D03-B422-BA41-A91B-BB58A54AA345}"/>
              </a:ext>
            </a:extLst>
          </p:cNvPr>
          <p:cNvSpPr txBox="1"/>
          <p:nvPr/>
        </p:nvSpPr>
        <p:spPr>
          <a:xfrm>
            <a:off x="8382000" y="52705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>
                <a:solidFill>
                  <a:srgbClr val="DCE8F5"/>
                </a:solidFill>
              </a:rPr>
              <a:t>Conformité garantie sur l'ensemble des accès</a:t>
            </a:r>
          </a:p>
        </p:txBody>
      </p:sp>
    </p:spTree>
    <p:extLst>
      <p:ext uri="{BB962C8B-B14F-4D97-AF65-F5344CB8AC3E}">
        <p14:creationId xmlns:p14="http://schemas.microsoft.com/office/powerpoint/2010/main" val="1894987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23A5F-3E09-A251-5934-DA88D7D3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816D22-1709-5D42-81F1-C0062259855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51B69E8-A1F9-D24A-92A9-3D46B6E0FA57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C9A9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05 · ÉVALUATION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35217E2-277B-0B46-94B0-EC15F732915F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Interopérabilité avec le système existant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600F1F-AA88-5646-B0EC-338D54BCA5D8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069DF8-FF03-0F4D-BD71-9984E9B08C65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18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BE0ADC-5992-924E-9855-574665891AEA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Transition progressive sans remplacement complet du SI.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27C6AC5-F534-8F4F-8A21-EC59B78F6FEC}"/>
              </a:ext>
            </a:extLst>
          </p:cNvPr>
          <p:cNvSpPr txBox="1"/>
          <p:nvPr/>
        </p:nvSpPr>
        <p:spPr>
          <a:xfrm>
            <a:off x="635000" y="29210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MÉCANISMES PROPOSÉS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A1BE1E0-8C2A-C549-9FF8-79334F2BD9C9}"/>
              </a:ext>
            </a:extLst>
          </p:cNvPr>
          <p:cNvSpPr/>
          <p:nvPr/>
        </p:nvSpPr>
        <p:spPr>
          <a:xfrm>
            <a:off x="635000" y="3302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F1B362C-DF86-1040-816A-B0CB1ECC7104}"/>
              </a:ext>
            </a:extLst>
          </p:cNvPr>
          <p:cNvSpPr/>
          <p:nvPr/>
        </p:nvSpPr>
        <p:spPr>
          <a:xfrm>
            <a:off x="762000" y="3378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B9B338F-7C93-1F4A-B832-E9344229B3A3}"/>
              </a:ext>
            </a:extLst>
          </p:cNvPr>
          <p:cNvSpPr txBox="1"/>
          <p:nvPr/>
        </p:nvSpPr>
        <p:spPr>
          <a:xfrm>
            <a:off x="1206500" y="3302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Connexion aux systèmes ERP / CRM SQL Server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660F2B2-1F0B-F746-9AAE-C73A23BF3CF1}"/>
              </a:ext>
            </a:extLst>
          </p:cNvPr>
          <p:cNvSpPr/>
          <p:nvPr/>
        </p:nvSpPr>
        <p:spPr>
          <a:xfrm>
            <a:off x="635000" y="3810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9AA5C39-82EF-414F-A8F5-A4240B7F737C}"/>
              </a:ext>
            </a:extLst>
          </p:cNvPr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B7CC6FE-ED6D-C047-8245-43FA07844140}"/>
              </a:ext>
            </a:extLst>
          </p:cNvPr>
          <p:cNvSpPr txBox="1"/>
          <p:nvPr/>
        </p:nvSpPr>
        <p:spPr>
          <a:xfrm>
            <a:off x="1206500" y="3810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Synchronisation via AWS DMS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B1C8F87-7159-C541-A059-ACFC1493B58E}"/>
              </a:ext>
            </a:extLst>
          </p:cNvPr>
          <p:cNvSpPr/>
          <p:nvPr/>
        </p:nvSpPr>
        <p:spPr>
          <a:xfrm>
            <a:off x="635000" y="4318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793884E-168B-0C4B-A14D-61DFA0F653A6}"/>
              </a:ext>
            </a:extLst>
          </p:cNvPr>
          <p:cNvSpPr/>
          <p:nvPr/>
        </p:nvSpPr>
        <p:spPr>
          <a:xfrm>
            <a:off x="762000" y="4394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35FBBA-8723-4C48-BFE4-066596FDD7CD}"/>
              </a:ext>
            </a:extLst>
          </p:cNvPr>
          <p:cNvSpPr txBox="1"/>
          <p:nvPr/>
        </p:nvSpPr>
        <p:spPr>
          <a:xfrm>
            <a:off x="1206500" y="4318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Conservation des ressources on-premise existantes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4F069E8-70BE-D341-8812-008215C34E6B}"/>
              </a:ext>
            </a:extLst>
          </p:cNvPr>
          <p:cNvSpPr/>
          <p:nvPr/>
        </p:nvSpPr>
        <p:spPr>
          <a:xfrm>
            <a:off x="635000" y="4826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7924784-63C9-9D4B-BF38-B629B01A52F5}"/>
              </a:ext>
            </a:extLst>
          </p:cNvPr>
          <p:cNvSpPr/>
          <p:nvPr/>
        </p:nvSpPr>
        <p:spPr>
          <a:xfrm>
            <a:off x="762000" y="4902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089A791-234E-4644-94F0-584ED4F125A9}"/>
              </a:ext>
            </a:extLst>
          </p:cNvPr>
          <p:cNvSpPr txBox="1"/>
          <p:nvPr/>
        </p:nvSpPr>
        <p:spPr>
          <a:xfrm>
            <a:off x="1206500" y="4826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Intégration progressive vers le cloud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413ED71-A893-4047-A597-05CB4F20DCCF}"/>
              </a:ext>
            </a:extLst>
          </p:cNvPr>
          <p:cNvSpPr/>
          <p:nvPr/>
        </p:nvSpPr>
        <p:spPr>
          <a:xfrm>
            <a:off x="635000" y="5334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AD66429-6776-D441-B54C-813045DB785E}"/>
              </a:ext>
            </a:extLst>
          </p:cNvPr>
          <p:cNvSpPr/>
          <p:nvPr/>
        </p:nvSpPr>
        <p:spPr>
          <a:xfrm>
            <a:off x="762000" y="5410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A94FDB0-35A6-E54B-AF13-338B5ACED2F9}"/>
              </a:ext>
            </a:extLst>
          </p:cNvPr>
          <p:cNvSpPr txBox="1"/>
          <p:nvPr/>
        </p:nvSpPr>
        <p:spPr>
          <a:xfrm>
            <a:off x="1206500" y="5334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Limitation des modifications de l'infrastructure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B8B720C-B152-5845-AE6A-B142CB2E520C}"/>
              </a:ext>
            </a:extLst>
          </p:cNvPr>
          <p:cNvSpPr/>
          <p:nvPr/>
        </p:nvSpPr>
        <p:spPr>
          <a:xfrm>
            <a:off x="8128000" y="2921000"/>
            <a:ext cx="3429000" cy="3048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D2EDF7D-38DC-3D48-BD21-CADD319A43EE}"/>
              </a:ext>
            </a:extLst>
          </p:cNvPr>
          <p:cNvSpPr txBox="1"/>
          <p:nvPr/>
        </p:nvSpPr>
        <p:spPr>
          <a:xfrm>
            <a:off x="8382000" y="3238500"/>
            <a:ext cx="292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RÉSULTAT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37A6663-775C-B243-A9A6-971112D415F0}"/>
              </a:ext>
            </a:extLst>
          </p:cNvPr>
          <p:cNvSpPr txBox="1"/>
          <p:nvPr/>
        </p:nvSpPr>
        <p:spPr>
          <a:xfrm>
            <a:off x="8382000" y="36830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FFFFFF"/>
                </a:solidFill>
              </a:rPr>
              <a:t>Transition fluide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8E8D5B5-5AAD-D045-880F-B4745AB7D667}"/>
              </a:ext>
            </a:extLst>
          </p:cNvPr>
          <p:cNvSpPr txBox="1"/>
          <p:nvPr/>
        </p:nvSpPr>
        <p:spPr>
          <a:xfrm>
            <a:off x="8382000" y="52705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>
                <a:solidFill>
                  <a:srgbClr val="DCE8F5"/>
                </a:solidFill>
              </a:rPr>
              <a:t>Sans remplacement complet du SI existant</a:t>
            </a:r>
          </a:p>
        </p:txBody>
      </p:sp>
    </p:spTree>
    <p:extLst>
      <p:ext uri="{BB962C8B-B14F-4D97-AF65-F5344CB8AC3E}">
        <p14:creationId xmlns:p14="http://schemas.microsoft.com/office/powerpoint/2010/main" val="925065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EB596-2AF8-B334-E2C7-252A6CC5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19720-4BA5-324B-9BEC-47D8C841473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401F02-A129-A340-A779-9AF7D5ECC2FE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C9A9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05 · ÉVALUATION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6646D1D-6F35-3641-9D95-A5597583E675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Scalabilité et performances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B08884-E3B2-CC4E-A957-ECB7B83D8417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784C81-5934-6248-BF06-92CFE6462179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19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DBFB38-3BF1-B64A-9749-C6A618669A03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Une infrastructure capable d'évoluer avec les volumes.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D148323-C406-F34C-8551-E37270382E10}"/>
              </a:ext>
            </a:extLst>
          </p:cNvPr>
          <p:cNvSpPr txBox="1"/>
          <p:nvPr/>
        </p:nvSpPr>
        <p:spPr>
          <a:xfrm>
            <a:off x="635000" y="29210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MÉCANISMES PROPOSÉS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4DF495A-4FE0-F841-AB42-E0B6FEB704B6}"/>
              </a:ext>
            </a:extLst>
          </p:cNvPr>
          <p:cNvSpPr/>
          <p:nvPr/>
        </p:nvSpPr>
        <p:spPr>
          <a:xfrm>
            <a:off x="635000" y="3302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E33F1FD-F3E5-1840-8697-00ACD53A57D1}"/>
              </a:ext>
            </a:extLst>
          </p:cNvPr>
          <p:cNvSpPr/>
          <p:nvPr/>
        </p:nvSpPr>
        <p:spPr>
          <a:xfrm>
            <a:off x="762000" y="3378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3A5F99-AA2A-B940-BB23-F99889813740}"/>
              </a:ext>
            </a:extLst>
          </p:cNvPr>
          <p:cNvSpPr txBox="1"/>
          <p:nvPr/>
        </p:nvSpPr>
        <p:spPr>
          <a:xfrm>
            <a:off x="1206500" y="3302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Ajout dynamique des ressources cloud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5A9DB55-F980-564F-A4EF-13CC161D3960}"/>
              </a:ext>
            </a:extLst>
          </p:cNvPr>
          <p:cNvSpPr/>
          <p:nvPr/>
        </p:nvSpPr>
        <p:spPr>
          <a:xfrm>
            <a:off x="635000" y="3810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47A5877-9113-5547-98E8-8C76F5268F53}"/>
              </a:ext>
            </a:extLst>
          </p:cNvPr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3F293B0-B1F1-EA41-9A30-7F4A56404714}"/>
              </a:ext>
            </a:extLst>
          </p:cNvPr>
          <p:cNvSpPr txBox="1"/>
          <p:nvPr/>
        </p:nvSpPr>
        <p:spPr>
          <a:xfrm>
            <a:off x="1206500" y="3810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Traitement distribué avec EMR + Spark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1423110-0AA8-9B44-9E12-89580ABE6EBB}"/>
              </a:ext>
            </a:extLst>
          </p:cNvPr>
          <p:cNvSpPr/>
          <p:nvPr/>
        </p:nvSpPr>
        <p:spPr>
          <a:xfrm>
            <a:off x="635000" y="4318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2EC8BCB-795A-3F40-8F91-13C656F2EF5A}"/>
              </a:ext>
            </a:extLst>
          </p:cNvPr>
          <p:cNvSpPr/>
          <p:nvPr/>
        </p:nvSpPr>
        <p:spPr>
          <a:xfrm>
            <a:off x="762000" y="4394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4E62ECF-C451-A646-BB54-9F71AB327C78}"/>
              </a:ext>
            </a:extLst>
          </p:cNvPr>
          <p:cNvSpPr txBox="1"/>
          <p:nvPr/>
        </p:nvSpPr>
        <p:spPr>
          <a:xfrm>
            <a:off x="1206500" y="4318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Streaming temps réel avec Amazon MSK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F8B2031-DBDB-A040-863D-AA0DB5E72025}"/>
              </a:ext>
            </a:extLst>
          </p:cNvPr>
          <p:cNvSpPr/>
          <p:nvPr/>
        </p:nvSpPr>
        <p:spPr>
          <a:xfrm>
            <a:off x="635000" y="4826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338049C-019B-F940-B996-0BBD0B27AF38}"/>
              </a:ext>
            </a:extLst>
          </p:cNvPr>
          <p:cNvSpPr/>
          <p:nvPr/>
        </p:nvSpPr>
        <p:spPr>
          <a:xfrm>
            <a:off x="762000" y="4902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6606F17-F05E-FD42-985D-1F4332587953}"/>
              </a:ext>
            </a:extLst>
          </p:cNvPr>
          <p:cNvSpPr txBox="1"/>
          <p:nvPr/>
        </p:nvSpPr>
        <p:spPr>
          <a:xfrm>
            <a:off x="1206500" y="4826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Stockage flexible avec Amazon S3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8B3EA6B-30E2-D841-99CB-00176ECC7A60}"/>
              </a:ext>
            </a:extLst>
          </p:cNvPr>
          <p:cNvSpPr/>
          <p:nvPr/>
        </p:nvSpPr>
        <p:spPr>
          <a:xfrm>
            <a:off x="635000" y="5334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A6C53FC-A24D-7942-AB33-797A033AC0C6}"/>
              </a:ext>
            </a:extLst>
          </p:cNvPr>
          <p:cNvSpPr/>
          <p:nvPr/>
        </p:nvSpPr>
        <p:spPr>
          <a:xfrm>
            <a:off x="762000" y="5410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3D88D7B-CF89-9B4C-9CA8-E35A5D26AFB3}"/>
              </a:ext>
            </a:extLst>
          </p:cNvPr>
          <p:cNvSpPr txBox="1"/>
          <p:nvPr/>
        </p:nvSpPr>
        <p:spPr>
          <a:xfrm>
            <a:off x="1206500" y="5334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Réduction des limites liées aux ressources locales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D0C0AC0-9868-2C40-9225-953D9A6EE23D}"/>
              </a:ext>
            </a:extLst>
          </p:cNvPr>
          <p:cNvSpPr/>
          <p:nvPr/>
        </p:nvSpPr>
        <p:spPr>
          <a:xfrm>
            <a:off x="8128000" y="2921000"/>
            <a:ext cx="3429000" cy="3048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E5A665B-A8E6-C140-BBD2-0C2E81A207B7}"/>
              </a:ext>
            </a:extLst>
          </p:cNvPr>
          <p:cNvSpPr txBox="1"/>
          <p:nvPr/>
        </p:nvSpPr>
        <p:spPr>
          <a:xfrm>
            <a:off x="8382000" y="3238500"/>
            <a:ext cx="292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RÉSULTAT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F5AED3C-035D-5743-9F1D-158785B385B7}"/>
              </a:ext>
            </a:extLst>
          </p:cNvPr>
          <p:cNvSpPr txBox="1"/>
          <p:nvPr/>
        </p:nvSpPr>
        <p:spPr>
          <a:xfrm>
            <a:off x="8382000" y="36830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FFFFFF"/>
                </a:solidFill>
              </a:rPr>
              <a:t>Élasticité totale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7891FC9-7B09-E542-9D4D-410322BD9300}"/>
              </a:ext>
            </a:extLst>
          </p:cNvPr>
          <p:cNvSpPr txBox="1"/>
          <p:nvPr/>
        </p:nvSpPr>
        <p:spPr>
          <a:xfrm>
            <a:off x="8382000" y="52705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>
                <a:solidFill>
                  <a:srgbClr val="DCE8F5"/>
                </a:solidFill>
              </a:rPr>
              <a:t>Supporter sans rupture la croissance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3608287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0B43D-FE5E-378C-B4BD-CA731BC6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F17582-442E-4C48-B039-39914FA764C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D93E8DD-AC93-2A47-8456-468462BDE4FB}"/>
              </a:ext>
            </a:extLst>
          </p:cNvPr>
          <p:cNvSpPr/>
          <p:nvPr/>
        </p:nvSpPr>
        <p:spPr>
          <a:xfrm>
            <a:off x="635000" y="508000"/>
            <a:ext cx="3556000" cy="381000"/>
          </a:xfrm>
          <a:prstGeom prst="roundRect">
            <a:avLst/>
          </a:prstGeom>
          <a:solidFill>
            <a:srgbClr val="C9A9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05 · ÉVALUATION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E1DC02-9F07-C949-AD7F-2299AF35D015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Gestion des coûts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D861B-6872-3243-BD89-08B38D0F825D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564F547-1396-A847-8E3E-1751C1957B56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20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FE5B242-9580-1249-AFB2-8A41FB841721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Modèle économique adapté à l'usage réel des ressources.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36C8C7-8A17-BE45-BDBC-28854C2E7CA1}"/>
              </a:ext>
            </a:extLst>
          </p:cNvPr>
          <p:cNvSpPr txBox="1"/>
          <p:nvPr/>
        </p:nvSpPr>
        <p:spPr>
          <a:xfrm>
            <a:off x="635000" y="29210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OPTIMISATIONS PROPOSÉES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3E86F0C-CCFA-0342-B4FE-5E4C4298D2EC}"/>
              </a:ext>
            </a:extLst>
          </p:cNvPr>
          <p:cNvSpPr/>
          <p:nvPr/>
        </p:nvSpPr>
        <p:spPr>
          <a:xfrm>
            <a:off x="635000" y="3302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C5E3CFE-3ED9-9848-BFE9-7AC5D5FDCB1A}"/>
              </a:ext>
            </a:extLst>
          </p:cNvPr>
          <p:cNvSpPr/>
          <p:nvPr/>
        </p:nvSpPr>
        <p:spPr>
          <a:xfrm>
            <a:off x="762000" y="3378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5200B49-79FB-A749-8259-47A84EBCC4CB}"/>
              </a:ext>
            </a:extLst>
          </p:cNvPr>
          <p:cNvSpPr txBox="1"/>
          <p:nvPr/>
        </p:nvSpPr>
        <p:spPr>
          <a:xfrm>
            <a:off x="1206500" y="3302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Paiement à l'usage des services cloud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B55FB2F-2F5B-F548-B558-3D5CD55D907A}"/>
              </a:ext>
            </a:extLst>
          </p:cNvPr>
          <p:cNvSpPr/>
          <p:nvPr/>
        </p:nvSpPr>
        <p:spPr>
          <a:xfrm>
            <a:off x="635000" y="3810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5C121B2-C802-8647-B949-5764C19BBAB4}"/>
              </a:ext>
            </a:extLst>
          </p:cNvPr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8DA32E2-4207-AA43-9D9E-845585899F32}"/>
              </a:ext>
            </a:extLst>
          </p:cNvPr>
          <p:cNvSpPr txBox="1"/>
          <p:nvPr/>
        </p:nvSpPr>
        <p:spPr>
          <a:xfrm>
            <a:off x="1206500" y="3810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Réduction des investissements matériels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873D79C-0F4D-114B-BC78-0F4525F285F1}"/>
              </a:ext>
            </a:extLst>
          </p:cNvPr>
          <p:cNvSpPr/>
          <p:nvPr/>
        </p:nvSpPr>
        <p:spPr>
          <a:xfrm>
            <a:off x="635000" y="4318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B478B9A-EC40-304A-A40D-BAF4DE8C63D3}"/>
              </a:ext>
            </a:extLst>
          </p:cNvPr>
          <p:cNvSpPr/>
          <p:nvPr/>
        </p:nvSpPr>
        <p:spPr>
          <a:xfrm>
            <a:off x="762000" y="4394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3034CE4-8E03-CF4A-9D2C-68956E6D2682}"/>
              </a:ext>
            </a:extLst>
          </p:cNvPr>
          <p:cNvSpPr txBox="1"/>
          <p:nvPr/>
        </p:nvSpPr>
        <p:spPr>
          <a:xfrm>
            <a:off x="1206500" y="4318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Utilisation de services managés AWS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4E36F23-9D7A-6D4C-A30C-0488B85FA172}"/>
              </a:ext>
            </a:extLst>
          </p:cNvPr>
          <p:cNvSpPr/>
          <p:nvPr/>
        </p:nvSpPr>
        <p:spPr>
          <a:xfrm>
            <a:off x="635000" y="4826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DE4BB1D-0D7B-1642-8357-7C589C5A19A0}"/>
              </a:ext>
            </a:extLst>
          </p:cNvPr>
          <p:cNvSpPr/>
          <p:nvPr/>
        </p:nvSpPr>
        <p:spPr>
          <a:xfrm>
            <a:off x="762000" y="4902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D961085-D3BD-0E47-B622-D4C6B8E44F7B}"/>
              </a:ext>
            </a:extLst>
          </p:cNvPr>
          <p:cNvSpPr txBox="1"/>
          <p:nvPr/>
        </p:nvSpPr>
        <p:spPr>
          <a:xfrm>
            <a:off x="1206500" y="4826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Possibilité d'ajuster les ressources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2E0ADF4-EFFD-2B40-A0FD-2F74AB3541A0}"/>
              </a:ext>
            </a:extLst>
          </p:cNvPr>
          <p:cNvSpPr/>
          <p:nvPr/>
        </p:nvSpPr>
        <p:spPr>
          <a:xfrm>
            <a:off x="635000" y="5334000"/>
            <a:ext cx="7112000" cy="444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0CC9EC1-97EB-DA4D-96D8-840C7AC3BDAC}"/>
              </a:ext>
            </a:extLst>
          </p:cNvPr>
          <p:cNvSpPr/>
          <p:nvPr/>
        </p:nvSpPr>
        <p:spPr>
          <a:xfrm>
            <a:off x="762000" y="5410200"/>
            <a:ext cx="304800" cy="304800"/>
          </a:xfrm>
          <a:prstGeom prst="ellipse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DC54363-AA27-D84F-991F-EAB4ABE85C3E}"/>
              </a:ext>
            </a:extLst>
          </p:cNvPr>
          <p:cNvSpPr txBox="1"/>
          <p:nvPr/>
        </p:nvSpPr>
        <p:spPr>
          <a:xfrm>
            <a:off x="1206500" y="5334000"/>
            <a:ext cx="57785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300">
                <a:solidFill>
                  <a:srgbClr val="0B2545"/>
                </a:solidFill>
              </a:rPr>
              <a:t>Suivi des dépenses via CloudWatch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71EFAA3-450C-6042-A523-70B9FE676321}"/>
              </a:ext>
            </a:extLst>
          </p:cNvPr>
          <p:cNvSpPr/>
          <p:nvPr/>
        </p:nvSpPr>
        <p:spPr>
          <a:xfrm>
            <a:off x="8128000" y="2921000"/>
            <a:ext cx="3429000" cy="3048000"/>
          </a:xfrm>
          <a:prstGeom prst="roundRect">
            <a:avLst/>
          </a:prstGeom>
          <a:solidFill>
            <a:srgbClr val="1B3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9F6BBB8-93FB-9B49-9E0A-9FC401922330}"/>
              </a:ext>
            </a:extLst>
          </p:cNvPr>
          <p:cNvSpPr txBox="1"/>
          <p:nvPr/>
        </p:nvSpPr>
        <p:spPr>
          <a:xfrm>
            <a:off x="8382000" y="3238500"/>
            <a:ext cx="292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A317"/>
                </a:solidFill>
              </a:rPr>
              <a:t>RÉSULTAT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6C7E889-2E6E-1747-958A-914C80F0F01E}"/>
              </a:ext>
            </a:extLst>
          </p:cNvPr>
          <p:cNvSpPr txBox="1"/>
          <p:nvPr/>
        </p:nvSpPr>
        <p:spPr>
          <a:xfrm>
            <a:off x="8382000" y="36830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FFFFFF"/>
                </a:solidFill>
              </a:rPr>
              <a:t>Maîtrise des coûts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2A7F02A-6238-9F40-9629-A9A262158EFD}"/>
              </a:ext>
            </a:extLst>
          </p:cNvPr>
          <p:cNvSpPr txBox="1"/>
          <p:nvPr/>
        </p:nvSpPr>
        <p:spPr>
          <a:xfrm>
            <a:off x="8382000" y="52705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>
                <a:solidFill>
                  <a:srgbClr val="DCE8F5"/>
                </a:solidFill>
              </a:rPr>
              <a:t>Optimisation continue des dépenses d'exploitation</a:t>
            </a:r>
          </a:p>
        </p:txBody>
      </p:sp>
    </p:spTree>
    <p:extLst>
      <p:ext uri="{BB962C8B-B14F-4D97-AF65-F5344CB8AC3E}">
        <p14:creationId xmlns:p14="http://schemas.microsoft.com/office/powerpoint/2010/main" val="983911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E8C15-B528-09AE-6CB4-1D654D85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1661A5-2F0B-3440-ACA6-E83EBAB2E7F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BC2138B-9569-164F-AF09-E74B92175C79}"/>
              </a:ext>
            </a:extLst>
          </p:cNvPr>
          <p:cNvSpPr/>
          <p:nvPr/>
        </p:nvSpPr>
        <p:spPr>
          <a:xfrm>
            <a:off x="635000" y="508000"/>
            <a:ext cx="2794000" cy="381000"/>
          </a:xfrm>
          <a:prstGeom prst="roundRect">
            <a:avLst/>
          </a:prstGeom>
          <a:solidFill>
            <a:srgbClr val="0B254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06 · CONCLUSION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3358361-BDC0-A046-817C-37B15AEE9EF2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Résultats obtenus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A7F1B6-E174-1346-ABB5-5DF0DF952E88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E28276-A23C-5240-BF8B-0CB1443295C8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21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5CAD85-CB94-D24A-82DB-3A361D8BB4AC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Les livrables du projet et ce qui a été démontré.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986D85D-47D9-064D-BA8D-19FA87747E49}"/>
              </a:ext>
            </a:extLst>
          </p:cNvPr>
          <p:cNvSpPr/>
          <p:nvPr/>
        </p:nvSpPr>
        <p:spPr>
          <a:xfrm>
            <a:off x="533400" y="29210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B4D062C-A596-4F48-A8E4-933D6BF49709}"/>
              </a:ext>
            </a:extLst>
          </p:cNvPr>
          <p:cNvSpPr/>
          <p:nvPr/>
        </p:nvSpPr>
        <p:spPr>
          <a:xfrm>
            <a:off x="762000" y="3302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91AF28E-B98B-0B41-92B3-4F2B444B33A4}"/>
              </a:ext>
            </a:extLst>
          </p:cNvPr>
          <p:cNvSpPr txBox="1"/>
          <p:nvPr/>
        </p:nvSpPr>
        <p:spPr>
          <a:xfrm>
            <a:off x="1549400" y="32004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POC local fonctionnel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B442A7-4E15-9C46-9C74-F97C4A611C51}"/>
              </a:ext>
            </a:extLst>
          </p:cNvPr>
          <p:cNvSpPr txBox="1"/>
          <p:nvPr/>
        </p:nvSpPr>
        <p:spPr>
          <a:xfrm>
            <a:off x="1549400" y="36195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Architecture complète opérationnelle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02590B3-7B89-6045-BBAA-3358FAF9E945}"/>
              </a:ext>
            </a:extLst>
          </p:cNvPr>
          <p:cNvSpPr/>
          <p:nvPr/>
        </p:nvSpPr>
        <p:spPr>
          <a:xfrm>
            <a:off x="4318000" y="29210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5D3BB6C-2AA3-7D40-9A6C-2A25BEB8CB37}"/>
              </a:ext>
            </a:extLst>
          </p:cNvPr>
          <p:cNvSpPr/>
          <p:nvPr/>
        </p:nvSpPr>
        <p:spPr>
          <a:xfrm>
            <a:off x="4546600" y="3302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03D6724-9020-514A-8AB4-ACE75E934457}"/>
              </a:ext>
            </a:extLst>
          </p:cNvPr>
          <p:cNvSpPr txBox="1"/>
          <p:nvPr/>
        </p:nvSpPr>
        <p:spPr>
          <a:xfrm>
            <a:off x="5334000" y="32004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Streaming Redpanda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BF80D3D-83C4-534A-A3C7-9DDA264164A1}"/>
              </a:ext>
            </a:extLst>
          </p:cNvPr>
          <p:cNvSpPr txBox="1"/>
          <p:nvPr/>
        </p:nvSpPr>
        <p:spPr>
          <a:xfrm>
            <a:off x="5334000" y="36195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Simulation d'un flux temps réel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AD0B376-4833-9049-A6E7-5CABCFAF8B50}"/>
              </a:ext>
            </a:extLst>
          </p:cNvPr>
          <p:cNvSpPr/>
          <p:nvPr/>
        </p:nvSpPr>
        <p:spPr>
          <a:xfrm>
            <a:off x="8102600" y="29210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867D989-590C-BD44-BFBD-871E9739FA85}"/>
              </a:ext>
            </a:extLst>
          </p:cNvPr>
          <p:cNvSpPr/>
          <p:nvPr/>
        </p:nvSpPr>
        <p:spPr>
          <a:xfrm>
            <a:off x="8331200" y="3302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EE1595B-548B-204C-8A8A-C3C29CF5DC99}"/>
              </a:ext>
            </a:extLst>
          </p:cNvPr>
          <p:cNvSpPr txBox="1"/>
          <p:nvPr/>
        </p:nvSpPr>
        <p:spPr>
          <a:xfrm>
            <a:off x="9118600" y="32004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Traitement PySpark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C89A5FD-E891-7D4A-8639-D30477B16070}"/>
              </a:ext>
            </a:extLst>
          </p:cNvPr>
          <p:cNvSpPr txBox="1"/>
          <p:nvPr/>
        </p:nvSpPr>
        <p:spPr>
          <a:xfrm>
            <a:off x="9118600" y="36195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Données analysées en distribué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7E5F90A-C2BF-CD4A-83CC-884337CE8020}"/>
              </a:ext>
            </a:extLst>
          </p:cNvPr>
          <p:cNvSpPr/>
          <p:nvPr/>
        </p:nvSpPr>
        <p:spPr>
          <a:xfrm>
            <a:off x="533400" y="44704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508F117-6013-D248-BA3A-071C272A3B9B}"/>
              </a:ext>
            </a:extLst>
          </p:cNvPr>
          <p:cNvSpPr/>
          <p:nvPr/>
        </p:nvSpPr>
        <p:spPr>
          <a:xfrm>
            <a:off x="762000" y="48514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06387DC-4C99-124F-9F34-632F03DE6922}"/>
              </a:ext>
            </a:extLst>
          </p:cNvPr>
          <p:cNvSpPr txBox="1"/>
          <p:nvPr/>
        </p:nvSpPr>
        <p:spPr>
          <a:xfrm>
            <a:off x="1549400" y="47498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Export JSON &amp; Parquet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6E720B4-0727-9746-A181-9BA6168A803B}"/>
              </a:ext>
            </a:extLst>
          </p:cNvPr>
          <p:cNvSpPr txBox="1"/>
          <p:nvPr/>
        </p:nvSpPr>
        <p:spPr>
          <a:xfrm>
            <a:off x="1549400" y="51689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Données conservées et exploitables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FCF1FCB9-3C16-C549-9C2C-5AAC0CB72014}"/>
              </a:ext>
            </a:extLst>
          </p:cNvPr>
          <p:cNvSpPr/>
          <p:nvPr/>
        </p:nvSpPr>
        <p:spPr>
          <a:xfrm>
            <a:off x="4318000" y="44704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1145D17E-24B7-3C44-8DA5-1446858D697D}"/>
              </a:ext>
            </a:extLst>
          </p:cNvPr>
          <p:cNvSpPr/>
          <p:nvPr/>
        </p:nvSpPr>
        <p:spPr>
          <a:xfrm>
            <a:off x="4546600" y="48514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4D4474D-58EE-F94D-9E86-CEE348BAF378}"/>
              </a:ext>
            </a:extLst>
          </p:cNvPr>
          <p:cNvSpPr txBox="1"/>
          <p:nvPr/>
        </p:nvSpPr>
        <p:spPr>
          <a:xfrm>
            <a:off x="5334000" y="47498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Architecture hybride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E0F8522-2190-D04A-A94C-4EB4B26BE83D}"/>
              </a:ext>
            </a:extLst>
          </p:cNvPr>
          <p:cNvSpPr txBox="1"/>
          <p:nvPr/>
        </p:nvSpPr>
        <p:spPr>
          <a:xfrm>
            <a:off x="5334000" y="51689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Conception évolutive proposée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7ADED3F-2DEC-4D4B-8DC3-BF0FA9F59720}"/>
              </a:ext>
            </a:extLst>
          </p:cNvPr>
          <p:cNvSpPr/>
          <p:nvPr/>
        </p:nvSpPr>
        <p:spPr>
          <a:xfrm>
            <a:off x="8102600" y="4470400"/>
            <a:ext cx="3556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D3F143D-016D-1141-8E38-8059630BED4B}"/>
              </a:ext>
            </a:extLst>
          </p:cNvPr>
          <p:cNvSpPr/>
          <p:nvPr/>
        </p:nvSpPr>
        <p:spPr>
          <a:xfrm>
            <a:off x="8331200" y="48514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47A231E-A56A-8446-94F0-8B12B1AFAA21}"/>
              </a:ext>
            </a:extLst>
          </p:cNvPr>
          <p:cNvSpPr txBox="1"/>
          <p:nvPr/>
        </p:nvSpPr>
        <p:spPr>
          <a:xfrm>
            <a:off x="9118600" y="4749800"/>
            <a:ext cx="2349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Compatibilité validée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8951DC8-A71B-F245-80AC-BDDD01E00076}"/>
              </a:ext>
            </a:extLst>
          </p:cNvPr>
          <p:cNvSpPr txBox="1"/>
          <p:nvPr/>
        </p:nvSpPr>
        <p:spPr>
          <a:xfrm>
            <a:off x="9118600" y="5168900"/>
            <a:ext cx="2349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555555"/>
                </a:solidFill>
              </a:rPr>
              <a:t>Avec l'environnement InduTechData</a:t>
            </a:r>
          </a:p>
        </p:txBody>
      </p:sp>
    </p:spTree>
    <p:extLst>
      <p:ext uri="{BB962C8B-B14F-4D97-AF65-F5344CB8AC3E}">
        <p14:creationId xmlns:p14="http://schemas.microsoft.com/office/powerpoint/2010/main" val="84401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551A3-EDFD-AEE7-FFA4-5B2FC0FB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DD5E8-9FBB-3E4B-AC2C-23455173CCBC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B082256-C30D-E949-9AFF-573B6CA3680F}"/>
              </a:ext>
            </a:extLst>
          </p:cNvPr>
          <p:cNvSpPr/>
          <p:nvPr/>
        </p:nvSpPr>
        <p:spPr>
          <a:xfrm>
            <a:off x="635000" y="508000"/>
            <a:ext cx="2794000" cy="381000"/>
          </a:xfrm>
          <a:prstGeom prst="roundRect">
            <a:avLst/>
          </a:prstGeom>
          <a:solidFill>
            <a:srgbClr val="0B254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06 · CONCLUSION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D15BED-4AFA-744C-A159-055A170BE4B6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0B2545"/>
                </a:solidFill>
              </a:rPr>
              <a:t>Limites identifiées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259FD1-F5B8-944D-B518-82D5E7632AC0}"/>
              </a:ext>
            </a:extLst>
          </p:cNvPr>
          <p:cNvSpPr/>
          <p:nvPr/>
        </p:nvSpPr>
        <p:spPr>
          <a:xfrm>
            <a:off x="635000" y="19050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883686-E7E1-0D4C-AA55-473AFDC4BD6B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999999"/>
                </a:solidFill>
              </a:rPr>
              <a:t>22 / 23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685899-5478-FD47-B455-EB37DE3D163D}"/>
              </a:ext>
            </a:extLst>
          </p:cNvPr>
          <p:cNvSpPr txBox="1"/>
          <p:nvPr/>
        </p:nvSpPr>
        <p:spPr>
          <a:xfrm>
            <a:off x="635000" y="2222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1B3A6B"/>
                </a:solidFill>
              </a:rPr>
              <a:t>Périmètre et contraintes du projet à garder en perspective.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5C38773-54CA-F646-992A-C890272816C8}"/>
              </a:ext>
            </a:extLst>
          </p:cNvPr>
          <p:cNvSpPr/>
          <p:nvPr/>
        </p:nvSpPr>
        <p:spPr>
          <a:xfrm>
            <a:off x="533400" y="2857500"/>
            <a:ext cx="35560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181E5-FDCA-724E-A56A-529690F0FBCF}"/>
              </a:ext>
            </a:extLst>
          </p:cNvPr>
          <p:cNvSpPr/>
          <p:nvPr/>
        </p:nvSpPr>
        <p:spPr>
          <a:xfrm>
            <a:off x="5334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FA71B1-F57B-1D43-A4D4-A0FBA6C77CDC}"/>
              </a:ext>
            </a:extLst>
          </p:cNvPr>
          <p:cNvSpPr txBox="1"/>
          <p:nvPr/>
        </p:nvSpPr>
        <p:spPr>
          <a:xfrm>
            <a:off x="723900" y="30861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>
                <a:solidFill>
                  <a:srgbClr val="E8A317"/>
                </a:solidFill>
              </a:rPr>
              <a:t>🚫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CEF35A-193F-6B41-A212-BB36F1F83965}"/>
              </a:ext>
            </a:extLst>
          </p:cNvPr>
          <p:cNvSpPr txBox="1"/>
          <p:nvPr/>
        </p:nvSpPr>
        <p:spPr>
          <a:xfrm>
            <a:off x="1422400" y="31369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Pas de production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F8DFA40-C7AD-544A-A04A-455BA5F724BE}"/>
              </a:ext>
            </a:extLst>
          </p:cNvPr>
          <p:cNvSpPr txBox="1"/>
          <p:nvPr/>
        </p:nvSpPr>
        <p:spPr>
          <a:xfrm>
            <a:off x="762000" y="3683000"/>
            <a:ext cx="309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Architecture cloud non déployée en réel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46F6DE-348A-2942-BE54-626AD73227A2}"/>
              </a:ext>
            </a:extLst>
          </p:cNvPr>
          <p:cNvSpPr/>
          <p:nvPr/>
        </p:nvSpPr>
        <p:spPr>
          <a:xfrm>
            <a:off x="4318000" y="2857500"/>
            <a:ext cx="35560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6A6C84-5B5D-DC47-853B-5F821797A75E}"/>
              </a:ext>
            </a:extLst>
          </p:cNvPr>
          <p:cNvSpPr/>
          <p:nvPr/>
        </p:nvSpPr>
        <p:spPr>
          <a:xfrm>
            <a:off x="43180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B0ED546-3982-624D-8DB8-6C084C6C3E04}"/>
              </a:ext>
            </a:extLst>
          </p:cNvPr>
          <p:cNvSpPr txBox="1"/>
          <p:nvPr/>
        </p:nvSpPr>
        <p:spPr>
          <a:xfrm>
            <a:off x="4508500" y="30861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>
                <a:solidFill>
                  <a:srgbClr val="E8A317"/>
                </a:solidFill>
              </a:rPr>
              <a:t>🧪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56C8E74-63EA-904E-A2CD-AB39EC3A9950}"/>
              </a:ext>
            </a:extLst>
          </p:cNvPr>
          <p:cNvSpPr txBox="1"/>
          <p:nvPr/>
        </p:nvSpPr>
        <p:spPr>
          <a:xfrm>
            <a:off x="5207000" y="31369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Données simulées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9A5F134-CEEB-0149-9E70-D51D4E15FBF2}"/>
              </a:ext>
            </a:extLst>
          </p:cNvPr>
          <p:cNvSpPr txBox="1"/>
          <p:nvPr/>
        </p:nvSpPr>
        <p:spPr>
          <a:xfrm>
            <a:off x="4546600" y="3683000"/>
            <a:ext cx="309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Utilisation de données générées pour le POC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21239D4-C60D-F34B-95EA-A1CE41AD7A85}"/>
              </a:ext>
            </a:extLst>
          </p:cNvPr>
          <p:cNvSpPr/>
          <p:nvPr/>
        </p:nvSpPr>
        <p:spPr>
          <a:xfrm>
            <a:off x="8102600" y="2857500"/>
            <a:ext cx="35560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9F8C4E-8692-EB44-9D1E-964C1ACB2260}"/>
              </a:ext>
            </a:extLst>
          </p:cNvPr>
          <p:cNvSpPr/>
          <p:nvPr/>
        </p:nvSpPr>
        <p:spPr>
          <a:xfrm>
            <a:off x="8102600" y="28575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D33CB82-08D2-634A-B41C-E4922B302141}"/>
              </a:ext>
            </a:extLst>
          </p:cNvPr>
          <p:cNvSpPr txBox="1"/>
          <p:nvPr/>
        </p:nvSpPr>
        <p:spPr>
          <a:xfrm>
            <a:off x="8293100" y="30861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>
                <a:solidFill>
                  <a:srgbClr val="E8A317"/>
                </a:solidFill>
              </a:rPr>
              <a:t>📏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F9BFBB4-2873-A949-803B-5631AAFE538A}"/>
              </a:ext>
            </a:extLst>
          </p:cNvPr>
          <p:cNvSpPr txBox="1"/>
          <p:nvPr/>
        </p:nvSpPr>
        <p:spPr>
          <a:xfrm>
            <a:off x="8991600" y="31369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Mesures limitées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A3644E2-2CD2-FB4B-BD87-53C08378A544}"/>
              </a:ext>
            </a:extLst>
          </p:cNvPr>
          <p:cNvSpPr txBox="1"/>
          <p:nvPr/>
        </p:nvSpPr>
        <p:spPr>
          <a:xfrm>
            <a:off x="8331200" y="3683000"/>
            <a:ext cx="309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Performances réelles non testées à l'échelle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DA2D663-97D0-DB49-8B00-0260BCB6CEBD}"/>
              </a:ext>
            </a:extLst>
          </p:cNvPr>
          <p:cNvSpPr/>
          <p:nvPr/>
        </p:nvSpPr>
        <p:spPr>
          <a:xfrm>
            <a:off x="2425700" y="4699000"/>
            <a:ext cx="35560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D2CA8-EE75-A143-BC11-C2D2FF268F02}"/>
              </a:ext>
            </a:extLst>
          </p:cNvPr>
          <p:cNvSpPr/>
          <p:nvPr/>
        </p:nvSpPr>
        <p:spPr>
          <a:xfrm>
            <a:off x="2425700" y="46990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022D368-C701-3B4F-BA81-FD412D777E13}"/>
              </a:ext>
            </a:extLst>
          </p:cNvPr>
          <p:cNvSpPr txBox="1"/>
          <p:nvPr/>
        </p:nvSpPr>
        <p:spPr>
          <a:xfrm>
            <a:off x="2616200" y="49276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>
                <a:solidFill>
                  <a:srgbClr val="E8A317"/>
                </a:solidFill>
              </a:rPr>
              <a:t>💰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0502202-5145-2A4E-84A3-64EA24AA7E9A}"/>
              </a:ext>
            </a:extLst>
          </p:cNvPr>
          <p:cNvSpPr txBox="1"/>
          <p:nvPr/>
        </p:nvSpPr>
        <p:spPr>
          <a:xfrm>
            <a:off x="3314700" y="49784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Dépendance coûts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68C40C7-F7A7-B04D-A727-451CF69EA7BE}"/>
              </a:ext>
            </a:extLst>
          </p:cNvPr>
          <p:cNvSpPr txBox="1"/>
          <p:nvPr/>
        </p:nvSpPr>
        <p:spPr>
          <a:xfrm>
            <a:off x="2654300" y="5524500"/>
            <a:ext cx="309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Liée aux services cloud AWS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C4E0F1D-0308-C94C-8197-27431E9784F4}"/>
              </a:ext>
            </a:extLst>
          </p:cNvPr>
          <p:cNvSpPr/>
          <p:nvPr/>
        </p:nvSpPr>
        <p:spPr>
          <a:xfrm>
            <a:off x="6210300" y="4699000"/>
            <a:ext cx="35560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8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561E06-9BEE-D647-8EC8-BF318046AB9F}"/>
              </a:ext>
            </a:extLst>
          </p:cNvPr>
          <p:cNvSpPr/>
          <p:nvPr/>
        </p:nvSpPr>
        <p:spPr>
          <a:xfrm>
            <a:off x="6210300" y="4699000"/>
            <a:ext cx="3556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5C5F077-77C7-694A-9A88-0ED558A552E7}"/>
              </a:ext>
            </a:extLst>
          </p:cNvPr>
          <p:cNvSpPr txBox="1"/>
          <p:nvPr/>
        </p:nvSpPr>
        <p:spPr>
          <a:xfrm>
            <a:off x="6400800" y="49276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>
                <a:solidFill>
                  <a:srgbClr val="E8A317"/>
                </a:solidFill>
              </a:rPr>
              <a:t>🔬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F860D86-FEA1-AB42-8B2D-C4A13CE73E94}"/>
              </a:ext>
            </a:extLst>
          </p:cNvPr>
          <p:cNvSpPr txBox="1"/>
          <p:nvPr/>
        </p:nvSpPr>
        <p:spPr>
          <a:xfrm>
            <a:off x="7099300" y="49784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0B2545"/>
                </a:solidFill>
              </a:rPr>
              <a:t>Tests à compléter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8CEA928-7912-FA42-9A62-0C6D3368BF7F}"/>
              </a:ext>
            </a:extLst>
          </p:cNvPr>
          <p:cNvSpPr txBox="1"/>
          <p:nvPr/>
        </p:nvSpPr>
        <p:spPr>
          <a:xfrm>
            <a:off x="6438900" y="5524500"/>
            <a:ext cx="309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555555"/>
                </a:solidFill>
              </a:rPr>
              <a:t>Validation supplémentaire en environnement réel</a:t>
            </a:r>
          </a:p>
        </p:txBody>
      </p:sp>
    </p:spTree>
    <p:extLst>
      <p:ext uri="{BB962C8B-B14F-4D97-AF65-F5344CB8AC3E}">
        <p14:creationId xmlns:p14="http://schemas.microsoft.com/office/powerpoint/2010/main" val="72860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9CA32-5A2B-7CC2-D18F-74C60F40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C4D0E9-B9EA-224A-BAC4-D59A0CA23B8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5194873-FEFC-C540-8D8F-8150795ED7DC}"/>
              </a:ext>
            </a:extLst>
          </p:cNvPr>
          <p:cNvSpPr/>
          <p:nvPr/>
        </p:nvSpPr>
        <p:spPr>
          <a:xfrm>
            <a:off x="635000" y="508000"/>
            <a:ext cx="2794000" cy="381000"/>
          </a:xfrm>
          <a:prstGeom prst="round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06 · CONCLUSION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7A95F26-8A76-5E41-9421-8D8239143EB6}"/>
              </a:ext>
            </a:extLst>
          </p:cNvPr>
          <p:cNvSpPr txBox="1"/>
          <p:nvPr/>
        </p:nvSpPr>
        <p:spPr>
          <a:xfrm>
            <a:off x="635000" y="10795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800" b="1">
                <a:solidFill>
                  <a:srgbClr val="FFFFFF"/>
                </a:solidFill>
              </a:rPr>
              <a:t>Perspectives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9E707-B940-0C45-8FA9-05039E327DAB}"/>
              </a:ext>
            </a:extLst>
          </p:cNvPr>
          <p:cNvSpPr/>
          <p:nvPr/>
        </p:nvSpPr>
        <p:spPr>
          <a:xfrm>
            <a:off x="635000" y="1968500"/>
            <a:ext cx="1143000" cy="50800"/>
          </a:xfrm>
          <a:prstGeom prst="rect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86435F-B9BA-024A-BED1-5486DEAB99BB}"/>
              </a:ext>
            </a:extLst>
          </p:cNvPr>
          <p:cNvSpPr txBox="1"/>
          <p:nvPr/>
        </p:nvSpPr>
        <p:spPr>
          <a:xfrm>
            <a:off x="635000" y="2349500"/>
            <a:ext cx="1092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DCE8F5"/>
                </a:solidFill>
              </a:rPr>
              <a:t>Les prochaines étapes pour passer du POC à la production.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EEBA3BB-D75B-224F-93B9-B9C5BC2DE4BB}"/>
              </a:ext>
            </a:extLst>
          </p:cNvPr>
          <p:cNvSpPr/>
          <p:nvPr/>
        </p:nvSpPr>
        <p:spPr>
          <a:xfrm>
            <a:off x="533400" y="29845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688FADB-E708-0046-AFF5-F5B29F9B3D72}"/>
              </a:ext>
            </a:extLst>
          </p:cNvPr>
          <p:cNvSpPr/>
          <p:nvPr/>
        </p:nvSpPr>
        <p:spPr>
          <a:xfrm>
            <a:off x="787400" y="33655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☁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C20F83-CD05-5240-9C82-06603F21B6DF}"/>
              </a:ext>
            </a:extLst>
          </p:cNvPr>
          <p:cNvSpPr txBox="1"/>
          <p:nvPr/>
        </p:nvSpPr>
        <p:spPr>
          <a:xfrm>
            <a:off x="1612900" y="33020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Déploiement AWS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12D5EC1-0242-4041-8F1C-07F372060BE0}"/>
              </a:ext>
            </a:extLst>
          </p:cNvPr>
          <p:cNvSpPr txBox="1"/>
          <p:nvPr/>
        </p:nvSpPr>
        <p:spPr>
          <a:xfrm>
            <a:off x="1612900" y="36830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Mise en production de l'architecture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D3EBE04-EFF2-8B4B-90F0-A28D5DCCD56A}"/>
              </a:ext>
            </a:extLst>
          </p:cNvPr>
          <p:cNvSpPr/>
          <p:nvPr/>
        </p:nvSpPr>
        <p:spPr>
          <a:xfrm>
            <a:off x="4318000" y="29845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2FBB5A2-25CC-624D-823D-767079415B66}"/>
              </a:ext>
            </a:extLst>
          </p:cNvPr>
          <p:cNvSpPr/>
          <p:nvPr/>
        </p:nvSpPr>
        <p:spPr>
          <a:xfrm>
            <a:off x="4572000" y="33655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📡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63846E3-98CF-4F49-A0A8-893AD589E6B2}"/>
              </a:ext>
            </a:extLst>
          </p:cNvPr>
          <p:cNvSpPr txBox="1"/>
          <p:nvPr/>
        </p:nvSpPr>
        <p:spPr>
          <a:xfrm>
            <a:off x="5397500" y="33020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Nouvelles sources IoT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867626-4A83-CA4B-95C4-C298AC41338D}"/>
              </a:ext>
            </a:extLst>
          </p:cNvPr>
          <p:cNvSpPr txBox="1"/>
          <p:nvPr/>
        </p:nvSpPr>
        <p:spPr>
          <a:xfrm>
            <a:off x="5397500" y="36830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Intégration de capteurs additionnels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53BD425-AC87-B844-8CC9-EDD402E2190B}"/>
              </a:ext>
            </a:extLst>
          </p:cNvPr>
          <p:cNvSpPr/>
          <p:nvPr/>
        </p:nvSpPr>
        <p:spPr>
          <a:xfrm>
            <a:off x="8102600" y="29845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428FD92-C90B-AB47-B4B0-2EADD5657DC0}"/>
              </a:ext>
            </a:extLst>
          </p:cNvPr>
          <p:cNvSpPr/>
          <p:nvPr/>
        </p:nvSpPr>
        <p:spPr>
          <a:xfrm>
            <a:off x="8356600" y="33655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📈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778DF9-2E03-F04A-8F65-F3C38D0D1D40}"/>
              </a:ext>
            </a:extLst>
          </p:cNvPr>
          <p:cNvSpPr txBox="1"/>
          <p:nvPr/>
        </p:nvSpPr>
        <p:spPr>
          <a:xfrm>
            <a:off x="9182100" y="33020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Monitoring avancé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42D3A50-FD97-7F49-8A46-B0D758F4E960}"/>
              </a:ext>
            </a:extLst>
          </p:cNvPr>
          <p:cNvSpPr txBox="1"/>
          <p:nvPr/>
        </p:nvSpPr>
        <p:spPr>
          <a:xfrm>
            <a:off x="9182100" y="36830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Outils complets de surveillance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784E8AB-B7E7-5A4F-9B7E-689EF01EFDDA}"/>
              </a:ext>
            </a:extLst>
          </p:cNvPr>
          <p:cNvSpPr/>
          <p:nvPr/>
        </p:nvSpPr>
        <p:spPr>
          <a:xfrm>
            <a:off x="533400" y="45720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32F0671-4458-D64D-BAC7-7B43F6C118F8}"/>
              </a:ext>
            </a:extLst>
          </p:cNvPr>
          <p:cNvSpPr/>
          <p:nvPr/>
        </p:nvSpPr>
        <p:spPr>
          <a:xfrm>
            <a:off x="787400" y="4953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🤖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E4A2297-B0AB-B842-B4C4-4C76BD9F6FDB}"/>
              </a:ext>
            </a:extLst>
          </p:cNvPr>
          <p:cNvSpPr txBox="1"/>
          <p:nvPr/>
        </p:nvSpPr>
        <p:spPr>
          <a:xfrm>
            <a:off x="1612900" y="4889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Analyse prédictive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4D7E24A-B007-6C4F-95A5-497A6FDDEF08}"/>
              </a:ext>
            </a:extLst>
          </p:cNvPr>
          <p:cNvSpPr txBox="1"/>
          <p:nvPr/>
        </p:nvSpPr>
        <p:spPr>
          <a:xfrm>
            <a:off x="1612900" y="5270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Modèles ML pour anticiper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FD3EB30-C3DB-5D41-A4FD-FC832F8DC53C}"/>
              </a:ext>
            </a:extLst>
          </p:cNvPr>
          <p:cNvSpPr/>
          <p:nvPr/>
        </p:nvSpPr>
        <p:spPr>
          <a:xfrm>
            <a:off x="4318000" y="45720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26DE505A-54A1-D144-9839-C87C8D37778E}"/>
              </a:ext>
            </a:extLst>
          </p:cNvPr>
          <p:cNvSpPr/>
          <p:nvPr/>
        </p:nvSpPr>
        <p:spPr>
          <a:xfrm>
            <a:off x="4572000" y="4953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⚙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7E237DA-024B-D245-95BE-38C2F39AA660}"/>
              </a:ext>
            </a:extLst>
          </p:cNvPr>
          <p:cNvSpPr txBox="1"/>
          <p:nvPr/>
        </p:nvSpPr>
        <p:spPr>
          <a:xfrm>
            <a:off x="5397500" y="4889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Automatisation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62090EC-FC32-3A43-8075-084E4FAD07BE}"/>
              </a:ext>
            </a:extLst>
          </p:cNvPr>
          <p:cNvSpPr txBox="1"/>
          <p:nvPr/>
        </p:nvSpPr>
        <p:spPr>
          <a:xfrm>
            <a:off x="5397500" y="5270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Pipeline de bout en bout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83D6E40-0A24-C346-AD32-5256D31F89A9}"/>
              </a:ext>
            </a:extLst>
          </p:cNvPr>
          <p:cNvSpPr/>
          <p:nvPr/>
        </p:nvSpPr>
        <p:spPr>
          <a:xfrm>
            <a:off x="8102600" y="4572000"/>
            <a:ext cx="3556000" cy="1397000"/>
          </a:xfrm>
          <a:prstGeom prst="roundRect">
            <a:avLst/>
          </a:prstGeom>
          <a:solidFill>
            <a:srgbClr val="1B3A6B"/>
          </a:solidFill>
          <a:ln w="12700" cap="flat" cmpd="sng" algn="ctr">
            <a:solidFill>
              <a:srgbClr val="E8A31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FB7300B-F9F8-9F4C-AD48-4A1B2A29F764}"/>
              </a:ext>
            </a:extLst>
          </p:cNvPr>
          <p:cNvSpPr/>
          <p:nvPr/>
        </p:nvSpPr>
        <p:spPr>
          <a:xfrm>
            <a:off x="8356600" y="4953000"/>
            <a:ext cx="635000" cy="635000"/>
          </a:xfrm>
          <a:prstGeom prst="ellipse">
            <a:avLst/>
          </a:prstGeom>
          <a:solidFill>
            <a:srgbClr val="E8A3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0B2545"/>
                </a:solidFill>
              </a:rPr>
              <a:t>🔒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CA78662-9E1F-BF4B-A827-ECD0195AE854}"/>
              </a:ext>
            </a:extLst>
          </p:cNvPr>
          <p:cNvSpPr txBox="1"/>
          <p:nvPr/>
        </p:nvSpPr>
        <p:spPr>
          <a:xfrm>
            <a:off x="9182100" y="4889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E8A317"/>
                </a:solidFill>
              </a:rPr>
              <a:t>Sécurité renforcée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925625D-B4CD-594F-94E8-720E5C1ED77C}"/>
              </a:ext>
            </a:extLst>
          </p:cNvPr>
          <p:cNvSpPr txBox="1"/>
          <p:nvPr/>
        </p:nvSpPr>
        <p:spPr>
          <a:xfrm>
            <a:off x="9182100" y="5270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</a:rPr>
              <a:t>Mécanismes de protection avancés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4D662C7-30A9-744C-B5DC-6A2DEBDA77D2}"/>
              </a:ext>
            </a:extLst>
          </p:cNvPr>
          <p:cNvSpPr txBox="1"/>
          <p:nvPr/>
        </p:nvSpPr>
        <p:spPr>
          <a:xfrm>
            <a:off x="635000" y="6096000"/>
            <a:ext cx="952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 i="1">
                <a:solidFill>
                  <a:srgbClr val="E8A317"/>
                </a:solidFill>
              </a:rPr>
              <a:t>Merci pour votre attention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FC48DB1-64DD-574D-B59D-B23D4783008E}"/>
              </a:ext>
            </a:extLst>
          </p:cNvPr>
          <p:cNvSpPr txBox="1"/>
          <p:nvPr/>
        </p:nvSpPr>
        <p:spPr>
          <a:xfrm>
            <a:off x="11176000" y="6477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DCE8F5"/>
                </a:solidFill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3261857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 [1778773663797]">
  <a:themeElements>
    <a:clrScheme name="Office">
      <a:dk1>
        <a:srgbClr val="0B2545"/>
      </a:dk1>
      <a:lt1>
        <a:srgbClr val="F4F8FC"/>
      </a:lt1>
      <a:dk2>
        <a:srgbClr val="1B3A6B"/>
      </a:dk2>
      <a:lt2>
        <a:srgbClr val="DCE8F5"/>
      </a:lt2>
      <a:accent1>
        <a:srgbClr val="1B3A6B"/>
      </a:accent1>
      <a:accent2>
        <a:srgbClr val="E8A317"/>
      </a:accent2>
      <a:accent3>
        <a:srgbClr val="2E5A9E"/>
      </a:accent3>
      <a:accent4>
        <a:srgbClr val="4A7BB8"/>
      </a:accent4>
      <a:accent5>
        <a:srgbClr val="C9A961"/>
      </a:accent5>
      <a:accent6>
        <a:srgbClr val="8FB3D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5765B3-38BA-2D48-B1C3-8B7FD458572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3d769a2-5023-463b-9937-2c692b23a3c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1317</Words>
  <Application>Microsoft Macintosh PowerPoint</Application>
  <PresentationFormat>Grand écran</PresentationFormat>
  <Paragraphs>443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Thème Office [1778773663797]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endaye</dc:creator>
  <cp:lastModifiedBy>endaye</cp:lastModifiedBy>
  <cp:revision>4</cp:revision>
  <dcterms:created xsi:type="dcterms:W3CDTF">2026-05-14T14:25:19Z</dcterms:created>
  <dcterms:modified xsi:type="dcterms:W3CDTF">2026-05-15T11:24:59Z</dcterms:modified>
</cp:coreProperties>
</file>