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2"/>
    <p:sldId id="260" r:id="rId3"/>
    <p:sldId id="262" r:id="rId4"/>
    <p:sldId id="274" r:id="rId5"/>
    <p:sldId id="275" r:id="rId6"/>
    <p:sldId id="280" r:id="rId7"/>
    <p:sldId id="263" r:id="rId8"/>
    <p:sldId id="279" r:id="rId9"/>
    <p:sldId id="278" r:id="rId10"/>
    <p:sldId id="277" r:id="rId11"/>
    <p:sldId id="276" r:id="rId12"/>
    <p:sldId id="273" r:id="rId13"/>
    <p:sldId id="281" r:id="rId14"/>
    <p:sldId id="272" r:id="rId15"/>
    <p:sldId id="282" r:id="rId16"/>
    <p:sldId id="271" r:id="rId17"/>
    <p:sldId id="270" r:id="rId18"/>
    <p:sldId id="283" r:id="rId19"/>
    <p:sldId id="284" r:id="rId20"/>
    <p:sldId id="285" r:id="rId21"/>
    <p:sldId id="288" r:id="rId22"/>
    <p:sldId id="269" r:id="rId23"/>
    <p:sldId id="286" r:id="rId2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703"/>
  </p:normalViewPr>
  <p:slideViewPr>
    <p:cSldViewPr snapToGrid="0">
      <p:cViewPr varScale="1">
        <p:scale>
          <a:sx n="90" d="100"/>
          <a:sy n="90" d="100"/>
        </p:scale>
        <p:origin x="216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EB0BF1-AF2B-5BF7-518A-46ADB7B96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2803A85-323C-AB21-3976-2C53C64B8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0FBA41B-3854-EFF8-687B-6B2CA7505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99F0A6-157B-9B2E-C82E-B88FC6711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F05530-421E-488C-987B-966B9EB70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44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8271F5-6FFA-36BE-1FAB-345B24580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BF2C906-9BEB-107E-62EB-EF85DA6C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AC5429D-6ED6-72F7-1E6B-55BBA2942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E8F645-F24B-8743-C1EB-06EA47B4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665FAC-CA8B-8867-510B-3C86DFD88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0288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065E2A-2B3E-9065-B806-F53F295D6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E5D0B1-32D1-7F66-F3B5-CD3812176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F3D2BE-636A-1FD4-A9CE-57902BF01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744C26A-05ED-9150-8707-7196D3AD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32D6BE-F7C1-F9BE-5167-A8791C212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299491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5EC6E4-950B-9E5D-72FF-38BE30D1E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D39DAF-7090-0541-CEDD-0D50D1CD39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1B654C-1644-A0FA-30F6-8982474B78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64F31E-1062-853F-FD02-BA2B7D649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8B0F038-F790-A9A4-6837-1BEC74ADB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945DDB-C7C8-58FC-47EB-BEFFEF1F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0483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25F46A-11B5-C35B-747B-02DD5AB4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13B312-A579-986F-1DF3-CF49E1571B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79145E5-1580-79E8-ED52-093F6C894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85C134A-675A-E05B-AE6D-C720334BBC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AC3C877-161E-8523-3177-10A5ED797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CBA768DD-91D9-6DA4-0F25-56EBC829B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5D599CD-BB08-3F25-041F-62DD1868B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162C606-4297-BF3E-E861-AC0374F56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249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8432D8-8A82-D174-0A6D-5D035F220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A069B2-4063-40BF-98B8-AA0BFF6BE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1DC9AE0-32EE-7A1D-6D9B-89A1907C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2DFAFF7-20D2-4BF5-DD57-311D8EA0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7952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320CEDE-4621-B926-0E35-34148FED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F052BF-801F-FADC-3554-48ED43FE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AF23D16-2B9C-2758-8C98-99597A60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1391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A0866A-386F-1225-643F-32C5714C6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F9FA65D-C3E1-5DE8-124A-D18D4A3DF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C1D584-D264-52F2-F3BD-83BAE3ACC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C291C36-C1AA-75B5-F822-7524A7433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FB7D38-AC0F-B0E6-3B73-C4C9A27665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2A2DA04-5C7A-2239-A971-7A8FFE70A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34875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2554F5-89BC-9E47-ED6C-E2AA02EE2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E3CC031-0BE3-868A-1D7F-20C07106A8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6B92186-8231-EA6D-E928-65DF01FFED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13719E7-1586-50AF-9BDB-ED8F28883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7113B2-2B93-5F89-25CA-A3B95FAFB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8136C1-DF54-CA13-1E7C-9A2A4342E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98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8734B2-1D02-24C6-F161-1F21A7371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4B99B0-78EC-371F-F8CA-DFB1ACB3D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89C089-E87B-9540-D380-FA1EF273F9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FAC30C-3D15-7776-A1E3-F2DDA6EA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A76F53B-1153-C975-2E12-121786573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936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C23A083-3120-5433-5B3A-288F6AA6D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7BAC90C-1A18-96FE-7A70-3205807A4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D9B2F7-D9E9-E691-BF58-CB56A9980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5A97F4-A829-6CB5-12DD-08DB1D09C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0E8738E-01EB-9602-A244-32A82400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537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DAFAC2A-F4F9-0994-A46B-B9E6F86A2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A2180E-16D2-298A-BAF8-18FCB0E97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65099F-49CA-5C51-BA8A-CC0989FE7B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2B5F5-157A-5249-BA79-50BB0021C3F0}" type="datetimeFigureOut">
              <a:rPr lang="fr-FR" smtClean="0"/>
              <a:t>14/05/2026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105E46-8D51-CBB8-3926-07ECB5D25F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39EADA2-C079-7938-A978-AA786FE25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DDEA7-6F4F-F54E-90DD-F315B4FA7BF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165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29C81E-ADD2-F78F-F858-1A68F11DA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BFDAECE3-A32A-B41A-0EAF-4034AF22FC62}"/>
              </a:ext>
            </a:extLst>
          </p:cNvPr>
          <p:cNvSpPr txBox="1"/>
          <p:nvPr/>
        </p:nvSpPr>
        <p:spPr>
          <a:xfrm>
            <a:off x="-81280" y="1419275"/>
            <a:ext cx="1212088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400" b="1" dirty="0"/>
              <a:t>Infrastructure hybride pour le traitement des données industrielles en temps réel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1DD0210-9C17-711C-2ECD-0A26FC2ADEE1}"/>
              </a:ext>
            </a:extLst>
          </p:cNvPr>
          <p:cNvSpPr txBox="1"/>
          <p:nvPr/>
        </p:nvSpPr>
        <p:spPr>
          <a:xfrm>
            <a:off x="-81280" y="3062516"/>
            <a:ext cx="600456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Projet de Data Engineering</a:t>
            </a:r>
            <a:br>
              <a:rPr lang="fr-FR" sz="2800" dirty="0"/>
            </a:br>
            <a:r>
              <a:rPr lang="fr-FR" sz="2800" dirty="0"/>
              <a:t>Ingestion et traitement en temps réel </a:t>
            </a:r>
          </a:p>
          <a:p>
            <a:r>
              <a:rPr lang="fr-FR" sz="2800" dirty="0"/>
              <a:t>architecture hybride</a:t>
            </a:r>
          </a:p>
          <a:p>
            <a:r>
              <a:rPr lang="fr-FR" sz="2800" dirty="0"/>
              <a:t>disponibilité des données</a:t>
            </a:r>
          </a:p>
          <a:p>
            <a:r>
              <a:rPr lang="fr-FR" sz="2800" dirty="0"/>
              <a:t>stockage cloud et performance</a:t>
            </a:r>
          </a:p>
        </p:txBody>
      </p:sp>
    </p:spTree>
    <p:extLst>
      <p:ext uri="{BB962C8B-B14F-4D97-AF65-F5344CB8AC3E}">
        <p14:creationId xmlns:p14="http://schemas.microsoft.com/office/powerpoint/2010/main" val="1479540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9995F-5C0F-68D5-E540-B52C93E4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4362A874-E4AB-E705-0C17-690A11D3349E}"/>
              </a:ext>
            </a:extLst>
          </p:cNvPr>
          <p:cNvSpPr txBox="1"/>
          <p:nvPr/>
        </p:nvSpPr>
        <p:spPr>
          <a:xfrm>
            <a:off x="2222194" y="197346"/>
            <a:ext cx="774761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Introduction</a:t>
            </a:r>
          </a:p>
          <a:p>
            <a:pPr algn="ctr">
              <a:buNone/>
            </a:pPr>
            <a:r>
              <a:rPr lang="fr-FR" dirty="0"/>
              <a:t>1.1 Contexte du projet, 1.2 Problématique, 1.3 Objectifs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2. Réalisation du POC local</a:t>
            </a:r>
          </a:p>
          <a:p>
            <a:pPr algn="ctr">
              <a:buNone/>
            </a:pPr>
            <a:r>
              <a:rPr lang="fr-FR" dirty="0"/>
              <a:t>2.1 Présentation du pipeline local, 2.2 Génération des tickets clients</a:t>
            </a:r>
            <a:br>
              <a:rPr lang="fr-FR" dirty="0"/>
            </a:br>
            <a:r>
              <a:rPr lang="fr-FR" dirty="0"/>
              <a:t>2.3 Ingestion temps réel avec </a:t>
            </a:r>
            <a:r>
              <a:rPr lang="fr-FR" dirty="0" err="1"/>
              <a:t>Redpanda</a:t>
            </a:r>
            <a:r>
              <a:rPr lang="fr-FR" dirty="0"/>
              <a:t>, 2.4 Traitement des données avec </a:t>
            </a:r>
            <a:r>
              <a:rPr lang="fr-FR" dirty="0" err="1"/>
              <a:t>PySpark</a:t>
            </a:r>
            <a:br>
              <a:rPr lang="fr-FR" dirty="0"/>
            </a:br>
            <a:r>
              <a:rPr lang="fr-FR" dirty="0"/>
              <a:t>2.5 Export et stockage des données, 2.6 Conteneurisation avec Docker Compose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3. Transition vers une architecture hybride</a:t>
            </a:r>
          </a:p>
          <a:p>
            <a:pPr algn="ctr">
              <a:buNone/>
            </a:pPr>
            <a:r>
              <a:rPr lang="fr-FR" dirty="0"/>
              <a:t>3.1 Limites de l’environnement local, 3.2 Besoins d’</a:t>
            </a:r>
            <a:r>
              <a:rPr lang="fr-FR" dirty="0" err="1"/>
              <a:t>InduTechData</a:t>
            </a:r>
            <a:r>
              <a:rPr lang="fr-FR" dirty="0"/>
              <a:t>, 3.3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4. Présentation de l’architecture hybride</a:t>
            </a:r>
          </a:p>
          <a:p>
            <a:pPr algn="ctr">
              <a:buNone/>
            </a:pPr>
            <a:r>
              <a:rPr lang="fr-FR" dirty="0"/>
              <a:t>4.1 Description du diagramme global, 4.2 Flux de données entre on-</a:t>
            </a:r>
            <a:r>
              <a:rPr lang="fr-FR" dirty="0" err="1"/>
              <a:t>premise</a:t>
            </a:r>
            <a:r>
              <a:rPr lang="fr-FR" dirty="0"/>
              <a:t> et cloud</a:t>
            </a:r>
            <a:br>
              <a:rPr lang="fr-FR" dirty="0"/>
            </a:br>
            <a:r>
              <a:rPr lang="fr-FR" dirty="0"/>
              <a:t>4.3 Rôle des composants AWS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5. Évaluation de compatibilité</a:t>
            </a:r>
          </a:p>
          <a:p>
            <a:pPr algn="ctr">
              <a:buNone/>
            </a:pPr>
            <a:r>
              <a:rPr lang="fr-FR" dirty="0"/>
              <a:t>5.1 Sécurité et conformité, 5.2 Interopérabilité avec le SI existant</a:t>
            </a:r>
            <a:br>
              <a:rPr lang="fr-FR" dirty="0"/>
            </a:br>
            <a:r>
              <a:rPr lang="fr-FR" dirty="0"/>
              <a:t>5.3 Scalabilité et performances, 5.4 Gestion des coûts</a:t>
            </a:r>
          </a:p>
          <a:p>
            <a:pPr algn="ctr">
              <a:buNone/>
            </a:pPr>
            <a:endParaRPr lang="fr-FR" dirty="0"/>
          </a:p>
          <a:p>
            <a:pPr algn="ctr">
              <a:buNone/>
            </a:pPr>
            <a:r>
              <a:rPr lang="fr-FR" b="1" dirty="0"/>
              <a:t>Conclusion</a:t>
            </a:r>
          </a:p>
          <a:p>
            <a:pPr algn="ctr">
              <a:buNone/>
            </a:pPr>
            <a:r>
              <a:rPr lang="fr-FR" dirty="0"/>
              <a:t>6.1 Résultats obtenus, 6.2 Limites identifiées, 6.3 Perspectives</a:t>
            </a:r>
          </a:p>
        </p:txBody>
      </p:sp>
    </p:spTree>
    <p:extLst>
      <p:ext uri="{BB962C8B-B14F-4D97-AF65-F5344CB8AC3E}">
        <p14:creationId xmlns:p14="http://schemas.microsoft.com/office/powerpoint/2010/main" val="351061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BA63F9-9117-7DBF-1232-697C370E8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D7B178-43F7-6CF0-61FD-2E7D9C82861D}"/>
              </a:ext>
            </a:extLst>
          </p:cNvPr>
          <p:cNvSpPr txBox="1"/>
          <p:nvPr/>
        </p:nvSpPr>
        <p:spPr>
          <a:xfrm>
            <a:off x="4988560" y="115054"/>
            <a:ext cx="2631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AF443BC-D3DB-390A-F400-94AD3D179DFF}"/>
              </a:ext>
            </a:extLst>
          </p:cNvPr>
          <p:cNvSpPr txBox="1"/>
          <p:nvPr/>
        </p:nvSpPr>
        <p:spPr>
          <a:xfrm>
            <a:off x="-71120" y="1493580"/>
            <a:ext cx="124764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Contexte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InduTechData</a:t>
            </a:r>
            <a:r>
              <a:rPr lang="fr-FR" dirty="0"/>
              <a:t> est une entreprise spécialisée dans l’analyse de données industrielles.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L’intégration récente de solutions IoT entraîne une augmentation importante des données générées.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L’entreprise enregistre environ </a:t>
            </a:r>
            <a:r>
              <a:rPr lang="fr-FR" b="1" dirty="0"/>
              <a:t>50 Go de données supplémentaires par mois</a:t>
            </a:r>
            <a:r>
              <a:rPr lang="fr-FR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données proviennent principalement de flux continus de capteurs industriels.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L’infrastructure actuelle atteint progressivement ses limites en termes de traitement et de stockage.</a:t>
            </a:r>
          </a:p>
        </p:txBody>
      </p:sp>
    </p:spTree>
    <p:extLst>
      <p:ext uri="{BB962C8B-B14F-4D97-AF65-F5344CB8AC3E}">
        <p14:creationId xmlns:p14="http://schemas.microsoft.com/office/powerpoint/2010/main" val="1392894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CD187F-39EF-ACF9-5B1E-B32B7640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F906D7F4-F3B3-CCB2-FBD8-7549C05899BA}"/>
              </a:ext>
            </a:extLst>
          </p:cNvPr>
          <p:cNvSpPr txBox="1"/>
          <p:nvPr/>
        </p:nvSpPr>
        <p:spPr>
          <a:xfrm>
            <a:off x="4988560" y="115054"/>
            <a:ext cx="2631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D4347BD-8A30-7BF6-87CD-BE171A0608C3}"/>
              </a:ext>
            </a:extLst>
          </p:cNvPr>
          <p:cNvSpPr txBox="1"/>
          <p:nvPr/>
        </p:nvSpPr>
        <p:spPr>
          <a:xfrm>
            <a:off x="0" y="1397675"/>
            <a:ext cx="74472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Problématique</a:t>
            </a:r>
          </a:p>
          <a:p>
            <a:pPr>
              <a:buNone/>
            </a:pPr>
            <a:r>
              <a:rPr lang="fr-FR" b="1" dirty="0"/>
              <a:t>Comment concevoir une infrastructure hybride capable de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Traiter des flux IoT en temps réel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Garantir une haute disponibilité des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Assurer la scalabilité face à la croissance des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Maintenir de bonnes performances de traitement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Intégrer efficacement les ressources on-</a:t>
            </a:r>
            <a:r>
              <a:rPr lang="fr-FR" dirty="0" err="1"/>
              <a:t>premise</a:t>
            </a:r>
            <a:r>
              <a:rPr lang="fr-FR" dirty="0"/>
              <a:t> et cloud</a:t>
            </a:r>
          </a:p>
        </p:txBody>
      </p:sp>
    </p:spTree>
    <p:extLst>
      <p:ext uri="{BB962C8B-B14F-4D97-AF65-F5344CB8AC3E}">
        <p14:creationId xmlns:p14="http://schemas.microsoft.com/office/powerpoint/2010/main" val="4155563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7CC1FE-6ECB-9C5C-4EEC-D250585D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A0910652-1947-B7A7-F8A3-F2E323DF0BAB}"/>
              </a:ext>
            </a:extLst>
          </p:cNvPr>
          <p:cNvSpPr txBox="1"/>
          <p:nvPr/>
        </p:nvSpPr>
        <p:spPr>
          <a:xfrm>
            <a:off x="4988560" y="115054"/>
            <a:ext cx="2631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Introduction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0FBCE69-0EA5-E0A0-F4B4-51234AE81E60}"/>
              </a:ext>
            </a:extLst>
          </p:cNvPr>
          <p:cNvSpPr txBox="1"/>
          <p:nvPr/>
        </p:nvSpPr>
        <p:spPr>
          <a:xfrm>
            <a:off x="0" y="1333699"/>
            <a:ext cx="96723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Objectifs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Mettre en place une architecture hybride (On-</a:t>
            </a:r>
            <a:r>
              <a:rPr lang="fr-FR" dirty="0" err="1"/>
              <a:t>premise</a:t>
            </a:r>
            <a:r>
              <a:rPr lang="fr-FR" dirty="0"/>
              <a:t> + Cloud)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Assurer l’ingestion temps réel des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Intégrer une solution de streaming avec </a:t>
            </a:r>
            <a:r>
              <a:rPr lang="fr-FR" dirty="0" err="1"/>
              <a:t>Redpanda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Traiter les données avec </a:t>
            </a:r>
            <a:r>
              <a:rPr lang="fr-FR" dirty="0" err="1"/>
              <a:t>PySpark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Garantir disponibilité et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Évaluer la compatibilité avec l’environnement existant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Proposer une architecture évolutive et sécurisée</a:t>
            </a:r>
          </a:p>
        </p:txBody>
      </p:sp>
    </p:spTree>
    <p:extLst>
      <p:ext uri="{BB962C8B-B14F-4D97-AF65-F5344CB8AC3E}">
        <p14:creationId xmlns:p14="http://schemas.microsoft.com/office/powerpoint/2010/main" val="397635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F9B7F7-54C5-B71A-6F0D-FE9B73C5E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2C9BFD0-D7BE-00BB-E404-E4E6F27EA9FF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52D6B28-2E6B-8662-1CA0-0E6061E08DEB}"/>
              </a:ext>
            </a:extLst>
          </p:cNvPr>
          <p:cNvSpPr txBox="1"/>
          <p:nvPr/>
        </p:nvSpPr>
        <p:spPr>
          <a:xfrm>
            <a:off x="0" y="1160979"/>
            <a:ext cx="11430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Pipeline local</a:t>
            </a:r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simuler une architecture de traitement de données en temps réel dans un environnement local.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Étapes principales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Génération de données simulées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Ingestion des flux avec </a:t>
            </a:r>
            <a:r>
              <a:rPr lang="fr-FR" dirty="0" err="1"/>
              <a:t>Redpanda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Traitement distribué avec </a:t>
            </a:r>
            <a:r>
              <a:rPr lang="fr-FR" dirty="0" err="1"/>
              <a:t>PySpark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Export des résultats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Orchestration des services avec Docker Compose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BEAAC6E-FC37-3107-FDE6-5FDCDF528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8640" y="1813554"/>
            <a:ext cx="3034030" cy="495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73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6F685E-7680-B0EC-64B0-BFC5C2FDB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B11D2C8-5082-C92D-8E52-1DBB8D77B71F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C2E2500-49EF-9222-9CD3-BC2E4F79EBC3}"/>
              </a:ext>
            </a:extLst>
          </p:cNvPr>
          <p:cNvSpPr txBox="1"/>
          <p:nvPr/>
        </p:nvSpPr>
        <p:spPr>
          <a:xfrm>
            <a:off x="0" y="1582340"/>
            <a:ext cx="1111504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Génération des tickets clients</a:t>
            </a:r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créer des données simulées représentant des demandes clients.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Données générées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ID du ticket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ID client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Date de création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Type de demande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Priorité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Description 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Résultat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Production automatique de données proches d’un cas réel</a:t>
            </a:r>
          </a:p>
        </p:txBody>
      </p:sp>
    </p:spTree>
    <p:extLst>
      <p:ext uri="{BB962C8B-B14F-4D97-AF65-F5344CB8AC3E}">
        <p14:creationId xmlns:p14="http://schemas.microsoft.com/office/powerpoint/2010/main" val="124923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5A67D3-D67A-4915-1D66-5F58E06C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4E0347B2-54E0-77AC-2464-818A292836C8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26FC11C-26EC-A4A2-3F87-3BB2A1DB2FCF}"/>
              </a:ext>
            </a:extLst>
          </p:cNvPr>
          <p:cNvSpPr txBox="1"/>
          <p:nvPr/>
        </p:nvSpPr>
        <p:spPr>
          <a:xfrm>
            <a:off x="0" y="1466840"/>
            <a:ext cx="10728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Ingestion temps réel avec </a:t>
            </a:r>
            <a:r>
              <a:rPr lang="fr-FR" b="1" dirty="0" err="1"/>
              <a:t>Redpanda</a:t>
            </a:r>
            <a:endParaRPr lang="fr-FR" b="1" dirty="0"/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recevoir et transporter les flux de données en continu.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Fonctionnement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Création d’un topic dédié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Envoi des tickets générés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file des messages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Distribution des données vers les consommateurs 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Avantages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Faible latence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Haut débit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Compatibilité avec Kafka API</a:t>
            </a:r>
          </a:p>
        </p:txBody>
      </p:sp>
    </p:spTree>
    <p:extLst>
      <p:ext uri="{BB962C8B-B14F-4D97-AF65-F5344CB8AC3E}">
        <p14:creationId xmlns:p14="http://schemas.microsoft.com/office/powerpoint/2010/main" val="168703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5200C3-B678-6102-AC30-832F0E42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7A221A7-C52B-23CF-E5A0-AC9400F0C077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C4CED97-99F8-A01F-E562-7C881ADDF3E2}"/>
              </a:ext>
            </a:extLst>
          </p:cNvPr>
          <p:cNvSpPr txBox="1"/>
          <p:nvPr/>
        </p:nvSpPr>
        <p:spPr>
          <a:xfrm>
            <a:off x="0" y="1614438"/>
            <a:ext cx="95808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Traitement des données avec </a:t>
            </a:r>
            <a:r>
              <a:rPr lang="fr-FR" b="1" dirty="0" err="1"/>
              <a:t>PySpark</a:t>
            </a:r>
            <a:endParaRPr lang="fr-FR" b="1" dirty="0"/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analyser les données reçues depuis </a:t>
            </a:r>
            <a:r>
              <a:rPr lang="fr-FR" dirty="0" err="1"/>
              <a:t>Redpanda</a:t>
            </a:r>
            <a:r>
              <a:rPr lang="fr-FR" dirty="0"/>
              <a:t>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Traitements réalisés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Lecture du flux entrant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Transformation des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Filtrage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Catégorisation des tickets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Agrégation des résultats </a:t>
            </a:r>
          </a:p>
        </p:txBody>
      </p:sp>
    </p:spTree>
    <p:extLst>
      <p:ext uri="{BB962C8B-B14F-4D97-AF65-F5344CB8AC3E}">
        <p14:creationId xmlns:p14="http://schemas.microsoft.com/office/powerpoint/2010/main" val="179061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F29E0-94AA-96AE-5016-6747BEB0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875EF773-C444-F550-0A35-41333BBD87A9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33EC8C-4D74-B91B-9CDA-55A42357C38A}"/>
              </a:ext>
            </a:extLst>
          </p:cNvPr>
          <p:cNvSpPr txBox="1"/>
          <p:nvPr/>
        </p:nvSpPr>
        <p:spPr>
          <a:xfrm>
            <a:off x="0" y="1675398"/>
            <a:ext cx="9215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Export et stockage des données</a:t>
            </a:r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conserver les résultats du traitement.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Formats utilisés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JSON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Parquet </a:t>
            </a:r>
          </a:p>
          <a:p>
            <a:endParaRPr lang="fr-FR" dirty="0"/>
          </a:p>
          <a:p>
            <a:pPr>
              <a:buNone/>
            </a:pPr>
            <a:r>
              <a:rPr lang="fr-FR" b="1" dirty="0"/>
              <a:t>Avantages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JSON : lecture simple et flexible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Parquet : stockage optimisé et performances élevées</a:t>
            </a:r>
          </a:p>
        </p:txBody>
      </p:sp>
    </p:spTree>
    <p:extLst>
      <p:ext uri="{BB962C8B-B14F-4D97-AF65-F5344CB8AC3E}">
        <p14:creationId xmlns:p14="http://schemas.microsoft.com/office/powerpoint/2010/main" val="1582710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C9B0BC-970C-EDF2-EAA0-ADA667973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9DBD9F3F-D43F-53DC-6C0D-2EED3EC6F22E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Réalisation du POC local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E5C10B9-4B25-7C80-F946-8174471AB151}"/>
              </a:ext>
            </a:extLst>
          </p:cNvPr>
          <p:cNvSpPr txBox="1"/>
          <p:nvPr/>
        </p:nvSpPr>
        <p:spPr>
          <a:xfrm>
            <a:off x="0" y="1720840"/>
            <a:ext cx="106172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Conteneurisation avec Docker Compose</a:t>
            </a:r>
          </a:p>
          <a:p>
            <a:pPr>
              <a:buNone/>
            </a:pPr>
            <a:r>
              <a:rPr lang="fr-FR" b="1" dirty="0"/>
              <a:t>Objectif :</a:t>
            </a:r>
            <a:r>
              <a:rPr lang="fr-FR" dirty="0"/>
              <a:t> automatiser le déploiement local de l’environnement.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Services orchestrés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Redpanda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Producteur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Consommateur </a:t>
            </a:r>
            <a:r>
              <a:rPr lang="fr-FR" dirty="0" err="1"/>
              <a:t>PySpark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Avantages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simplifié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Reproductibilité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centralisée des services </a:t>
            </a:r>
          </a:p>
        </p:txBody>
      </p:sp>
    </p:spTree>
    <p:extLst>
      <p:ext uri="{BB962C8B-B14F-4D97-AF65-F5344CB8AC3E}">
        <p14:creationId xmlns:p14="http://schemas.microsoft.com/office/powerpoint/2010/main" val="776507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B03D96-0292-3B03-46DD-988E55E5C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E05B260-FF80-B3AA-6907-551F2A29FD8F}"/>
              </a:ext>
            </a:extLst>
          </p:cNvPr>
          <p:cNvSpPr txBox="1"/>
          <p:nvPr/>
        </p:nvSpPr>
        <p:spPr>
          <a:xfrm>
            <a:off x="3271520" y="0"/>
            <a:ext cx="639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Transition vers une architecture hybride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8C6B063-0AF7-CAF4-76B0-7374F2A3D838}"/>
              </a:ext>
            </a:extLst>
          </p:cNvPr>
          <p:cNvSpPr txBox="1"/>
          <p:nvPr/>
        </p:nvSpPr>
        <p:spPr>
          <a:xfrm>
            <a:off x="0" y="167467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Limites de l’environnement local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Ressources matérielles limitées (CPU, RAM, stockage)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Difficulté à gérer une forte augmentation des flux de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Disponibilité limitée en cas de panne d’un service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Capacité réduite pour les traitements à grande échelle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Faible flexibilité pour l’ajout de nouvelles ressources</a:t>
            </a:r>
          </a:p>
        </p:txBody>
      </p:sp>
    </p:spTree>
    <p:extLst>
      <p:ext uri="{BB962C8B-B14F-4D97-AF65-F5344CB8AC3E}">
        <p14:creationId xmlns:p14="http://schemas.microsoft.com/office/powerpoint/2010/main" val="884827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858EC1-9FBE-044E-30B6-0BCA8EC24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890071B-A424-4F2E-03C2-DE2A1CEBCAC9}"/>
              </a:ext>
            </a:extLst>
          </p:cNvPr>
          <p:cNvSpPr txBox="1"/>
          <p:nvPr/>
        </p:nvSpPr>
        <p:spPr>
          <a:xfrm>
            <a:off x="3271520" y="0"/>
            <a:ext cx="63906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Transition vers une architecture hybride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63DD792-CCA1-0920-4FCA-6D1A9C200328}"/>
              </a:ext>
            </a:extLst>
          </p:cNvPr>
          <p:cNvSpPr txBox="1"/>
          <p:nvPr/>
        </p:nvSpPr>
        <p:spPr>
          <a:xfrm>
            <a:off x="0" y="1671658"/>
            <a:ext cx="97637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Besoins identifiés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Traiter des flux IoT en temps réel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Gérer une croissance continue des volumes de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Garantir une haute disponibilité des services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Assurer des performances stables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Faciliter la montée en charge de l’infrastructure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Sécuriser les échanges entre les différents composants </a:t>
            </a:r>
          </a:p>
        </p:txBody>
      </p:sp>
    </p:spTree>
    <p:extLst>
      <p:ext uri="{BB962C8B-B14F-4D97-AF65-F5344CB8AC3E}">
        <p14:creationId xmlns:p14="http://schemas.microsoft.com/office/powerpoint/2010/main" val="2252023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817D0F-6262-49DE-FB8B-E816617DE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CE868BBB-02BF-201D-3FA4-5B9A37756038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Présentation de l’architecture hybride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9DC0654-5D18-7E34-3E95-B8DDAEBE8AB6}"/>
              </a:ext>
            </a:extLst>
          </p:cNvPr>
          <p:cNvSpPr txBox="1"/>
          <p:nvPr/>
        </p:nvSpPr>
        <p:spPr>
          <a:xfrm>
            <a:off x="0" y="1596241"/>
            <a:ext cx="104749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Architecture hybride proposée</a:t>
            </a:r>
          </a:p>
          <a:p>
            <a:pPr>
              <a:buNone/>
            </a:pPr>
            <a:r>
              <a:rPr lang="fr-FR" dirty="0"/>
              <a:t>L’architecture combine trois environnements :</a:t>
            </a:r>
          </a:p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b="1" dirty="0"/>
              <a:t>On-</a:t>
            </a:r>
            <a:r>
              <a:rPr lang="fr-FR" b="1" dirty="0" err="1"/>
              <a:t>premise</a:t>
            </a:r>
            <a:r>
              <a:rPr lang="fr-FR" b="1" dirty="0"/>
              <a:t> (SI </a:t>
            </a:r>
            <a:r>
              <a:rPr lang="fr-FR" b="1" dirty="0" err="1"/>
              <a:t>InduTechData</a:t>
            </a:r>
            <a:r>
              <a:rPr lang="fr-FR" b="1" dirty="0"/>
              <a:t>)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SQL Server (ERP / CRM)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SAN Storage (logs, fichiers IoT)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Active Directory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POC local (Docker Compose)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Producteur de tickets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Redpanda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/>
              <a:t>PySpark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Stockage local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AWS Cloud (Production)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Ingestion, streaming, traitement, stockage et analyse des données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B2132B7-8211-4974-82AB-F8AEA3167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4080" y="445202"/>
            <a:ext cx="4770119" cy="630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63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68C84B-A8C0-F27F-D1D1-A26674673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1189962-5E5C-8052-C25A-3720CE164C68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Présentation de l’architecture hybride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7D9B3DB-F6DF-CFE9-3325-A51C0D723761}"/>
              </a:ext>
            </a:extLst>
          </p:cNvPr>
          <p:cNvSpPr txBox="1"/>
          <p:nvPr/>
        </p:nvSpPr>
        <p:spPr>
          <a:xfrm>
            <a:off x="0" y="1801059"/>
            <a:ext cx="87985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Flux des données</a:t>
            </a:r>
          </a:p>
          <a:p>
            <a:pPr>
              <a:buFont typeface="+mj-lt"/>
              <a:buAutoNum type="arabicPeriod"/>
            </a:pPr>
            <a:r>
              <a:rPr lang="fr-FR" dirty="0"/>
              <a:t>Génération des données depuis ERP, CRM et capteurs IoT </a:t>
            </a:r>
          </a:p>
          <a:p>
            <a:pPr>
              <a:buFont typeface="+mj-lt"/>
              <a:buAutoNum type="arabicPeriod"/>
            </a:pPr>
            <a:r>
              <a:rPr lang="fr-FR" dirty="0"/>
              <a:t>Transmission sécurisée (</a:t>
            </a:r>
            <a:r>
              <a:rPr lang="fr-FR" b="1" dirty="0"/>
              <a:t>VPN </a:t>
            </a:r>
            <a:r>
              <a:rPr lang="fr-FR" b="1" dirty="0" err="1"/>
              <a:t>IPSec</a:t>
            </a:r>
            <a:r>
              <a:rPr lang="fr-FR" b="1" dirty="0"/>
              <a:t> / AWS Direct </a:t>
            </a:r>
            <a:r>
              <a:rPr lang="fr-FR" b="1" dirty="0" err="1"/>
              <a:t>Connect</a:t>
            </a:r>
            <a:r>
              <a:rPr lang="fr-FR" dirty="0"/>
              <a:t>) </a:t>
            </a:r>
          </a:p>
          <a:p>
            <a:pPr>
              <a:buFont typeface="+mj-lt"/>
              <a:buAutoNum type="arabicPeriod"/>
            </a:pPr>
            <a:r>
              <a:rPr lang="fr-FR" dirty="0"/>
              <a:t>Ingestion des événements en temps réel (</a:t>
            </a:r>
            <a:r>
              <a:rPr lang="fr-FR" b="1" dirty="0"/>
              <a:t>AWS Lambda / </a:t>
            </a:r>
            <a:r>
              <a:rPr lang="fr-FR" b="1" dirty="0" err="1"/>
              <a:t>Kinesis</a:t>
            </a:r>
            <a:r>
              <a:rPr lang="fr-FR" dirty="0"/>
              <a:t>) </a:t>
            </a:r>
          </a:p>
          <a:p>
            <a:pPr>
              <a:buFont typeface="+mj-lt"/>
              <a:buAutoNum type="arabicPeriod"/>
            </a:pPr>
            <a:r>
              <a:rPr lang="fr-FR" dirty="0"/>
              <a:t>Streaming des données (</a:t>
            </a:r>
            <a:r>
              <a:rPr lang="fr-FR" b="1" dirty="0"/>
              <a:t>Amazon MSK</a:t>
            </a:r>
            <a:r>
              <a:rPr lang="fr-FR" dirty="0"/>
              <a:t>) </a:t>
            </a:r>
          </a:p>
          <a:p>
            <a:pPr>
              <a:buFont typeface="+mj-lt"/>
              <a:buAutoNum type="arabicPeriod"/>
            </a:pPr>
            <a:r>
              <a:rPr lang="fr-FR" dirty="0"/>
              <a:t>Traitement distribué (</a:t>
            </a:r>
            <a:r>
              <a:rPr lang="fr-FR" b="1" dirty="0"/>
              <a:t>Amazon EMR + </a:t>
            </a:r>
            <a:r>
              <a:rPr lang="fr-FR" b="1" dirty="0" err="1"/>
              <a:t>PySpark</a:t>
            </a:r>
            <a:r>
              <a:rPr lang="fr-FR" dirty="0"/>
              <a:t>) </a:t>
            </a:r>
          </a:p>
          <a:p>
            <a:pPr>
              <a:buFont typeface="+mj-lt"/>
              <a:buAutoNum type="arabicPeriod"/>
            </a:pPr>
            <a:r>
              <a:rPr lang="fr-FR" dirty="0"/>
              <a:t>Stockage des données (</a:t>
            </a:r>
            <a:r>
              <a:rPr lang="fr-FR" b="1" dirty="0"/>
              <a:t>Amazon S3</a:t>
            </a:r>
            <a:r>
              <a:rPr lang="fr-FR" dirty="0"/>
              <a:t>) </a:t>
            </a:r>
          </a:p>
          <a:p>
            <a:pPr>
              <a:buFont typeface="+mj-lt"/>
              <a:buAutoNum type="arabicPeriod"/>
            </a:pPr>
            <a:r>
              <a:rPr lang="fr-FR" dirty="0"/>
              <a:t>Analyse et exploitation (</a:t>
            </a:r>
            <a:r>
              <a:rPr lang="fr-FR" b="1" dirty="0"/>
              <a:t>Amazon Redshift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273918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7019B-0EC7-F85D-817E-BD00A57A1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966D3465-3BA6-1D71-3432-DA033DC7C66E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Présentation de l’architecture hybride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00B40C4-1DA0-6372-1BC4-BA471B091F19}"/>
              </a:ext>
            </a:extLst>
          </p:cNvPr>
          <p:cNvSpPr txBox="1"/>
          <p:nvPr/>
        </p:nvSpPr>
        <p:spPr>
          <a:xfrm>
            <a:off x="2560320" y="523220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b="1" dirty="0"/>
              <a:t>Services AWS utilisés</a:t>
            </a:r>
          </a:p>
          <a:p>
            <a:pPr algn="ctr">
              <a:buNone/>
            </a:pPr>
            <a:endParaRPr lang="fr-FR" b="1" dirty="0"/>
          </a:p>
          <a:p>
            <a:pPr algn="ctr">
              <a:buNone/>
            </a:pPr>
            <a:r>
              <a:rPr lang="fr-FR" b="1" dirty="0"/>
              <a:t>AWS Lambda / </a:t>
            </a:r>
            <a:r>
              <a:rPr lang="fr-FR" b="1" dirty="0" err="1"/>
              <a:t>Kinesis</a:t>
            </a:r>
            <a:endParaRPr lang="fr-FR" dirty="0"/>
          </a:p>
          <a:p>
            <a:pPr algn="ctr"/>
            <a:r>
              <a:rPr lang="fr-FR" dirty="0"/>
              <a:t>Génération et ingestion des flux temps réel</a:t>
            </a:r>
          </a:p>
          <a:p>
            <a:pPr algn="ctr"/>
            <a:r>
              <a:rPr lang="fr-FR" dirty="0"/>
              <a:t> </a:t>
            </a:r>
          </a:p>
          <a:p>
            <a:pPr algn="ctr">
              <a:buNone/>
            </a:pPr>
            <a:r>
              <a:rPr lang="fr-FR" b="1" dirty="0"/>
              <a:t>Amazon MSK</a:t>
            </a:r>
            <a:endParaRPr lang="fr-FR" dirty="0"/>
          </a:p>
          <a:p>
            <a:pPr algn="ctr"/>
            <a:r>
              <a:rPr lang="fr-FR" dirty="0"/>
              <a:t>Streaming et transport des données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>
              <a:buNone/>
            </a:pPr>
            <a:r>
              <a:rPr lang="fr-FR" b="1" dirty="0"/>
              <a:t>Amazon EMR</a:t>
            </a:r>
            <a:endParaRPr lang="fr-FR" dirty="0"/>
          </a:p>
          <a:p>
            <a:pPr algn="ctr"/>
            <a:r>
              <a:rPr lang="fr-FR" dirty="0"/>
              <a:t>Traitement distribué avec Spark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>
              <a:buNone/>
            </a:pPr>
            <a:r>
              <a:rPr lang="fr-FR" b="1" dirty="0"/>
              <a:t>Amazon S3</a:t>
            </a:r>
            <a:endParaRPr lang="fr-FR" dirty="0"/>
          </a:p>
          <a:p>
            <a:pPr algn="ctr"/>
            <a:r>
              <a:rPr lang="fr-FR" dirty="0"/>
              <a:t>Data Lake pour stockage des données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>
              <a:buNone/>
            </a:pPr>
            <a:r>
              <a:rPr lang="fr-FR" b="1" dirty="0"/>
              <a:t>Amazon Redshift</a:t>
            </a:r>
            <a:endParaRPr lang="fr-FR" dirty="0"/>
          </a:p>
          <a:p>
            <a:pPr algn="ctr"/>
            <a:r>
              <a:rPr lang="fr-FR" dirty="0"/>
              <a:t>Analyse et requêtes SQL analytiques </a:t>
            </a:r>
          </a:p>
          <a:p>
            <a:pPr algn="ctr">
              <a:buFont typeface="Arial" panose="020B0604020202020204" pitchFamily="34" charset="0"/>
              <a:buChar char="•"/>
            </a:pPr>
            <a:endParaRPr lang="fr-FR" dirty="0"/>
          </a:p>
          <a:p>
            <a:pPr algn="ctr">
              <a:buNone/>
            </a:pPr>
            <a:r>
              <a:rPr lang="fr-FR" b="1" dirty="0"/>
              <a:t>AWS DMS</a:t>
            </a:r>
            <a:endParaRPr lang="fr-FR" dirty="0"/>
          </a:p>
          <a:p>
            <a:pPr algn="ctr"/>
            <a:r>
              <a:rPr lang="fr-FR" dirty="0"/>
              <a:t>Synchronisation SQL Server → S3 / Redshift</a:t>
            </a:r>
          </a:p>
          <a:p>
            <a:pPr algn="ctr"/>
            <a:endParaRPr lang="fr-FR" dirty="0"/>
          </a:p>
          <a:p>
            <a:pPr algn="ctr">
              <a:buNone/>
            </a:pPr>
            <a:r>
              <a:rPr lang="fr-FR" b="1" dirty="0"/>
              <a:t>IAM + </a:t>
            </a:r>
            <a:r>
              <a:rPr lang="fr-FR" b="1" dirty="0" err="1"/>
              <a:t>CloudWatch</a:t>
            </a:r>
            <a:endParaRPr lang="fr-FR" dirty="0"/>
          </a:p>
          <a:p>
            <a:pPr algn="ctr"/>
            <a:r>
              <a:rPr lang="fr-FR" dirty="0"/>
              <a:t>Sécurité, surveillance et monitoring</a:t>
            </a:r>
          </a:p>
        </p:txBody>
      </p:sp>
    </p:spTree>
    <p:extLst>
      <p:ext uri="{BB962C8B-B14F-4D97-AF65-F5344CB8AC3E}">
        <p14:creationId xmlns:p14="http://schemas.microsoft.com/office/powerpoint/2010/main" val="4169062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FC6E9-8AA6-8D1B-C977-9DAEF9CA8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6DB8E-3317-8E07-21F7-4E9CF91219DF}"/>
              </a:ext>
            </a:extLst>
          </p:cNvPr>
          <p:cNvSpPr txBox="1"/>
          <p:nvPr/>
        </p:nvSpPr>
        <p:spPr>
          <a:xfrm>
            <a:off x="412496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Évaluation de compatibilité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DCAA24C-748D-3745-36F9-450B115B313D}"/>
              </a:ext>
            </a:extLst>
          </p:cNvPr>
          <p:cNvSpPr txBox="1"/>
          <p:nvPr/>
        </p:nvSpPr>
        <p:spPr>
          <a:xfrm>
            <a:off x="0" y="1790899"/>
            <a:ext cx="91948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Sécurité et conformité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Mécanismes de sécurité proposés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Chiffrement des échanges via </a:t>
            </a:r>
            <a:r>
              <a:rPr lang="fr-FR" b="1" dirty="0"/>
              <a:t>SSL/TLS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sécurisée </a:t>
            </a:r>
            <a:r>
              <a:rPr lang="fr-FR" b="1" dirty="0"/>
              <a:t>VPN </a:t>
            </a:r>
            <a:r>
              <a:rPr lang="fr-FR" b="1" dirty="0" err="1"/>
              <a:t>IPSec</a:t>
            </a:r>
            <a:r>
              <a:rPr lang="fr-FR" b="1" dirty="0"/>
              <a:t> / AWS Direct </a:t>
            </a:r>
            <a:r>
              <a:rPr lang="fr-FR" b="1" dirty="0" err="1"/>
              <a:t>Connect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Gestion centralisée des accès avec </a:t>
            </a:r>
            <a:r>
              <a:rPr lang="fr-FR" b="1" dirty="0"/>
              <a:t>IAM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Intégration avec </a:t>
            </a:r>
            <a:r>
              <a:rPr lang="fr-FR" b="1" dirty="0"/>
              <a:t>Active Directory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Contrôle des permissions utilisateurs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Résultat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Protection des données et conformité des accès</a:t>
            </a:r>
          </a:p>
        </p:txBody>
      </p:sp>
    </p:spTree>
    <p:extLst>
      <p:ext uri="{BB962C8B-B14F-4D97-AF65-F5344CB8AC3E}">
        <p14:creationId xmlns:p14="http://schemas.microsoft.com/office/powerpoint/2010/main" val="1894987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23A5F-3E09-A251-5934-DA88D7D3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F56ACC4-E49E-A0FB-A00B-303998A5BF31}"/>
              </a:ext>
            </a:extLst>
          </p:cNvPr>
          <p:cNvSpPr txBox="1"/>
          <p:nvPr/>
        </p:nvSpPr>
        <p:spPr>
          <a:xfrm>
            <a:off x="412496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Évaluation de compatibilité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95C1A2F-5B36-4C2A-48A9-8FDE33D20511}"/>
              </a:ext>
            </a:extLst>
          </p:cNvPr>
          <p:cNvSpPr txBox="1"/>
          <p:nvPr/>
        </p:nvSpPr>
        <p:spPr>
          <a:xfrm>
            <a:off x="0" y="1862019"/>
            <a:ext cx="999744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Interopérabilité avec le système existant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Compatibilité avec l’environnement </a:t>
            </a:r>
            <a:r>
              <a:rPr lang="fr-FR" b="1" dirty="0" err="1"/>
              <a:t>InduTechData</a:t>
            </a:r>
            <a:r>
              <a:rPr lang="fr-FR" b="1" dirty="0"/>
              <a:t>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Connexion aux systèmes </a:t>
            </a:r>
            <a:r>
              <a:rPr lang="fr-FR" b="1" dirty="0"/>
              <a:t>ERP / CRM SQL Server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Synchronisation via </a:t>
            </a:r>
            <a:r>
              <a:rPr lang="fr-FR" b="1" dirty="0"/>
              <a:t>AWS DMS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Conservation des ressources on-</a:t>
            </a:r>
            <a:r>
              <a:rPr lang="fr-FR" dirty="0" err="1"/>
              <a:t>premise</a:t>
            </a:r>
            <a:r>
              <a:rPr lang="fr-FR" dirty="0"/>
              <a:t> existantes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Intégration progressive vers le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Limitation des modifications de l’infrastructure actuelle</a:t>
            </a:r>
          </a:p>
          <a:p>
            <a:r>
              <a:rPr lang="fr-FR" dirty="0"/>
              <a:t> </a:t>
            </a:r>
          </a:p>
          <a:p>
            <a:pPr>
              <a:buNone/>
            </a:pPr>
            <a:r>
              <a:rPr lang="fr-FR" b="1" dirty="0"/>
              <a:t>Résultat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Transition plus simple sans remplacement complet du SI</a:t>
            </a:r>
          </a:p>
        </p:txBody>
      </p:sp>
    </p:spTree>
    <p:extLst>
      <p:ext uri="{BB962C8B-B14F-4D97-AF65-F5344CB8AC3E}">
        <p14:creationId xmlns:p14="http://schemas.microsoft.com/office/powerpoint/2010/main" val="925065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DEB596-2AF8-B334-E2C7-252A6CC5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4240E2AB-9181-594A-453D-CC0A5168D599}"/>
              </a:ext>
            </a:extLst>
          </p:cNvPr>
          <p:cNvSpPr txBox="1"/>
          <p:nvPr/>
        </p:nvSpPr>
        <p:spPr>
          <a:xfrm>
            <a:off x="412496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Évaluation de compatibilité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7DA399-23F2-54AE-B139-137E5ECCECD9}"/>
              </a:ext>
            </a:extLst>
          </p:cNvPr>
          <p:cNvSpPr txBox="1"/>
          <p:nvPr/>
        </p:nvSpPr>
        <p:spPr>
          <a:xfrm>
            <a:off x="0" y="1916559"/>
            <a:ext cx="99263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Scalabilité et performances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Améliorations apportées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Ajout dynamique des ressources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Traitement distribué avec </a:t>
            </a:r>
            <a:r>
              <a:rPr lang="fr-FR" b="1" dirty="0"/>
              <a:t>EMR + 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Streaming temps réel avec </a:t>
            </a:r>
            <a:r>
              <a:rPr lang="fr-FR" b="1" dirty="0"/>
              <a:t>Amazon MSK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Stockage flexible avec </a:t>
            </a:r>
            <a:r>
              <a:rPr lang="fr-FR" b="1" dirty="0"/>
              <a:t>Amazon S3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Réduction des limites liées aux ressources locales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Résultat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Infrastructure capable de supporter l’augmentation des volumes de données </a:t>
            </a:r>
          </a:p>
        </p:txBody>
      </p:sp>
    </p:spTree>
    <p:extLst>
      <p:ext uri="{BB962C8B-B14F-4D97-AF65-F5344CB8AC3E}">
        <p14:creationId xmlns:p14="http://schemas.microsoft.com/office/powerpoint/2010/main" val="36082871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C0B43D-FE5E-378C-B4BD-CA731BC64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9BDD522-2D5C-4C6B-0049-464A9914805A}"/>
              </a:ext>
            </a:extLst>
          </p:cNvPr>
          <p:cNvSpPr txBox="1"/>
          <p:nvPr/>
        </p:nvSpPr>
        <p:spPr>
          <a:xfrm>
            <a:off x="412496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b="1" dirty="0"/>
              <a:t>Évaluation de compatibilité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45E92F8-6B1E-2FA3-370E-74AB8D19779E}"/>
              </a:ext>
            </a:extLst>
          </p:cNvPr>
          <p:cNvSpPr txBox="1"/>
          <p:nvPr/>
        </p:nvSpPr>
        <p:spPr>
          <a:xfrm>
            <a:off x="-71120" y="1699459"/>
            <a:ext cx="708152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Gestion des coûts</a:t>
            </a:r>
          </a:p>
          <a:p>
            <a:pPr>
              <a:buNone/>
            </a:pPr>
            <a:endParaRPr lang="fr-FR" b="1" dirty="0"/>
          </a:p>
          <a:p>
            <a:pPr>
              <a:buNone/>
            </a:pPr>
            <a:r>
              <a:rPr lang="fr-FR" b="1" dirty="0"/>
              <a:t>Optimisation proposée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Paiement à l’usage des services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Réduction des investissements matériels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Utilisation de services managés AWS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Possibilité d’ajuster les ressources selon les besoins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Suivi des dépenses via </a:t>
            </a:r>
            <a:r>
              <a:rPr lang="fr-FR" b="1" dirty="0" err="1"/>
              <a:t>CloudWatch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/>
          </a:p>
          <a:p>
            <a:pPr>
              <a:buNone/>
            </a:pPr>
            <a:r>
              <a:rPr lang="fr-FR" b="1" dirty="0"/>
              <a:t>Résultat :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Meilleure maîtrise des coûts d’exploitation</a:t>
            </a:r>
          </a:p>
        </p:txBody>
      </p:sp>
    </p:spTree>
    <p:extLst>
      <p:ext uri="{BB962C8B-B14F-4D97-AF65-F5344CB8AC3E}">
        <p14:creationId xmlns:p14="http://schemas.microsoft.com/office/powerpoint/2010/main" val="983911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4E8C15-B528-09AE-6CB4-1D654D853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D3295B95-A648-3656-41A8-08094DF92772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41416F-4D7F-FB90-7201-2AEB57A678D4}"/>
              </a:ext>
            </a:extLst>
          </p:cNvPr>
          <p:cNvSpPr txBox="1"/>
          <p:nvPr/>
        </p:nvSpPr>
        <p:spPr>
          <a:xfrm>
            <a:off x="-71120" y="1756678"/>
            <a:ext cx="80568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Résultats obtenus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d’un </a:t>
            </a:r>
            <a:r>
              <a:rPr lang="fr-FR" b="1" dirty="0"/>
              <a:t>POC local fonctionnel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Simulation d’un flux de données temps réel avec </a:t>
            </a:r>
            <a:r>
              <a:rPr lang="fr-FR" b="1" dirty="0" err="1"/>
              <a:t>Redpanda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Traitement des données avec </a:t>
            </a:r>
            <a:r>
              <a:rPr lang="fr-FR" b="1" dirty="0" err="1"/>
              <a:t>PySpark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Export des résultats en </a:t>
            </a:r>
            <a:r>
              <a:rPr lang="fr-FR" b="1" dirty="0"/>
              <a:t>JSON et Parquet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Conception d’une </a:t>
            </a:r>
            <a:r>
              <a:rPr lang="fr-FR" b="1" dirty="0"/>
              <a:t>architecture hybride évolutive</a:t>
            </a:r>
            <a:r>
              <a:rPr lang="fr-FR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Évaluation de la compatibilité avec l’environnement </a:t>
            </a:r>
            <a:r>
              <a:rPr lang="fr-FR" dirty="0" err="1"/>
              <a:t>InduTechData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4014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1551A3-EDFD-AEE7-FFA4-5B2FC0FB4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8EC3B15C-BE91-5253-CB5D-B2FCF5A50147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Conclusion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B8705B6-5E98-27A5-166C-C8B194284A3F}"/>
              </a:ext>
            </a:extLst>
          </p:cNvPr>
          <p:cNvSpPr txBox="1"/>
          <p:nvPr/>
        </p:nvSpPr>
        <p:spPr>
          <a:xfrm>
            <a:off x="0" y="1915498"/>
            <a:ext cx="9144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Limites identifiées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Architecture cloud proposée non déployée en production réelle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Utilisation de données simulées pour le POC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Performances réelles non mesurées à grande échelle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Dépendance aux coûts liés aux services cloud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Nécessité de tests supplémentaires en environnement réel</a:t>
            </a:r>
          </a:p>
        </p:txBody>
      </p:sp>
    </p:spTree>
    <p:extLst>
      <p:ext uri="{BB962C8B-B14F-4D97-AF65-F5344CB8AC3E}">
        <p14:creationId xmlns:p14="http://schemas.microsoft.com/office/powerpoint/2010/main" val="728606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9CA32-5A2B-7CC2-D18F-74C60F40C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3C992267-B857-0ABB-BFC7-9985F9601178}"/>
              </a:ext>
            </a:extLst>
          </p:cNvPr>
          <p:cNvSpPr txBox="1"/>
          <p:nvPr/>
        </p:nvSpPr>
        <p:spPr>
          <a:xfrm>
            <a:off x="3048000" y="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FR" sz="2800" b="1" dirty="0"/>
              <a:t>Conclusion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475C80B-FEB6-A014-8378-7FC48D1616D2}"/>
              </a:ext>
            </a:extLst>
          </p:cNvPr>
          <p:cNvSpPr txBox="1"/>
          <p:nvPr/>
        </p:nvSpPr>
        <p:spPr>
          <a:xfrm>
            <a:off x="0" y="2078058"/>
            <a:ext cx="86868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b="1" dirty="0"/>
              <a:t>Perspectives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Déploiement de l’architecture sur AWS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Intégration de nouvelles sources de données IoT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Mise en place d’outils avancés de monitoring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Ajout d’un système d’analyse prédictive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Automatisation complète du pipeline de données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Renforcement des mécanismes de sécurité</a:t>
            </a:r>
          </a:p>
        </p:txBody>
      </p:sp>
    </p:spTree>
    <p:extLst>
      <p:ext uri="{BB962C8B-B14F-4D97-AF65-F5344CB8AC3E}">
        <p14:creationId xmlns:p14="http://schemas.microsoft.com/office/powerpoint/2010/main" val="32618573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25765B3-38BA-2D48-B1C3-8B7FD458572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33d769a2-5023-463b-9937-2c692b23a3c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1176</Words>
  <Application>Microsoft Macintosh PowerPoint</Application>
  <PresentationFormat>Grand écran</PresentationFormat>
  <Paragraphs>253</Paragraphs>
  <Slides>23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endaye</dc:creator>
  <cp:lastModifiedBy>endaye</cp:lastModifiedBy>
  <cp:revision>1</cp:revision>
  <dcterms:created xsi:type="dcterms:W3CDTF">2026-05-14T14:25:19Z</dcterms:created>
  <dcterms:modified xsi:type="dcterms:W3CDTF">2026-05-14T15:41:03Z</dcterms:modified>
</cp:coreProperties>
</file>