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6" r:id="rId2"/>
    <p:sldId id="256" r:id="rId3"/>
    <p:sldId id="258" r:id="rId4"/>
    <p:sldId id="270" r:id="rId5"/>
    <p:sldId id="276" r:id="rId6"/>
    <p:sldId id="275" r:id="rId7"/>
    <p:sldId id="274" r:id="rId8"/>
    <p:sldId id="280" r:id="rId9"/>
    <p:sldId id="277" r:id="rId10"/>
    <p:sldId id="278" r:id="rId11"/>
    <p:sldId id="273" r:id="rId12"/>
    <p:sldId id="281" r:id="rId13"/>
    <p:sldId id="282" r:id="rId14"/>
    <p:sldId id="283" r:id="rId15"/>
    <p:sldId id="284" r:id="rId16"/>
    <p:sldId id="285" r:id="rId17"/>
    <p:sldId id="286" r:id="rId18"/>
    <p:sldId id="297" r:id="rId19"/>
    <p:sldId id="291" r:id="rId20"/>
    <p:sldId id="287" r:id="rId21"/>
    <p:sldId id="288" r:id="rId22"/>
    <p:sldId id="271" r:id="rId23"/>
    <p:sldId id="292" r:id="rId24"/>
    <p:sldId id="295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38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9754D9-19E1-6941-94FF-82C15B380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9E7A6D-D5D3-7ADF-0D41-D48C9DDBF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C7799-2CD2-1EF9-8174-BF68BB8A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363BFD-9428-119E-4480-D2F8382F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870494-356A-2483-8C2B-BC2EDC5F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29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54B70F-9F32-2DFF-CBC5-03C9F528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725279-1F59-7F25-82D8-674615C3E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52BDD7-E3D3-C33F-9C5A-6B91201C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02C566-1249-EB12-8CD6-20A619BD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18746B-C8F5-C360-93E8-A12A343B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75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91304-968B-8E96-232D-1491D680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073C58-E3B9-C20F-AA12-69E0BC4E5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9F8233-2421-5DE5-95F3-6C947435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9F87D0-EAA8-D664-BC90-13B44B80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C4B2B-DD5A-1C3D-C39A-B3B2E93A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35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907CE-7ACE-E007-0185-B31011FA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6AF131-EAF0-706E-B324-21708A0DB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7A3257-0CD5-EBBA-4DB6-C7DFEEC56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22558E-415C-EC56-72C4-186D63E1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3DAB7-9580-BDBF-4359-613DDE70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2E8AD-3EA3-A50D-AD4B-7803AFEE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96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9A6238-6B26-484E-554A-48A8E725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9CEEE8-9FAD-E136-783C-47F83EE1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086274-72DD-CE70-2287-2C0277D8D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AB3F9C-0B92-545E-F32E-3701BB5AC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855A06-CF7D-1E44-E743-E7ADEFDCE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0D99DF-BC8C-082F-914C-91B6F17D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E4E215-1F35-BAB5-B609-AE4B0B8D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43A9A5-9D6E-9595-6493-D350DAC8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06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0FB2E-50AC-29BC-C74E-36269F79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73F8361-C01E-C185-1D3C-4A70B7FE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2B991E-AB46-4653-1F2A-87E4B1F6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6FDE8E-A597-F81B-239C-A4A5FE04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44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4646ACA-D131-F3AE-3E15-61F88F6A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FEE752-29E3-639D-8E4E-40BA3658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626E52-268A-3AD0-2EF7-25260A04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48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8615A-F99E-36A9-1120-32286409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D05020-C4EB-F7B5-583C-5B4CE68D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398968-3139-CE74-74EF-2FCCF6D5B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79B0BD-6551-2F5A-5320-EEB3EDE9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F16638-6F29-CE0C-15D7-848C8B30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C41AE2-7A76-507B-4A55-B4F771E0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63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87932-1CAD-9FAC-668A-2E73EEB6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83DC08-9B10-6499-5F88-1B0411D34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B6F9A3-98E8-72B4-B9E3-900EABEDE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DD89BE-F591-227D-B3A5-DA4C348F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FC705A-1456-2084-FBC2-8D6C5FEE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416227-E618-5EBD-1176-24ACB64E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41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96CA6-EF15-2483-BC37-FF5A045A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CEED51-DB7C-8BE2-0837-5B155AA0B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74E2B6-7732-4668-31EA-60AED93C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656896-A1DC-A446-541B-D2EB1FBD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408DC1-5FF8-5563-59B8-4A8E495C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4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2785C9-F6C9-7E4E-C6B8-03B8CC4C1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C094EF-A96D-FC67-B816-F6D791447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CF201D-2702-F927-FAF2-B63FE05D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417F95-1A3A-DD1F-6C6A-BA8D0C46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9449EC-A3F4-F8CA-6794-3F516D9F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54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19"/>
            </a:gs>
            <a:gs pos="100000">
              <a:srgbClr val="161D2B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59B8F0F-6ADC-343B-0CD4-1A011BAA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744D02-8EB7-78E2-0232-1895BF07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CEDAD-CC9A-EAD0-C3C0-9895393AB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BAF5E-1510-944A-8719-D7744F0B702A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03E011-FD01-5760-26E0-E7841DC56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0D123-5B3A-B380-D424-5C339D52A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930CC-7420-9843-9E95-66B185B42EC6}" type="slidenum">
              <a:rPr lang="fr-FR" smtClean="0"/>
              <a:t>‹N°›</a:t>
            </a:fld>
            <a:endParaRPr lang="fr-FR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LimeAccent"/>
          <p:cNvSpPr/>
          <p:nvPr userDrawn="1"/>
        </p:nvSpPr>
        <p:spPr>
          <a:xfrm>
            <a:off x="11800000" y="6580000"/>
            <a:ext cx="280000" cy="280000"/>
          </a:xfrm>
          <a:prstGeom prst="rect">
            <a:avLst/>
          </a:prstGeom>
          <a:solidFill>
            <a:srgbClr val="84FF6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404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5F7F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5F7F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5F7F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5F7F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5F7FA"/>
          </a:solidFill>
          <a:latin typeface="+mn-lt"/>
          <a:ea typeface="+mn-ea"/>
          <a:cs typeface="+mn-cs"/>
        </a:defRPr>
      </a:lvl9pPr>
    </p:bodyStyle>
    <p:otherStyle>
      <a:defPPr>
        <a:defRPr lang="fr-FR">
          <a:solidFill>
            <a:srgbClr val="F5F7FA"/>
          </a:solidFill>
        </a:defRPr>
      </a:defPPr>
      <a:lvl1pPr marL="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5F7F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1EA33-1F82-C384-2B0F-D61A4BCF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B4D06E7-5BB5-D54A-B0E9-63C413043ADB}"/>
              </a:ext>
            </a:extLst>
          </p:cNvPr>
          <p:cNvSpPr txBox="1"/>
          <p:nvPr/>
        </p:nvSpPr>
        <p:spPr>
          <a:xfrm>
            <a:off x="762000" y="889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00D4FF"/>
                </a:solidFill>
                <a:latin typeface="Montserrat"/>
              </a:rPr>
              <a:t>PROJET DATA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27180D-C1D6-DD40-8F54-3F40FAE315B6}"/>
              </a:ext>
            </a:extLst>
          </p:cNvPr>
          <p:cNvSpPr/>
          <p:nvPr/>
        </p:nvSpPr>
        <p:spPr>
          <a:xfrm>
            <a:off x="762000" y="12954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B75E69-427B-3949-A8BF-9FCEEF74B4C2}"/>
              </a:ext>
            </a:extLst>
          </p:cNvPr>
          <p:cNvSpPr txBox="1"/>
          <p:nvPr/>
        </p:nvSpPr>
        <p:spPr>
          <a:xfrm>
            <a:off x="762000" y="1651000"/>
            <a:ext cx="10668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800" b="1">
                <a:solidFill>
                  <a:srgbClr val="FFFFFF"/>
                </a:solidFill>
                <a:latin typeface="Montserrat"/>
              </a:rPr>
              <a:t>Industrialisation d'un pipeline de transformation de données avec Kestra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FAC252-7222-CE4A-9275-956F1DF4AC65}"/>
              </a:ext>
            </a:extLst>
          </p:cNvPr>
          <p:cNvSpPr txBox="1"/>
          <p:nvPr/>
        </p:nvSpPr>
        <p:spPr>
          <a:xfrm>
            <a:off x="762000" y="39370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i="1">
                <a:solidFill>
                  <a:srgbClr val="84FF6E"/>
                </a:solidFill>
                <a:latin typeface="Inter"/>
              </a:rPr>
              <a:t>Projet de Data Engineering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45563-0B53-6944-905D-B95854597188}"/>
              </a:ext>
            </a:extLst>
          </p:cNvPr>
          <p:cNvSpPr/>
          <p:nvPr/>
        </p:nvSpPr>
        <p:spPr>
          <a:xfrm>
            <a:off x="762000" y="4889500"/>
            <a:ext cx="24765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9AE91-7C02-E34D-B7C6-B1B138C9F2D8}"/>
              </a:ext>
            </a:extLst>
          </p:cNvPr>
          <p:cNvSpPr/>
          <p:nvPr/>
        </p:nvSpPr>
        <p:spPr>
          <a:xfrm>
            <a:off x="762000" y="4889500"/>
            <a:ext cx="24765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C31ACB-6781-0841-9FBD-AC5A6564089E}"/>
              </a:ext>
            </a:extLst>
          </p:cNvPr>
          <p:cNvSpPr txBox="1"/>
          <p:nvPr/>
        </p:nvSpPr>
        <p:spPr>
          <a:xfrm>
            <a:off x="939800" y="50927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00D4FF"/>
                </a:solidFill>
                <a:latin typeface="Montserrat"/>
              </a:rPr>
              <a:t>WORKFLOW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CED7B4-101D-CC4A-A805-F50AB6AA5119}"/>
              </a:ext>
            </a:extLst>
          </p:cNvPr>
          <p:cNvSpPr txBox="1"/>
          <p:nvPr/>
        </p:nvSpPr>
        <p:spPr>
          <a:xfrm>
            <a:off x="939800" y="5448300"/>
            <a:ext cx="2120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Inter"/>
              </a:rPr>
              <a:t>Automatisé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3DA97-AC57-A449-A1B4-9007447E256C}"/>
              </a:ext>
            </a:extLst>
          </p:cNvPr>
          <p:cNvSpPr/>
          <p:nvPr/>
        </p:nvSpPr>
        <p:spPr>
          <a:xfrm>
            <a:off x="3429000" y="4889500"/>
            <a:ext cx="24765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E14B0-1718-CE41-AE3E-B09640E6E3E3}"/>
              </a:ext>
            </a:extLst>
          </p:cNvPr>
          <p:cNvSpPr/>
          <p:nvPr/>
        </p:nvSpPr>
        <p:spPr>
          <a:xfrm>
            <a:off x="3429000" y="4889500"/>
            <a:ext cx="2476500" cy="381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FC1AFA-7D32-594E-9EB9-16337A9C6624}"/>
              </a:ext>
            </a:extLst>
          </p:cNvPr>
          <p:cNvSpPr txBox="1"/>
          <p:nvPr/>
        </p:nvSpPr>
        <p:spPr>
          <a:xfrm>
            <a:off x="3606800" y="50927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84FF6E"/>
                </a:solidFill>
                <a:latin typeface="Montserrat"/>
              </a:rPr>
              <a:t>TRAITEMENT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AD42188-D43A-9248-95B3-B179FB5CEFFB}"/>
              </a:ext>
            </a:extLst>
          </p:cNvPr>
          <p:cNvSpPr txBox="1"/>
          <p:nvPr/>
        </p:nvSpPr>
        <p:spPr>
          <a:xfrm>
            <a:off x="3606800" y="5448300"/>
            <a:ext cx="2120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Inter"/>
              </a:rPr>
              <a:t>SQL &amp;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84F8D1-CACA-E44E-B30E-A1DF84EFEA79}"/>
              </a:ext>
            </a:extLst>
          </p:cNvPr>
          <p:cNvSpPr/>
          <p:nvPr/>
        </p:nvSpPr>
        <p:spPr>
          <a:xfrm>
            <a:off x="6096000" y="4889500"/>
            <a:ext cx="24765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A54992-F052-FE4F-AFC4-615CBE3BFE36}"/>
              </a:ext>
            </a:extLst>
          </p:cNvPr>
          <p:cNvSpPr/>
          <p:nvPr/>
        </p:nvSpPr>
        <p:spPr>
          <a:xfrm>
            <a:off x="6096000" y="4889500"/>
            <a:ext cx="24765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2667855-285A-774A-A32B-570DFDF57416}"/>
              </a:ext>
            </a:extLst>
          </p:cNvPr>
          <p:cNvSpPr txBox="1"/>
          <p:nvPr/>
        </p:nvSpPr>
        <p:spPr>
          <a:xfrm>
            <a:off x="6273800" y="50927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B547"/>
                </a:solidFill>
                <a:latin typeface="Montserrat"/>
              </a:rPr>
              <a:t>QUALITÉ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6441222-EFE1-AC49-8CF2-5F8DC9A3AE91}"/>
              </a:ext>
            </a:extLst>
          </p:cNvPr>
          <p:cNvSpPr txBox="1"/>
          <p:nvPr/>
        </p:nvSpPr>
        <p:spPr>
          <a:xfrm>
            <a:off x="6273800" y="5448300"/>
            <a:ext cx="2120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Inter"/>
              </a:rPr>
              <a:t>Tests intégrés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417EE-C1E7-9343-8A57-FB3AFC80D279}"/>
              </a:ext>
            </a:extLst>
          </p:cNvPr>
          <p:cNvSpPr/>
          <p:nvPr/>
        </p:nvSpPr>
        <p:spPr>
          <a:xfrm>
            <a:off x="8763000" y="4889500"/>
            <a:ext cx="24765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C4EF48-8D0A-814F-90D5-67357BA0E1CA}"/>
              </a:ext>
            </a:extLst>
          </p:cNvPr>
          <p:cNvSpPr/>
          <p:nvPr/>
        </p:nvSpPr>
        <p:spPr>
          <a:xfrm>
            <a:off x="8763000" y="4889500"/>
            <a:ext cx="2476500" cy="381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9D5DDC4-39B9-C74C-84BA-7092EC2F66C5}"/>
              </a:ext>
            </a:extLst>
          </p:cNvPr>
          <p:cNvSpPr txBox="1"/>
          <p:nvPr/>
        </p:nvSpPr>
        <p:spPr>
          <a:xfrm>
            <a:off x="8940800" y="50927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6B9D"/>
                </a:solidFill>
                <a:latin typeface="Montserrat"/>
              </a:rPr>
              <a:t>PLANIFIÉ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F576CCC-A488-A94B-B5A8-F6CA9E04F3C6}"/>
              </a:ext>
            </a:extLst>
          </p:cNvPr>
          <p:cNvSpPr txBox="1"/>
          <p:nvPr/>
        </p:nvSpPr>
        <p:spPr>
          <a:xfrm>
            <a:off x="8940800" y="5448300"/>
            <a:ext cx="21209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Inter"/>
              </a:rPr>
              <a:t>Cron &amp; exports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9865C87-4330-BE46-BF39-B7326E4E477E}"/>
              </a:ext>
            </a:extLst>
          </p:cNvPr>
          <p:cNvSpPr txBox="1"/>
          <p:nvPr/>
        </p:nvSpPr>
        <p:spPr>
          <a:xfrm>
            <a:off x="8636000" y="6350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i="1">
                <a:solidFill>
                  <a:srgbClr val="84FF6E"/>
                </a:solidFill>
                <a:latin typeface="Inter"/>
              </a:rPr>
              <a:t>Orchestré avec Kestra</a:t>
            </a:r>
          </a:p>
        </p:txBody>
      </p:sp>
    </p:spTree>
    <p:extLst>
      <p:ext uri="{BB962C8B-B14F-4D97-AF65-F5344CB8AC3E}">
        <p14:creationId xmlns:p14="http://schemas.microsoft.com/office/powerpoint/2010/main" val="247101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3F281BF-5604-BC49-BCDD-ED3343E0E1F5}"/>
              </a:ext>
            </a:extLst>
          </p:cNvPr>
          <p:cNvSpPr txBox="1"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00D4FF"/>
                </a:solidFill>
                <a:latin typeface="Montserrat"/>
              </a:rPr>
              <a:t>SOMMAIRE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EBBD3B-9E45-2244-993F-821AB2CBE841}"/>
              </a:ext>
            </a:extLst>
          </p:cNvPr>
          <p:cNvSpPr txBox="1"/>
          <p:nvPr/>
        </p:nvSpPr>
        <p:spPr>
          <a:xfrm>
            <a:off x="762000" y="9906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600" b="1">
                <a:solidFill>
                  <a:srgbClr val="FFFFFF"/>
                </a:solidFill>
                <a:latin typeface="Montserrat"/>
              </a:rPr>
              <a:t>Plan de la présentation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33026-D696-1E4D-8192-D532055374FA}"/>
              </a:ext>
            </a:extLst>
          </p:cNvPr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2ACFA-7789-714B-AB59-5060D4BFFC21}"/>
              </a:ext>
            </a:extLst>
          </p:cNvPr>
          <p:cNvSpPr/>
          <p:nvPr/>
        </p:nvSpPr>
        <p:spPr>
          <a:xfrm>
            <a:off x="762000" y="21590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699334-8198-8B43-ADFC-43D589A57E3F}"/>
              </a:ext>
            </a:extLst>
          </p:cNvPr>
          <p:cNvSpPr/>
          <p:nvPr/>
        </p:nvSpPr>
        <p:spPr>
          <a:xfrm>
            <a:off x="762000" y="2159000"/>
            <a:ext cx="50800" cy="16510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D036F0A-344C-5F47-8C1A-D94C14AE0C7B}"/>
              </a:ext>
            </a:extLst>
          </p:cNvPr>
          <p:cNvSpPr txBox="1"/>
          <p:nvPr/>
        </p:nvSpPr>
        <p:spPr>
          <a:xfrm>
            <a:off x="990600" y="23368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00D4FF"/>
                </a:solidFill>
                <a:latin typeface="Montserrat"/>
              </a:rPr>
              <a:t>01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452BAAF-9BBB-2040-AAAD-A8085A0414F6}"/>
              </a:ext>
            </a:extLst>
          </p:cNvPr>
          <p:cNvSpPr txBox="1"/>
          <p:nvPr/>
        </p:nvSpPr>
        <p:spPr>
          <a:xfrm>
            <a:off x="990600" y="27686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Introduction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8A60F4-AA3A-474C-9A9C-B68CC1C27D63}"/>
              </a:ext>
            </a:extLst>
          </p:cNvPr>
          <p:cNvSpPr txBox="1"/>
          <p:nvPr/>
        </p:nvSpPr>
        <p:spPr>
          <a:xfrm>
            <a:off x="990600" y="31496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Contexte, problématique, objectifs et données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8BE08-1EAD-EC4F-B53C-9B5B35CC70F3}"/>
              </a:ext>
            </a:extLst>
          </p:cNvPr>
          <p:cNvSpPr/>
          <p:nvPr/>
        </p:nvSpPr>
        <p:spPr>
          <a:xfrm>
            <a:off x="4572000" y="21590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CBB338-E68C-1F4C-8E08-469FE720E4BD}"/>
              </a:ext>
            </a:extLst>
          </p:cNvPr>
          <p:cNvSpPr/>
          <p:nvPr/>
        </p:nvSpPr>
        <p:spPr>
          <a:xfrm>
            <a:off x="4572000" y="2159000"/>
            <a:ext cx="50800" cy="1651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8DF77D8-7D64-C342-B24F-DF15256C0647}"/>
              </a:ext>
            </a:extLst>
          </p:cNvPr>
          <p:cNvSpPr txBox="1"/>
          <p:nvPr/>
        </p:nvSpPr>
        <p:spPr>
          <a:xfrm>
            <a:off x="4800600" y="23368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84FF6E"/>
                </a:solidFill>
                <a:latin typeface="Montserrat"/>
              </a:rPr>
              <a:t>02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B7945A7-D239-8D41-AD8F-8F5BA3E81137}"/>
              </a:ext>
            </a:extLst>
          </p:cNvPr>
          <p:cNvSpPr txBox="1"/>
          <p:nvPr/>
        </p:nvSpPr>
        <p:spPr>
          <a:xfrm>
            <a:off x="4800600" y="27686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Architecture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A10D970-C735-8344-8B3F-8B2468A1B8C1}"/>
              </a:ext>
            </a:extLst>
          </p:cNvPr>
          <p:cNvSpPr txBox="1"/>
          <p:nvPr/>
        </p:nvSpPr>
        <p:spPr>
          <a:xfrm>
            <a:off x="4800600" y="31496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Conception du pipeline et tests qualité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8638CC-F167-4641-B154-55448CDA0AB7}"/>
              </a:ext>
            </a:extLst>
          </p:cNvPr>
          <p:cNvSpPr/>
          <p:nvPr/>
        </p:nvSpPr>
        <p:spPr>
          <a:xfrm>
            <a:off x="8382000" y="21590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2B8DA2-8209-2E46-BF0B-2E93428954F8}"/>
              </a:ext>
            </a:extLst>
          </p:cNvPr>
          <p:cNvSpPr/>
          <p:nvPr/>
        </p:nvSpPr>
        <p:spPr>
          <a:xfrm>
            <a:off x="8382000" y="2159000"/>
            <a:ext cx="50800" cy="1651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AE4C3EB-F2E0-9B4C-AB0E-2CE2357590DC}"/>
              </a:ext>
            </a:extLst>
          </p:cNvPr>
          <p:cNvSpPr txBox="1"/>
          <p:nvPr/>
        </p:nvSpPr>
        <p:spPr>
          <a:xfrm>
            <a:off x="8610600" y="23368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FFB547"/>
                </a:solidFill>
                <a:latin typeface="Montserrat"/>
              </a:rPr>
              <a:t>03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39FDD3B-A0EF-9549-9977-836C3E02ABBA}"/>
              </a:ext>
            </a:extLst>
          </p:cNvPr>
          <p:cNvSpPr txBox="1"/>
          <p:nvPr/>
        </p:nvSpPr>
        <p:spPr>
          <a:xfrm>
            <a:off x="8610600" y="27686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Workflow Kestra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C997F46-8A1F-A14A-B4CC-FCA4F1126F87}"/>
              </a:ext>
            </a:extLst>
          </p:cNvPr>
          <p:cNvSpPr txBox="1"/>
          <p:nvPr/>
        </p:nvSpPr>
        <p:spPr>
          <a:xfrm>
            <a:off x="8610600" y="31496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SQL, Python, YAML et planification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315115-44D6-1343-B51F-859582A040BF}"/>
              </a:ext>
            </a:extLst>
          </p:cNvPr>
          <p:cNvSpPr/>
          <p:nvPr/>
        </p:nvSpPr>
        <p:spPr>
          <a:xfrm>
            <a:off x="762000" y="40386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1546B-59EE-9443-B9E1-82343474A7A1}"/>
              </a:ext>
            </a:extLst>
          </p:cNvPr>
          <p:cNvSpPr/>
          <p:nvPr/>
        </p:nvSpPr>
        <p:spPr>
          <a:xfrm>
            <a:off x="762000" y="4038600"/>
            <a:ext cx="50800" cy="1651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1AEA377-F76D-A042-B0FA-41F1B306C209}"/>
              </a:ext>
            </a:extLst>
          </p:cNvPr>
          <p:cNvSpPr txBox="1"/>
          <p:nvPr/>
        </p:nvSpPr>
        <p:spPr>
          <a:xfrm>
            <a:off x="990600" y="4216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FF6B9D"/>
                </a:solidFill>
                <a:latin typeface="Montserrat"/>
              </a:rPr>
              <a:t>04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7875E22-D23A-954B-8DFA-D8BC03AA8318}"/>
              </a:ext>
            </a:extLst>
          </p:cNvPr>
          <p:cNvSpPr txBox="1"/>
          <p:nvPr/>
        </p:nvSpPr>
        <p:spPr>
          <a:xfrm>
            <a:off x="990600" y="46482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Résultats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43641C-2153-3D42-9DAC-E9AA4A988035}"/>
              </a:ext>
            </a:extLst>
          </p:cNvPr>
          <p:cNvSpPr txBox="1"/>
          <p:nvPr/>
        </p:nvSpPr>
        <p:spPr>
          <a:xfrm>
            <a:off x="990600" y="50292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Volumétrie, indicateurs métier et exports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CEBA8F-BFCB-8B4A-AD81-8634E2B748E0}"/>
              </a:ext>
            </a:extLst>
          </p:cNvPr>
          <p:cNvSpPr/>
          <p:nvPr/>
        </p:nvSpPr>
        <p:spPr>
          <a:xfrm>
            <a:off x="4572000" y="40386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5A335B-EBB5-D04F-8F18-3DE3CC7EA558}"/>
              </a:ext>
            </a:extLst>
          </p:cNvPr>
          <p:cNvSpPr/>
          <p:nvPr/>
        </p:nvSpPr>
        <p:spPr>
          <a:xfrm>
            <a:off x="4572000" y="4038600"/>
            <a:ext cx="50800" cy="1651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9DB0D3B-D82B-BF43-B264-4FE5BA5A5CB3}"/>
              </a:ext>
            </a:extLst>
          </p:cNvPr>
          <p:cNvSpPr txBox="1"/>
          <p:nvPr/>
        </p:nvSpPr>
        <p:spPr>
          <a:xfrm>
            <a:off x="4800600" y="4216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8B5CF6"/>
                </a:solidFill>
                <a:latin typeface="Montserrat"/>
              </a:rPr>
              <a:t>05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17F612D-3438-4742-A261-7E2C7BF5E566}"/>
              </a:ext>
            </a:extLst>
          </p:cNvPr>
          <p:cNvSpPr txBox="1"/>
          <p:nvPr/>
        </p:nvSpPr>
        <p:spPr>
          <a:xfrm>
            <a:off x="4800600" y="46482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81E1193-C963-2349-AD7D-85D918B742ED}"/>
              </a:ext>
            </a:extLst>
          </p:cNvPr>
          <p:cNvSpPr txBox="1"/>
          <p:nvPr/>
        </p:nvSpPr>
        <p:spPr>
          <a:xfrm>
            <a:off x="4800600" y="50292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Bilan, difficultés et améliorations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C2EB6-2D52-A044-9B96-A8120B74F95B}"/>
              </a:ext>
            </a:extLst>
          </p:cNvPr>
          <p:cNvSpPr/>
          <p:nvPr/>
        </p:nvSpPr>
        <p:spPr>
          <a:xfrm>
            <a:off x="8382000" y="4038600"/>
            <a:ext cx="35560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659D53-A0C8-EC40-B6B9-55C145E17E3A}"/>
              </a:ext>
            </a:extLst>
          </p:cNvPr>
          <p:cNvSpPr/>
          <p:nvPr/>
        </p:nvSpPr>
        <p:spPr>
          <a:xfrm>
            <a:off x="8382000" y="4038600"/>
            <a:ext cx="50800" cy="16510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8A473D1-A171-B94C-ADBC-22DDF90A8D0B}"/>
              </a:ext>
            </a:extLst>
          </p:cNvPr>
          <p:cNvSpPr txBox="1"/>
          <p:nvPr/>
        </p:nvSpPr>
        <p:spPr>
          <a:xfrm>
            <a:off x="8610600" y="4216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06B6D4"/>
                </a:solidFill>
                <a:latin typeface="Montserrat"/>
              </a:rPr>
              <a:t>06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505AAFB-735B-5245-BC27-F106BA94FC3E}"/>
              </a:ext>
            </a:extLst>
          </p:cNvPr>
          <p:cNvSpPr txBox="1"/>
          <p:nvPr/>
        </p:nvSpPr>
        <p:spPr>
          <a:xfrm>
            <a:off x="8610600" y="46482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Démonstration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FC66A10F-5625-7842-96CC-B0E787042CE7}"/>
              </a:ext>
            </a:extLst>
          </p:cNvPr>
          <p:cNvSpPr txBox="1"/>
          <p:nvPr/>
        </p:nvSpPr>
        <p:spPr>
          <a:xfrm>
            <a:off x="8610600" y="5029200"/>
            <a:ext cx="317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A8B3C4"/>
                </a:solidFill>
                <a:latin typeface="Inter"/>
              </a:rPr>
              <a:t>Exécution et observation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9376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FA1B5-05B3-8EA3-650D-7D7B8517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DD50660A-B6CA-D048-81AD-0B7D5CDF4D8E}"/>
              </a:ext>
            </a:extLst>
          </p:cNvPr>
          <p:cNvSpPr txBox="1"/>
          <p:nvPr/>
        </p:nvSpPr>
        <p:spPr>
          <a:xfrm>
            <a:off x="762000" y="635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00D4FF"/>
                </a:solidFill>
                <a:latin typeface="Montserrat"/>
              </a:rPr>
              <a:t>01 · 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EE7DAF-8EE3-A540-B012-C6CE4C1D4F7B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Contexte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E066F1-7162-B148-8362-208A49D97EA6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6C5C7-21AE-E943-B90A-1993FF8B8198}"/>
              </a:ext>
            </a:extLst>
          </p:cNvPr>
          <p:cNvSpPr/>
          <p:nvPr/>
        </p:nvSpPr>
        <p:spPr>
          <a:xfrm>
            <a:off x="762000" y="2527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BED1A71-BAD0-6F40-A9DC-E99ED81751A1}"/>
              </a:ext>
            </a:extLst>
          </p:cNvPr>
          <p:cNvSpPr txBox="1"/>
          <p:nvPr/>
        </p:nvSpPr>
        <p:spPr>
          <a:xfrm>
            <a:off x="1117600" y="2400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BottleNeck exploite plusieurs sources de données pour suivre ses ventes et segmenter ses produits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ED9119-F1E5-4C47-92F8-F1AF009EDF75}"/>
              </a:ext>
            </a:extLst>
          </p:cNvPr>
          <p:cNvSpPr/>
          <p:nvPr/>
        </p:nvSpPr>
        <p:spPr>
          <a:xfrm>
            <a:off x="762000" y="3289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DE6DD17-C5B6-9D4E-A4C8-AFB0AD045312}"/>
              </a:ext>
            </a:extLst>
          </p:cNvPr>
          <p:cNvSpPr txBox="1"/>
          <p:nvPr/>
        </p:nvSpPr>
        <p:spPr>
          <a:xfrm>
            <a:off x="1117600" y="3162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Les analyses nécessitent nettoyage, fusion et calcul du chiffre d'affaires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157104-278F-054D-A5F0-1DFC70EE0942}"/>
              </a:ext>
            </a:extLst>
          </p:cNvPr>
          <p:cNvSpPr/>
          <p:nvPr/>
        </p:nvSpPr>
        <p:spPr>
          <a:xfrm>
            <a:off x="762000" y="4051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FF6D3D0-6F88-064D-A6BE-50623C70B40A}"/>
              </a:ext>
            </a:extLst>
          </p:cNvPr>
          <p:cNvSpPr txBox="1"/>
          <p:nvPr/>
        </p:nvSpPr>
        <p:spPr>
          <a:xfrm>
            <a:off x="1117600" y="3924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Ces traitements doivent être automatisés pour produire des résultats fiables et réguliers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B1898F-D8C5-754F-9BD8-7C1F521771A8}"/>
              </a:ext>
            </a:extLst>
          </p:cNvPr>
          <p:cNvSpPr/>
          <p:nvPr/>
        </p:nvSpPr>
        <p:spPr>
          <a:xfrm>
            <a:off x="762000" y="4813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48B09B0-C29E-4D4E-8A49-5218375C5B69}"/>
              </a:ext>
            </a:extLst>
          </p:cNvPr>
          <p:cNvSpPr txBox="1"/>
          <p:nvPr/>
        </p:nvSpPr>
        <p:spPr>
          <a:xfrm>
            <a:off x="1117600" y="4686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L'entreprise souhaite industrialiser ce processus avec Kestra</a:t>
            </a:r>
          </a:p>
        </p:txBody>
      </p:sp>
    </p:spTree>
    <p:extLst>
      <p:ext uri="{BB962C8B-B14F-4D97-AF65-F5344CB8AC3E}">
        <p14:creationId xmlns:p14="http://schemas.microsoft.com/office/powerpoint/2010/main" val="123633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20002-0C11-D661-CF89-3A3A5579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380BBAC3-02E1-414E-943C-B5CCC510211A}"/>
              </a:ext>
            </a:extLst>
          </p:cNvPr>
          <p:cNvSpPr txBox="1"/>
          <p:nvPr/>
        </p:nvSpPr>
        <p:spPr>
          <a:xfrm>
            <a:off x="762000" y="635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00D4FF"/>
                </a:solidFill>
                <a:latin typeface="Montserrat"/>
              </a:rPr>
              <a:t>01 · 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F505C67-22C7-284D-B9EA-0FF5FFD8F29B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Problématique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9C94B3-B419-2246-89D4-53459619CE0C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11DF0F-B5C8-B241-A7A0-9EC643089A7C}"/>
              </a:ext>
            </a:extLst>
          </p:cNvPr>
          <p:cNvSpPr/>
          <p:nvPr/>
        </p:nvSpPr>
        <p:spPr>
          <a:xfrm>
            <a:off x="762000" y="2527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B2F416-36B4-DD40-9E2E-B9C1B9163354}"/>
              </a:ext>
            </a:extLst>
          </p:cNvPr>
          <p:cNvSpPr txBox="1"/>
          <p:nvPr/>
        </p:nvSpPr>
        <p:spPr>
          <a:xfrm>
            <a:off x="1117600" y="2400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Traiter plusieurs sources de données hétérogènes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233112-A628-4D47-9D46-212438393F35}"/>
              </a:ext>
            </a:extLst>
          </p:cNvPr>
          <p:cNvSpPr/>
          <p:nvPr/>
        </p:nvSpPr>
        <p:spPr>
          <a:xfrm>
            <a:off x="762000" y="3289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45A14AC-25DB-B44C-9474-75154141665C}"/>
              </a:ext>
            </a:extLst>
          </p:cNvPr>
          <p:cNvSpPr txBox="1"/>
          <p:nvPr/>
        </p:nvSpPr>
        <p:spPr>
          <a:xfrm>
            <a:off x="1117600" y="3162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Garantir la qualité des traitements à chaque étape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B5C146-2E44-3043-B969-237A3C1E9DE6}"/>
              </a:ext>
            </a:extLst>
          </p:cNvPr>
          <p:cNvSpPr/>
          <p:nvPr/>
        </p:nvSpPr>
        <p:spPr>
          <a:xfrm>
            <a:off x="762000" y="4051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D839447-AE8B-E74B-9E8C-C09349E60159}"/>
              </a:ext>
            </a:extLst>
          </p:cNvPr>
          <p:cNvSpPr txBox="1"/>
          <p:nvPr/>
        </p:nvSpPr>
        <p:spPr>
          <a:xfrm>
            <a:off x="1117600" y="3924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Produire automatiquement des analyses exploitables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D2C28A-B5D6-E84C-9255-319E4CCC0596}"/>
              </a:ext>
            </a:extLst>
          </p:cNvPr>
          <p:cNvSpPr/>
          <p:nvPr/>
        </p:nvSpPr>
        <p:spPr>
          <a:xfrm>
            <a:off x="762000" y="4813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FD5B5C3-1B62-B24B-A104-3AFC45D684F0}"/>
              </a:ext>
            </a:extLst>
          </p:cNvPr>
          <p:cNvSpPr txBox="1"/>
          <p:nvPr/>
        </p:nvSpPr>
        <p:spPr>
          <a:xfrm>
            <a:off x="1117600" y="46863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Planifier l'exécution régulière du workflow</a:t>
            </a:r>
          </a:p>
        </p:txBody>
      </p:sp>
    </p:spTree>
    <p:extLst>
      <p:ext uri="{BB962C8B-B14F-4D97-AF65-F5344CB8AC3E}">
        <p14:creationId xmlns:p14="http://schemas.microsoft.com/office/powerpoint/2010/main" val="33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F2AFC-C23D-9189-F470-D56D649A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CE3608E2-B0CB-AC4E-AF40-C4B2C60F7AE5}"/>
              </a:ext>
            </a:extLst>
          </p:cNvPr>
          <p:cNvSpPr txBox="1"/>
          <p:nvPr/>
        </p:nvSpPr>
        <p:spPr>
          <a:xfrm>
            <a:off x="762000" y="635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00D4FF"/>
                </a:solidFill>
                <a:latin typeface="Montserrat"/>
              </a:rPr>
              <a:t>01 · 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749396-A193-D247-9268-AED47C4D6DAD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Objectifs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E2FCF6-5853-6C49-AA61-DA73CF456A23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5BEB77-CFDF-D046-8F36-9F60A96DB8F2}"/>
              </a:ext>
            </a:extLst>
          </p:cNvPr>
          <p:cNvSpPr/>
          <p:nvPr/>
        </p:nvSpPr>
        <p:spPr>
          <a:xfrm>
            <a:off x="762000" y="25273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7B863E-E364-1945-928B-A723A0F02445}"/>
              </a:ext>
            </a:extLst>
          </p:cNvPr>
          <p:cNvSpPr txBox="1"/>
          <p:nvPr/>
        </p:nvSpPr>
        <p:spPr>
          <a:xfrm>
            <a:off x="1117600" y="24003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Construire un workflow automatisé avec Kestra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A2365-BED2-2242-BBE0-7AD28BD9ED5D}"/>
              </a:ext>
            </a:extLst>
          </p:cNvPr>
          <p:cNvSpPr/>
          <p:nvPr/>
        </p:nvSpPr>
        <p:spPr>
          <a:xfrm>
            <a:off x="762000" y="32639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997F93B-9A54-BB43-9EBD-1CB0A1B8060A}"/>
              </a:ext>
            </a:extLst>
          </p:cNvPr>
          <p:cNvSpPr txBox="1"/>
          <p:nvPr/>
        </p:nvSpPr>
        <p:spPr>
          <a:xfrm>
            <a:off x="1117600" y="31369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Automatiser le nettoyage, la fusion et les calculs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BE1FBF-81EC-7D48-B83C-EC7FA5FE4C4C}"/>
              </a:ext>
            </a:extLst>
          </p:cNvPr>
          <p:cNvSpPr/>
          <p:nvPr/>
        </p:nvSpPr>
        <p:spPr>
          <a:xfrm>
            <a:off x="762000" y="40005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9C4967B-63FA-6644-BD14-7CED86E6ECA1}"/>
              </a:ext>
            </a:extLst>
          </p:cNvPr>
          <p:cNvSpPr txBox="1"/>
          <p:nvPr/>
        </p:nvSpPr>
        <p:spPr>
          <a:xfrm>
            <a:off x="1117600" y="38735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Identifier les vins premium via le Z-score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187686-9104-7F46-B387-9A054493C8C3}"/>
              </a:ext>
            </a:extLst>
          </p:cNvPr>
          <p:cNvSpPr/>
          <p:nvPr/>
        </p:nvSpPr>
        <p:spPr>
          <a:xfrm>
            <a:off x="762000" y="47371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816B4EE-C386-A241-AC39-59EEDC96E873}"/>
              </a:ext>
            </a:extLst>
          </p:cNvPr>
          <p:cNvSpPr txBox="1"/>
          <p:nvPr/>
        </p:nvSpPr>
        <p:spPr>
          <a:xfrm>
            <a:off x="1117600" y="46101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Générer automatiquement les exports métier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0CAB6B-90E9-A24B-B256-3D4E3D77FA21}"/>
              </a:ext>
            </a:extLst>
          </p:cNvPr>
          <p:cNvSpPr/>
          <p:nvPr/>
        </p:nvSpPr>
        <p:spPr>
          <a:xfrm>
            <a:off x="762000" y="5473700"/>
            <a:ext cx="152400" cy="1524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1385B4-D4EA-A24E-83CC-4289494A741B}"/>
              </a:ext>
            </a:extLst>
          </p:cNvPr>
          <p:cNvSpPr txBox="1"/>
          <p:nvPr/>
        </p:nvSpPr>
        <p:spPr>
          <a:xfrm>
            <a:off x="1117600" y="53467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Planifier l'exécution mensuelle du pipeline</a:t>
            </a:r>
          </a:p>
        </p:txBody>
      </p:sp>
    </p:spTree>
    <p:extLst>
      <p:ext uri="{BB962C8B-B14F-4D97-AF65-F5344CB8AC3E}">
        <p14:creationId xmlns:p14="http://schemas.microsoft.com/office/powerpoint/2010/main" val="95407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2B953-776F-8B81-8B9E-AAD82921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AA611F9A-EFA2-7543-B491-A5CCE69F60B4}"/>
              </a:ext>
            </a:extLst>
          </p:cNvPr>
          <p:cNvSpPr txBox="1"/>
          <p:nvPr/>
        </p:nvSpPr>
        <p:spPr>
          <a:xfrm>
            <a:off x="762000" y="635000"/>
            <a:ext cx="762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00D4FF"/>
                </a:solidFill>
                <a:latin typeface="Montserrat"/>
              </a:rPr>
              <a:t>01 · INTRODUCTION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190FAE-2E7B-B64B-85C6-E302DB612C0A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Présentation des données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76C71-00A0-D94E-8391-79DE1E649EF7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8F2C4E-D715-934E-8C36-D13E301A8F17}"/>
              </a:ext>
            </a:extLst>
          </p:cNvPr>
          <p:cNvSpPr/>
          <p:nvPr/>
        </p:nvSpPr>
        <p:spPr>
          <a:xfrm>
            <a:off x="762000" y="2540000"/>
            <a:ext cx="3429000" cy="1905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83FF8-8986-3F47-9E98-70E8DFE31585}"/>
              </a:ext>
            </a:extLst>
          </p:cNvPr>
          <p:cNvSpPr/>
          <p:nvPr/>
        </p:nvSpPr>
        <p:spPr>
          <a:xfrm>
            <a:off x="762000" y="2540000"/>
            <a:ext cx="3429000" cy="508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0558-C90B-5141-96F9-F9FAB46524A5}"/>
              </a:ext>
            </a:extLst>
          </p:cNvPr>
          <p:cNvSpPr/>
          <p:nvPr/>
        </p:nvSpPr>
        <p:spPr>
          <a:xfrm>
            <a:off x="1066800" y="2895600"/>
            <a:ext cx="508000" cy="5080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F1419"/>
                </a:solidFill>
                <a:latin typeface="Inter"/>
              </a:rPr>
              <a:t>{ 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F1BE716-04F6-FA4C-A47A-90C237993988}"/>
              </a:ext>
            </a:extLst>
          </p:cNvPr>
          <p:cNvSpPr txBox="1"/>
          <p:nvPr/>
        </p:nvSpPr>
        <p:spPr>
          <a:xfrm>
            <a:off x="1066800" y="3581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Montserrat"/>
              </a:rPr>
              <a:t>ERP.xlsx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9C52331-01B4-7141-9444-44DEBD44273E}"/>
              </a:ext>
            </a:extLst>
          </p:cNvPr>
          <p:cNvSpPr txBox="1"/>
          <p:nvPr/>
        </p:nvSpPr>
        <p:spPr>
          <a:xfrm>
            <a:off x="1066800" y="393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A8B3C4"/>
                </a:solidFill>
                <a:latin typeface="Inter"/>
              </a:rPr>
              <a:t>Données commerciales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15535B-6D97-0543-AA5D-1CFCE67634B4}"/>
              </a:ext>
            </a:extLst>
          </p:cNvPr>
          <p:cNvSpPr/>
          <p:nvPr/>
        </p:nvSpPr>
        <p:spPr>
          <a:xfrm>
            <a:off x="4508500" y="2540000"/>
            <a:ext cx="3429000" cy="1905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8062DF-0FEB-904D-A1A2-558094187AF8}"/>
              </a:ext>
            </a:extLst>
          </p:cNvPr>
          <p:cNvSpPr/>
          <p:nvPr/>
        </p:nvSpPr>
        <p:spPr>
          <a:xfrm>
            <a:off x="4508500" y="2540000"/>
            <a:ext cx="3429000" cy="508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C18D18-3055-F341-AFAD-A6EC090A1104}"/>
              </a:ext>
            </a:extLst>
          </p:cNvPr>
          <p:cNvSpPr/>
          <p:nvPr/>
        </p:nvSpPr>
        <p:spPr>
          <a:xfrm>
            <a:off x="4813300" y="2895600"/>
            <a:ext cx="508000" cy="508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F1419"/>
                </a:solidFill>
                <a:latin typeface="Inter"/>
              </a:rPr>
              <a:t>{ }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67F84B1-9856-3346-BE79-1040CC425BB7}"/>
              </a:ext>
            </a:extLst>
          </p:cNvPr>
          <p:cNvSpPr txBox="1"/>
          <p:nvPr/>
        </p:nvSpPr>
        <p:spPr>
          <a:xfrm>
            <a:off x="4813300" y="3581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Montserrat"/>
              </a:rPr>
              <a:t>WEB.xlsx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06F34BB-1FA4-9948-963A-FDEBBE921B02}"/>
              </a:ext>
            </a:extLst>
          </p:cNvPr>
          <p:cNvSpPr txBox="1"/>
          <p:nvPr/>
        </p:nvSpPr>
        <p:spPr>
          <a:xfrm>
            <a:off x="4813300" y="393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A8B3C4"/>
                </a:solidFill>
                <a:latin typeface="Inter"/>
              </a:rPr>
              <a:t>Données CMS / ventes en ligne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B01F9D-2388-C44F-9E07-E113DEBEAB17}"/>
              </a:ext>
            </a:extLst>
          </p:cNvPr>
          <p:cNvSpPr/>
          <p:nvPr/>
        </p:nvSpPr>
        <p:spPr>
          <a:xfrm>
            <a:off x="8255000" y="2540000"/>
            <a:ext cx="3429000" cy="1905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D31361-07FC-D548-A103-186FB7731D37}"/>
              </a:ext>
            </a:extLst>
          </p:cNvPr>
          <p:cNvSpPr/>
          <p:nvPr/>
        </p:nvSpPr>
        <p:spPr>
          <a:xfrm>
            <a:off x="8255000" y="2540000"/>
            <a:ext cx="3429000" cy="508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7163E0-536D-BE4D-960A-C0612CCBC888}"/>
              </a:ext>
            </a:extLst>
          </p:cNvPr>
          <p:cNvSpPr/>
          <p:nvPr/>
        </p:nvSpPr>
        <p:spPr>
          <a:xfrm>
            <a:off x="8559800" y="2895600"/>
            <a:ext cx="508000" cy="508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F1419"/>
                </a:solidFill>
                <a:latin typeface="Inter"/>
              </a:rPr>
              <a:t>{ 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52B9249-7BFD-BE47-A6FF-09E78AD94C98}"/>
              </a:ext>
            </a:extLst>
          </p:cNvPr>
          <p:cNvSpPr txBox="1"/>
          <p:nvPr/>
        </p:nvSpPr>
        <p:spPr>
          <a:xfrm>
            <a:off x="8559800" y="3581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FFFFFF"/>
                </a:solidFill>
                <a:latin typeface="Montserrat"/>
              </a:rPr>
              <a:t>LIAISON.xlsx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3110625-C03F-1D4E-9AD8-415C35D47013}"/>
              </a:ext>
            </a:extLst>
          </p:cNvPr>
          <p:cNvSpPr txBox="1"/>
          <p:nvPr/>
        </p:nvSpPr>
        <p:spPr>
          <a:xfrm>
            <a:off x="8559800" y="3937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>
                <a:solidFill>
                  <a:srgbClr val="A8B3C4"/>
                </a:solidFill>
                <a:latin typeface="Inter"/>
              </a:rPr>
              <a:t>Correspondance entre systèmes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CBE369D-484B-514F-8ABD-404102A42411}"/>
              </a:ext>
            </a:extLst>
          </p:cNvPr>
          <p:cNvSpPr txBox="1"/>
          <p:nvPr/>
        </p:nvSpPr>
        <p:spPr>
          <a:xfrm>
            <a:off x="762000" y="5016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84FF6E"/>
                </a:solidFill>
                <a:latin typeface="Inter"/>
              </a:rPr>
              <a:t>Objectif : fusionner ces sources pour produire des analyses unifiées</a:t>
            </a:r>
          </a:p>
        </p:txBody>
      </p:sp>
    </p:spTree>
    <p:extLst>
      <p:ext uri="{BB962C8B-B14F-4D97-AF65-F5344CB8AC3E}">
        <p14:creationId xmlns:p14="http://schemas.microsoft.com/office/powerpoint/2010/main" val="318854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1770E-03BC-9AE2-16DD-32AEC035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84B7F35-ED6A-544E-AEEA-911214B868D8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4FF6E"/>
                </a:solidFill>
                <a:latin typeface="Montserrat"/>
              </a:rPr>
              <a:t>02 · ARCHITECTURE D'AUTOMATISATION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1B78BFA-FD7E-404C-B69D-D98FDCD51D83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Compréhension des besoins métiers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6EF9A-FBE1-6D48-8240-B42670DF94A5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D4FF3-555B-6C47-B08E-71E9B2D74EA7}"/>
              </a:ext>
            </a:extLst>
          </p:cNvPr>
          <p:cNvSpPr/>
          <p:nvPr/>
        </p:nvSpPr>
        <p:spPr>
          <a:xfrm>
            <a:off x="762000" y="25273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B94DB9-5B3A-904C-BBAE-5A23FE6E4B3C}"/>
              </a:ext>
            </a:extLst>
          </p:cNvPr>
          <p:cNvSpPr txBox="1"/>
          <p:nvPr/>
        </p:nvSpPr>
        <p:spPr>
          <a:xfrm>
            <a:off x="1117600" y="24003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Automatiser les traitements réalisés par le Data Analyst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D8E5F-732D-F745-952F-844791B4EBF1}"/>
              </a:ext>
            </a:extLst>
          </p:cNvPr>
          <p:cNvSpPr/>
          <p:nvPr/>
        </p:nvSpPr>
        <p:spPr>
          <a:xfrm>
            <a:off x="762000" y="32639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CAC17F7-5DD4-B843-848B-75F3252D7272}"/>
              </a:ext>
            </a:extLst>
          </p:cNvPr>
          <p:cNvSpPr txBox="1"/>
          <p:nvPr/>
        </p:nvSpPr>
        <p:spPr>
          <a:xfrm>
            <a:off x="1117600" y="31369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Produire automatiquement les rapports de chiffre d'affaires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906975-2661-7748-BBEA-E41527C549DB}"/>
              </a:ext>
            </a:extLst>
          </p:cNvPr>
          <p:cNvSpPr/>
          <p:nvPr/>
        </p:nvSpPr>
        <p:spPr>
          <a:xfrm>
            <a:off x="762000" y="40005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FD510A-F9EE-EC4A-BEFF-4B1F416DB871}"/>
              </a:ext>
            </a:extLst>
          </p:cNvPr>
          <p:cNvSpPr txBox="1"/>
          <p:nvPr/>
        </p:nvSpPr>
        <p:spPr>
          <a:xfrm>
            <a:off x="1117600" y="38735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Identifier les vins premium et ordinaires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01F980-85DD-494E-8001-3C6C90645EA9}"/>
              </a:ext>
            </a:extLst>
          </p:cNvPr>
          <p:cNvSpPr/>
          <p:nvPr/>
        </p:nvSpPr>
        <p:spPr>
          <a:xfrm>
            <a:off x="762000" y="47371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0ACA6A7-DFF9-5849-82CA-926B1473B964}"/>
              </a:ext>
            </a:extLst>
          </p:cNvPr>
          <p:cNvSpPr txBox="1"/>
          <p:nvPr/>
        </p:nvSpPr>
        <p:spPr>
          <a:xfrm>
            <a:off x="1117600" y="46101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Garantir la qualité et la traçabilité des données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B9C669-99F2-2249-9E75-19B1DD78BF7E}"/>
              </a:ext>
            </a:extLst>
          </p:cNvPr>
          <p:cNvSpPr/>
          <p:nvPr/>
        </p:nvSpPr>
        <p:spPr>
          <a:xfrm>
            <a:off x="762000" y="54737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701B678-FB50-604C-8810-A65A54F9FCB0}"/>
              </a:ext>
            </a:extLst>
          </p:cNvPr>
          <p:cNvSpPr txBox="1"/>
          <p:nvPr/>
        </p:nvSpPr>
        <p:spPr>
          <a:xfrm>
            <a:off x="1117600" y="53467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Réduire les interventions manuelles récurrentes</a:t>
            </a:r>
          </a:p>
        </p:txBody>
      </p:sp>
    </p:spTree>
    <p:extLst>
      <p:ext uri="{BB962C8B-B14F-4D97-AF65-F5344CB8AC3E}">
        <p14:creationId xmlns:p14="http://schemas.microsoft.com/office/powerpoint/2010/main" val="165903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EDD22-8772-6643-539A-7DCD3E3F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34C9EA2D-5C2B-DF41-8590-F1ECFA2917DA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4FF6E"/>
                </a:solidFill>
                <a:latin typeface="Montserrat"/>
              </a:rPr>
              <a:t>02 · ARCHITECTURE D'AUTOMATISATION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F5D82D-7849-6B4E-A000-DA3DA6D83FF3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Construction du diagramme du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D994A6-52C4-F848-B20D-62F289759AA0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EF50FD3-00BB-E441-A247-15AC71F66739}"/>
              </a:ext>
            </a:extLst>
          </p:cNvPr>
          <p:cNvSpPr txBox="1"/>
          <p:nvPr/>
        </p:nvSpPr>
        <p:spPr>
          <a:xfrm>
            <a:off x="762000" y="2159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i="1">
                <a:solidFill>
                  <a:srgbClr val="84FF6E"/>
                </a:solidFill>
                <a:latin typeface="Inter"/>
              </a:rPr>
              <a:t>Objectif : conceptualiser l'enchaînement des traitements automatisés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18FDC6-5874-2243-AAFD-804350888A7B}"/>
              </a:ext>
            </a:extLst>
          </p:cNvPr>
          <p:cNvSpPr/>
          <p:nvPr/>
        </p:nvSpPr>
        <p:spPr>
          <a:xfrm>
            <a:off x="762000" y="29083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C77733B-7246-6748-81BD-197038B78E71}"/>
              </a:ext>
            </a:extLst>
          </p:cNvPr>
          <p:cNvSpPr txBox="1"/>
          <p:nvPr/>
        </p:nvSpPr>
        <p:spPr>
          <a:xfrm>
            <a:off x="1117600" y="27813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Import des fichiers ERP, WEB et LIAISON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F4D943-5852-DF4A-910B-41041758D3F4}"/>
              </a:ext>
            </a:extLst>
          </p:cNvPr>
          <p:cNvSpPr/>
          <p:nvPr/>
        </p:nvSpPr>
        <p:spPr>
          <a:xfrm>
            <a:off x="762000" y="36449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361D233-CCFB-9D4A-8862-98D58082B41C}"/>
              </a:ext>
            </a:extLst>
          </p:cNvPr>
          <p:cNvSpPr txBox="1"/>
          <p:nvPr/>
        </p:nvSpPr>
        <p:spPr>
          <a:xfrm>
            <a:off x="1117600" y="35179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Nettoyage des données et suppression des doublons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4E188F-422E-604D-AFEA-763D500F5CCD}"/>
              </a:ext>
            </a:extLst>
          </p:cNvPr>
          <p:cNvSpPr/>
          <p:nvPr/>
        </p:nvSpPr>
        <p:spPr>
          <a:xfrm>
            <a:off x="762000" y="43815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70FBF35-B897-734C-A70C-DF48A9742994}"/>
              </a:ext>
            </a:extLst>
          </p:cNvPr>
          <p:cNvSpPr txBox="1"/>
          <p:nvPr/>
        </p:nvSpPr>
        <p:spPr>
          <a:xfrm>
            <a:off x="1117600" y="42545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Fusion des différentes 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5BB36-EA68-9643-B23A-372954512D3F}"/>
              </a:ext>
            </a:extLst>
          </p:cNvPr>
          <p:cNvSpPr/>
          <p:nvPr/>
        </p:nvSpPr>
        <p:spPr>
          <a:xfrm>
            <a:off x="762000" y="51181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AD6CDF-14AB-2D40-B80C-AFA6F4B674B9}"/>
              </a:ext>
            </a:extLst>
          </p:cNvPr>
          <p:cNvSpPr txBox="1"/>
          <p:nvPr/>
        </p:nvSpPr>
        <p:spPr>
          <a:xfrm>
            <a:off x="1117600" y="49911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Calculs métier (chiffre d'affaires, Z-score)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D4ED8D-CB1D-FB49-822F-502D446F87CE}"/>
              </a:ext>
            </a:extLst>
          </p:cNvPr>
          <p:cNvSpPr/>
          <p:nvPr/>
        </p:nvSpPr>
        <p:spPr>
          <a:xfrm>
            <a:off x="762000" y="5854700"/>
            <a:ext cx="152400" cy="1524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ADC297-7B79-EA4F-A523-136A2454A2A8}"/>
              </a:ext>
            </a:extLst>
          </p:cNvPr>
          <p:cNvSpPr txBox="1"/>
          <p:nvPr/>
        </p:nvSpPr>
        <p:spPr>
          <a:xfrm>
            <a:off x="1117600" y="57277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E5EAF2"/>
                </a:solidFill>
                <a:latin typeface="Inter"/>
              </a:rPr>
              <a:t>Génération automatique des exports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271793E-DF74-A0C4-754F-47D25AC74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808" y="1544864"/>
            <a:ext cx="3360992" cy="52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3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9E895-4D5D-1011-672E-D9DC5140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4C9EE7E0-3DE8-624C-AE94-AA96DFD6508A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4FF6E"/>
                </a:solidFill>
                <a:latin typeface="Montserrat"/>
              </a:rPr>
              <a:t>02 · ARCHITECTURE D'AUTOMATISATION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C4A5B89-CA72-934F-9568-8FA507933F0C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Flux des traitements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CF03B-00E5-1B4F-A3B5-A3081BB0EC00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D7339C-0EE2-594A-BDE8-7BC680DA8CE8}"/>
              </a:ext>
            </a:extLst>
          </p:cNvPr>
          <p:cNvSpPr/>
          <p:nvPr/>
        </p:nvSpPr>
        <p:spPr>
          <a:xfrm>
            <a:off x="7302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9D499-B0B8-6642-8658-9B901D5C48B4}"/>
              </a:ext>
            </a:extLst>
          </p:cNvPr>
          <p:cNvSpPr/>
          <p:nvPr/>
        </p:nvSpPr>
        <p:spPr>
          <a:xfrm>
            <a:off x="730250" y="2794000"/>
            <a:ext cx="1651000" cy="508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692774D-4474-D74F-82C4-8A2679270E97}"/>
              </a:ext>
            </a:extLst>
          </p:cNvPr>
          <p:cNvSpPr txBox="1"/>
          <p:nvPr/>
        </p:nvSpPr>
        <p:spPr>
          <a:xfrm>
            <a:off x="8318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00D4FF"/>
                </a:solidFill>
                <a:latin typeface="Montserrat"/>
              </a:rPr>
              <a:t>SOURCES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79B31E8-3DCC-6D4C-A1DC-31E29D9AD5B5}"/>
              </a:ext>
            </a:extLst>
          </p:cNvPr>
          <p:cNvSpPr txBox="1"/>
          <p:nvPr/>
        </p:nvSpPr>
        <p:spPr>
          <a:xfrm>
            <a:off x="8318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ERP + WEB
+ LIAISON</a:t>
            </a:r>
          </a:p>
        </p:txBody>
      </p:sp>
      <p:sp>
        <p:nvSpPr>
          <p:cNvPr id="15" name="Flèche vers la droite 14">
            <a:extLst>
              <a:ext uri="{FF2B5EF4-FFF2-40B4-BE49-F238E27FC236}">
                <a16:creationId xmlns:a16="http://schemas.microsoft.com/office/drawing/2014/main" id="{B22377F2-D7B6-A547-A15F-9F87575966A2}"/>
              </a:ext>
            </a:extLst>
          </p:cNvPr>
          <p:cNvSpPr/>
          <p:nvPr/>
        </p:nvSpPr>
        <p:spPr>
          <a:xfrm>
            <a:off x="2393950" y="3308350"/>
            <a:ext cx="139700" cy="177800"/>
          </a:xfrm>
          <a:prstGeom prst="rightArrow">
            <a:avLst/>
          </a:prstGeom>
          <a:solidFill>
            <a:srgbClr val="A8B3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2D935-A249-2748-91D0-CC151B452862}"/>
              </a:ext>
            </a:extLst>
          </p:cNvPr>
          <p:cNvSpPr/>
          <p:nvPr/>
        </p:nvSpPr>
        <p:spPr>
          <a:xfrm>
            <a:off x="25463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639716-6621-0148-8BAB-234D849AA074}"/>
              </a:ext>
            </a:extLst>
          </p:cNvPr>
          <p:cNvSpPr/>
          <p:nvPr/>
        </p:nvSpPr>
        <p:spPr>
          <a:xfrm>
            <a:off x="2546350" y="2794000"/>
            <a:ext cx="1651000" cy="508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47F1217-E44C-9147-B688-54D5D9E27D07}"/>
              </a:ext>
            </a:extLst>
          </p:cNvPr>
          <p:cNvSpPr txBox="1"/>
          <p:nvPr/>
        </p:nvSpPr>
        <p:spPr>
          <a:xfrm>
            <a:off x="26479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84FF6E"/>
                </a:solidFill>
                <a:latin typeface="Montserrat"/>
              </a:rPr>
              <a:t>NETTOYAGE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97CB6CF-8C67-1444-9C1F-3BB5DEF2C1BA}"/>
              </a:ext>
            </a:extLst>
          </p:cNvPr>
          <p:cNvSpPr txBox="1"/>
          <p:nvPr/>
        </p:nvSpPr>
        <p:spPr>
          <a:xfrm>
            <a:off x="26479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Suppression
doublons</a:t>
            </a:r>
          </a:p>
        </p:txBody>
      </p:sp>
      <p:sp>
        <p:nvSpPr>
          <p:cNvPr id="20" name="Flèche vers la droite 19">
            <a:extLst>
              <a:ext uri="{FF2B5EF4-FFF2-40B4-BE49-F238E27FC236}">
                <a16:creationId xmlns:a16="http://schemas.microsoft.com/office/drawing/2014/main" id="{B3307D06-C8E2-6844-8140-F354EAAD074F}"/>
              </a:ext>
            </a:extLst>
          </p:cNvPr>
          <p:cNvSpPr/>
          <p:nvPr/>
        </p:nvSpPr>
        <p:spPr>
          <a:xfrm>
            <a:off x="4210050" y="3308350"/>
            <a:ext cx="139700" cy="177800"/>
          </a:xfrm>
          <a:prstGeom prst="rightArrow">
            <a:avLst/>
          </a:prstGeom>
          <a:solidFill>
            <a:srgbClr val="A8B3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1547DA-89F8-3547-8DF4-753B2C539380}"/>
              </a:ext>
            </a:extLst>
          </p:cNvPr>
          <p:cNvSpPr/>
          <p:nvPr/>
        </p:nvSpPr>
        <p:spPr>
          <a:xfrm>
            <a:off x="43624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0960F5-1FD7-8F42-B5A7-2304C81329C8}"/>
              </a:ext>
            </a:extLst>
          </p:cNvPr>
          <p:cNvSpPr/>
          <p:nvPr/>
        </p:nvSpPr>
        <p:spPr>
          <a:xfrm>
            <a:off x="4362450" y="2794000"/>
            <a:ext cx="1651000" cy="508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70FC817-74FF-DB43-91AE-F3F667609167}"/>
              </a:ext>
            </a:extLst>
          </p:cNvPr>
          <p:cNvSpPr txBox="1"/>
          <p:nvPr/>
        </p:nvSpPr>
        <p:spPr>
          <a:xfrm>
            <a:off x="44640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B547"/>
                </a:solidFill>
                <a:latin typeface="Montserrat"/>
              </a:rPr>
              <a:t>FUSION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DDD670E-2DB2-2D46-A54F-5992B2A6D08D}"/>
              </a:ext>
            </a:extLst>
          </p:cNvPr>
          <p:cNvSpPr txBox="1"/>
          <p:nvPr/>
        </p:nvSpPr>
        <p:spPr>
          <a:xfrm>
            <a:off x="44640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Jointure
des sources</a:t>
            </a:r>
          </a:p>
        </p:txBody>
      </p:sp>
      <p:sp>
        <p:nvSpPr>
          <p:cNvPr id="25" name="Flèche vers la droite 24">
            <a:extLst>
              <a:ext uri="{FF2B5EF4-FFF2-40B4-BE49-F238E27FC236}">
                <a16:creationId xmlns:a16="http://schemas.microsoft.com/office/drawing/2014/main" id="{C000F2EF-1919-E14E-9F72-4E76B7570CE2}"/>
              </a:ext>
            </a:extLst>
          </p:cNvPr>
          <p:cNvSpPr/>
          <p:nvPr/>
        </p:nvSpPr>
        <p:spPr>
          <a:xfrm>
            <a:off x="6026150" y="3308350"/>
            <a:ext cx="139700" cy="177800"/>
          </a:xfrm>
          <a:prstGeom prst="rightArrow">
            <a:avLst/>
          </a:prstGeom>
          <a:solidFill>
            <a:srgbClr val="A8B3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1B3EEB-150D-3040-B970-3B3F593890F9}"/>
              </a:ext>
            </a:extLst>
          </p:cNvPr>
          <p:cNvSpPr/>
          <p:nvPr/>
        </p:nvSpPr>
        <p:spPr>
          <a:xfrm>
            <a:off x="61785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26CCD8-7F90-054D-A07E-A7506D4B510C}"/>
              </a:ext>
            </a:extLst>
          </p:cNvPr>
          <p:cNvSpPr/>
          <p:nvPr/>
        </p:nvSpPr>
        <p:spPr>
          <a:xfrm>
            <a:off x="6178550" y="2794000"/>
            <a:ext cx="1651000" cy="508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DA5B45-3884-1F44-BDF1-AC7459244EDB}"/>
              </a:ext>
            </a:extLst>
          </p:cNvPr>
          <p:cNvSpPr txBox="1"/>
          <p:nvPr/>
        </p:nvSpPr>
        <p:spPr>
          <a:xfrm>
            <a:off x="62801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6B9D"/>
                </a:solidFill>
                <a:latin typeface="Montserrat"/>
              </a:rPr>
              <a:t>CALCUL CA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DF92F62-86A6-C042-8454-D2C4D5437D6D}"/>
              </a:ext>
            </a:extLst>
          </p:cNvPr>
          <p:cNvSpPr txBox="1"/>
          <p:nvPr/>
        </p:nvSpPr>
        <p:spPr>
          <a:xfrm>
            <a:off x="62801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Chiffre
d'affaires</a:t>
            </a:r>
          </a:p>
        </p:txBody>
      </p:sp>
      <p:sp>
        <p:nvSpPr>
          <p:cNvPr id="30" name="Flèche vers la droite 29">
            <a:extLst>
              <a:ext uri="{FF2B5EF4-FFF2-40B4-BE49-F238E27FC236}">
                <a16:creationId xmlns:a16="http://schemas.microsoft.com/office/drawing/2014/main" id="{7D16FD9C-DFD1-C04C-8A6F-F6F0D174AED5}"/>
              </a:ext>
            </a:extLst>
          </p:cNvPr>
          <p:cNvSpPr/>
          <p:nvPr/>
        </p:nvSpPr>
        <p:spPr>
          <a:xfrm>
            <a:off x="7842250" y="3308350"/>
            <a:ext cx="139700" cy="177800"/>
          </a:xfrm>
          <a:prstGeom prst="rightArrow">
            <a:avLst/>
          </a:prstGeom>
          <a:solidFill>
            <a:srgbClr val="A8B3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0F033D-00DA-1E40-9BCD-84E4870D599F}"/>
              </a:ext>
            </a:extLst>
          </p:cNvPr>
          <p:cNvSpPr/>
          <p:nvPr/>
        </p:nvSpPr>
        <p:spPr>
          <a:xfrm>
            <a:off x="79946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72A4F-07B3-274F-B742-FDD4E3D619DC}"/>
              </a:ext>
            </a:extLst>
          </p:cNvPr>
          <p:cNvSpPr/>
          <p:nvPr/>
        </p:nvSpPr>
        <p:spPr>
          <a:xfrm>
            <a:off x="7994650" y="2794000"/>
            <a:ext cx="1651000" cy="50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AED670D-5E24-9947-85A4-F093494FB309}"/>
              </a:ext>
            </a:extLst>
          </p:cNvPr>
          <p:cNvSpPr txBox="1"/>
          <p:nvPr/>
        </p:nvSpPr>
        <p:spPr>
          <a:xfrm>
            <a:off x="80962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8B5CF6"/>
                </a:solidFill>
                <a:latin typeface="Montserrat"/>
              </a:rPr>
              <a:t>Z-SCORE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6681BBA-CD8D-0841-B384-05EB0280C727}"/>
              </a:ext>
            </a:extLst>
          </p:cNvPr>
          <p:cNvSpPr txBox="1"/>
          <p:nvPr/>
        </p:nvSpPr>
        <p:spPr>
          <a:xfrm>
            <a:off x="80962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Vins
premium</a:t>
            </a:r>
          </a:p>
        </p:txBody>
      </p:sp>
      <p:sp>
        <p:nvSpPr>
          <p:cNvPr id="35" name="Flèche vers la droite 34">
            <a:extLst>
              <a:ext uri="{FF2B5EF4-FFF2-40B4-BE49-F238E27FC236}">
                <a16:creationId xmlns:a16="http://schemas.microsoft.com/office/drawing/2014/main" id="{C5865373-111A-F342-991E-98B010314699}"/>
              </a:ext>
            </a:extLst>
          </p:cNvPr>
          <p:cNvSpPr/>
          <p:nvPr/>
        </p:nvSpPr>
        <p:spPr>
          <a:xfrm>
            <a:off x="9658350" y="3308350"/>
            <a:ext cx="139700" cy="177800"/>
          </a:xfrm>
          <a:prstGeom prst="rightArrow">
            <a:avLst/>
          </a:prstGeom>
          <a:solidFill>
            <a:srgbClr val="A8B3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1A5CCF-F5FE-2C43-98EF-196A63A58927}"/>
              </a:ext>
            </a:extLst>
          </p:cNvPr>
          <p:cNvSpPr/>
          <p:nvPr/>
        </p:nvSpPr>
        <p:spPr>
          <a:xfrm>
            <a:off x="9810750" y="2794000"/>
            <a:ext cx="1651000" cy="12065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2D6805-1EF0-B44B-8393-1D3098589B2F}"/>
              </a:ext>
            </a:extLst>
          </p:cNvPr>
          <p:cNvSpPr/>
          <p:nvPr/>
        </p:nvSpPr>
        <p:spPr>
          <a:xfrm>
            <a:off x="9810750" y="2794000"/>
            <a:ext cx="1651000" cy="50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612C0FA-8A20-9543-B13A-02A9CB642CE1}"/>
              </a:ext>
            </a:extLst>
          </p:cNvPr>
          <p:cNvSpPr txBox="1"/>
          <p:nvPr/>
        </p:nvSpPr>
        <p:spPr>
          <a:xfrm>
            <a:off x="9912350" y="2971800"/>
            <a:ext cx="144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06B6D4"/>
                </a:solidFill>
                <a:latin typeface="Montserrat"/>
              </a:rPr>
              <a:t>EXPORTS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71D6AB0-6D7C-E842-BFBD-ABD16A9085D8}"/>
              </a:ext>
            </a:extLst>
          </p:cNvPr>
          <p:cNvSpPr txBox="1"/>
          <p:nvPr/>
        </p:nvSpPr>
        <p:spPr>
          <a:xfrm>
            <a:off x="9912350" y="3251200"/>
            <a:ext cx="1447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Inter"/>
              </a:rPr>
              <a:t>CSV
métier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6FDFE7B-8B4D-7C4A-8EBE-E1B7E4A7CB1F}"/>
              </a:ext>
            </a:extLst>
          </p:cNvPr>
          <p:cNvSpPr txBox="1"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A8B3C4"/>
                </a:solidFill>
                <a:latin typeface="Inter"/>
              </a:rPr>
              <a:t>Pipeline de transformation linéaire — orchestré par Kestra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34EE40-9C39-F140-BE00-06C96C88BAE4}"/>
              </a:ext>
            </a:extLst>
          </p:cNvPr>
          <p:cNvSpPr/>
          <p:nvPr/>
        </p:nvSpPr>
        <p:spPr>
          <a:xfrm>
            <a:off x="1270000" y="5143500"/>
            <a:ext cx="4318000" cy="1143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3A32F3-F664-9541-A41B-FA113546F824}"/>
              </a:ext>
            </a:extLst>
          </p:cNvPr>
          <p:cNvSpPr/>
          <p:nvPr/>
        </p:nvSpPr>
        <p:spPr>
          <a:xfrm>
            <a:off x="1270000" y="5143500"/>
            <a:ext cx="50800" cy="11430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B80CC53-6A1B-2448-879E-ED629A98C68E}"/>
              </a:ext>
            </a:extLst>
          </p:cNvPr>
          <p:cNvSpPr txBox="1"/>
          <p:nvPr/>
        </p:nvSpPr>
        <p:spPr>
          <a:xfrm>
            <a:off x="1498600" y="53213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00D4FF"/>
                </a:solidFill>
                <a:latin typeface="Montserrat"/>
              </a:rPr>
              <a:t>ENTRÉES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DFC5F7E-42DF-034E-BDAE-1B79947F7149}"/>
              </a:ext>
            </a:extLst>
          </p:cNvPr>
          <p:cNvSpPr txBox="1"/>
          <p:nvPr/>
        </p:nvSpPr>
        <p:spPr>
          <a:xfrm>
            <a:off x="1498600" y="5651500"/>
            <a:ext cx="393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Inter"/>
              </a:rPr>
              <a:t>ERP.xlsx · WEB.xlsx · LIAISON.xlsx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7AE78D-6A00-6C48-BED0-11E59B3303EC}"/>
              </a:ext>
            </a:extLst>
          </p:cNvPr>
          <p:cNvSpPr/>
          <p:nvPr/>
        </p:nvSpPr>
        <p:spPr>
          <a:xfrm>
            <a:off x="6604000" y="5143500"/>
            <a:ext cx="4318000" cy="1143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5A17D2-7701-EE4B-B18B-EF854490E412}"/>
              </a:ext>
            </a:extLst>
          </p:cNvPr>
          <p:cNvSpPr/>
          <p:nvPr/>
        </p:nvSpPr>
        <p:spPr>
          <a:xfrm>
            <a:off x="6604000" y="5143500"/>
            <a:ext cx="50800" cy="1143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EE42FAF-7690-564C-8F90-5CB5B49A1C0C}"/>
              </a:ext>
            </a:extLst>
          </p:cNvPr>
          <p:cNvSpPr txBox="1"/>
          <p:nvPr/>
        </p:nvSpPr>
        <p:spPr>
          <a:xfrm>
            <a:off x="6832600" y="53213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84FF6E"/>
                </a:solidFill>
                <a:latin typeface="Montserrat"/>
              </a:rPr>
              <a:t>SORTIES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2F9236F-B8C4-1449-AF0C-155BC88ED2E9}"/>
              </a:ext>
            </a:extLst>
          </p:cNvPr>
          <p:cNvSpPr txBox="1"/>
          <p:nvPr/>
        </p:nvSpPr>
        <p:spPr>
          <a:xfrm>
            <a:off x="6832600" y="5651500"/>
            <a:ext cx="393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Inter"/>
              </a:rPr>
              <a:t>rapport_CA · vins_premium · vins_ordinaires</a:t>
            </a:r>
          </a:p>
        </p:txBody>
      </p:sp>
    </p:spTree>
    <p:extLst>
      <p:ext uri="{BB962C8B-B14F-4D97-AF65-F5344CB8AC3E}">
        <p14:creationId xmlns:p14="http://schemas.microsoft.com/office/powerpoint/2010/main" val="107273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C7927-FA7E-436B-81E8-CB17941D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Texte 21">
            <a:extLst>
              <a:ext uri="{FF2B5EF4-FFF2-40B4-BE49-F238E27FC236}">
                <a16:creationId xmlns:a16="http://schemas.microsoft.com/office/drawing/2014/main" id="{F9ECEFFB-806F-154D-8E60-26571165CDE6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4FF6E"/>
                </a:solidFill>
                <a:latin typeface="Montserrat"/>
              </a:rPr>
              <a:t>02 · ARCHITECTURE D'AUTOMATISATION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C6BA27D-7304-2740-B090-6DA5FBA28714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Intégration des tests qualité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019849-B7CE-9242-878C-E9DBE8FEA535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137D38-BCCF-7446-9C47-5864CF9645D7}"/>
              </a:ext>
            </a:extLst>
          </p:cNvPr>
          <p:cNvSpPr txBox="1"/>
          <p:nvPr/>
        </p:nvSpPr>
        <p:spPr>
          <a:xfrm>
            <a:off x="762000" y="2159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84FF6E"/>
                </a:solidFill>
                <a:latin typeface="Inter"/>
              </a:rPr>
              <a:t>Contrôles réalisés à chaque étape du pipeline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FF1A80-76E9-E948-95C5-E2F3DEAA99C7}"/>
              </a:ext>
            </a:extLst>
          </p:cNvPr>
          <p:cNvSpPr/>
          <p:nvPr/>
        </p:nvSpPr>
        <p:spPr>
          <a:xfrm>
            <a:off x="762000" y="2946400"/>
            <a:ext cx="127000" cy="127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60C39E9-9CB4-1745-A6C2-0AE61CF0F76E}"/>
              </a:ext>
            </a:extLst>
          </p:cNvPr>
          <p:cNvSpPr txBox="1"/>
          <p:nvPr/>
        </p:nvSpPr>
        <p:spPr>
          <a:xfrm>
            <a:off x="1066800" y="28194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Vérification de l'absence de doublons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5E4A55-FEB9-9A42-B15E-CAE1919EEB8B}"/>
              </a:ext>
            </a:extLst>
          </p:cNvPr>
          <p:cNvSpPr/>
          <p:nvPr/>
        </p:nvSpPr>
        <p:spPr>
          <a:xfrm>
            <a:off x="762000" y="3644900"/>
            <a:ext cx="127000" cy="127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69F0479-4F51-3A4E-8FEF-E15054C87EE4}"/>
              </a:ext>
            </a:extLst>
          </p:cNvPr>
          <p:cNvSpPr txBox="1"/>
          <p:nvPr/>
        </p:nvSpPr>
        <p:spPr>
          <a:xfrm>
            <a:off x="1066800" y="35179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Contrôle des valeurs manquantes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0C7CFC-8E98-6245-AB7B-31900D74DAA3}"/>
              </a:ext>
            </a:extLst>
          </p:cNvPr>
          <p:cNvSpPr/>
          <p:nvPr/>
        </p:nvSpPr>
        <p:spPr>
          <a:xfrm>
            <a:off x="762000" y="4343400"/>
            <a:ext cx="127000" cy="127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B0DDB88-06F2-EF43-9FF0-A37AEDBB1E15}"/>
              </a:ext>
            </a:extLst>
          </p:cNvPr>
          <p:cNvSpPr txBox="1"/>
          <p:nvPr/>
        </p:nvSpPr>
        <p:spPr>
          <a:xfrm>
            <a:off x="1066800" y="42164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Validation des jointures entre sources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6FB8D0-64FD-CB4C-94C4-E7EF473BCB04}"/>
              </a:ext>
            </a:extLst>
          </p:cNvPr>
          <p:cNvSpPr/>
          <p:nvPr/>
        </p:nvSpPr>
        <p:spPr>
          <a:xfrm>
            <a:off x="762000" y="5041900"/>
            <a:ext cx="127000" cy="127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04DC0C8-A96A-8A4B-8D80-CEF8A848C5AD}"/>
              </a:ext>
            </a:extLst>
          </p:cNvPr>
          <p:cNvSpPr txBox="1"/>
          <p:nvPr/>
        </p:nvSpPr>
        <p:spPr>
          <a:xfrm>
            <a:off x="1066800" y="49149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Vérification de la cohérence du chiffre d'affaires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38733B-2398-9A42-B744-6C3C724C3525}"/>
              </a:ext>
            </a:extLst>
          </p:cNvPr>
          <p:cNvSpPr/>
          <p:nvPr/>
        </p:nvSpPr>
        <p:spPr>
          <a:xfrm>
            <a:off x="762000" y="5740400"/>
            <a:ext cx="127000" cy="1270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61BD118-AF77-294E-B0FF-33495BBD72E4}"/>
              </a:ext>
            </a:extLst>
          </p:cNvPr>
          <p:cNvSpPr txBox="1"/>
          <p:nvPr/>
        </p:nvSpPr>
        <p:spPr>
          <a:xfrm>
            <a:off x="1066800" y="5613400"/>
            <a:ext cx="1041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Validation du Z-score et des seuils premium</a:t>
            </a:r>
          </a:p>
        </p:txBody>
      </p:sp>
    </p:spTree>
    <p:extLst>
      <p:ext uri="{BB962C8B-B14F-4D97-AF65-F5344CB8AC3E}">
        <p14:creationId xmlns:p14="http://schemas.microsoft.com/office/powerpoint/2010/main" val="62282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DC95C-E43E-E354-202E-8BA30AED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5AB182D5-BC9B-BFCC-0FBF-42EEED7F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880" y="2615325"/>
            <a:ext cx="7772400" cy="4107532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8B00479-0F47-9444-ACCB-229171443B36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1EB149A-AB5E-2E4D-95B4-0B012BEE8817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Présentation de Kestra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909608-8F9F-2A46-96C1-94C6A8927F39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31B19A-FF51-5840-A325-835A4983A102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EFA7497-B3CC-9E46-9534-FAE42593C669}"/>
              </a:ext>
            </a:extLst>
          </p:cNvPr>
          <p:cNvSpPr txBox="1"/>
          <p:nvPr/>
        </p:nvSpPr>
        <p:spPr>
          <a:xfrm>
            <a:off x="1066800" y="23749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Orchestration de workflows de données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D59F71-F109-974F-8C5D-EB137CEB973D}"/>
              </a:ext>
            </a:extLst>
          </p:cNvPr>
          <p:cNvSpPr/>
          <p:nvPr/>
        </p:nvSpPr>
        <p:spPr>
          <a:xfrm>
            <a:off x="762000" y="31115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10DE7A0-CEA5-BE49-95B5-CB13404A64C1}"/>
              </a:ext>
            </a:extLst>
          </p:cNvPr>
          <p:cNvSpPr txBox="1"/>
          <p:nvPr/>
        </p:nvSpPr>
        <p:spPr>
          <a:xfrm>
            <a:off x="1066800" y="29845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Enchaînement SQL et Python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BC4B31-E6E8-5D42-A333-D9D97BAFAFD4}"/>
              </a:ext>
            </a:extLst>
          </p:cNvPr>
          <p:cNvSpPr/>
          <p:nvPr/>
        </p:nvSpPr>
        <p:spPr>
          <a:xfrm>
            <a:off x="762000" y="37211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8511C57-9701-5645-ABC2-922A5C8A96ED}"/>
              </a:ext>
            </a:extLst>
          </p:cNvPr>
          <p:cNvSpPr txBox="1"/>
          <p:nvPr/>
        </p:nvSpPr>
        <p:spPr>
          <a:xfrm>
            <a:off x="1066800" y="35941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Visualisation des exécutions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19656A-B64D-8549-A19D-AA8A3CC829E3}"/>
              </a:ext>
            </a:extLst>
          </p:cNvPr>
          <p:cNvSpPr/>
          <p:nvPr/>
        </p:nvSpPr>
        <p:spPr>
          <a:xfrm>
            <a:off x="762000" y="43307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4DF3495-A6EE-0A48-843C-F0FAA720A4E3}"/>
              </a:ext>
            </a:extLst>
          </p:cNvPr>
          <p:cNvSpPr txBox="1"/>
          <p:nvPr/>
        </p:nvSpPr>
        <p:spPr>
          <a:xfrm>
            <a:off x="1066800" y="42037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Triggers planifiés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9CBBCC-19C9-554B-9137-4A54D5393B81}"/>
              </a:ext>
            </a:extLst>
          </p:cNvPr>
          <p:cNvSpPr/>
          <p:nvPr/>
        </p:nvSpPr>
        <p:spPr>
          <a:xfrm>
            <a:off x="762000" y="49403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54A0657-D415-4E45-AAAC-5030A36FA81C}"/>
              </a:ext>
            </a:extLst>
          </p:cNvPr>
          <p:cNvSpPr txBox="1"/>
          <p:nvPr/>
        </p:nvSpPr>
        <p:spPr>
          <a:xfrm>
            <a:off x="1066800" y="4813300"/>
            <a:ext cx="3124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Configuration YAML</a:t>
            </a:r>
          </a:p>
        </p:txBody>
      </p:sp>
    </p:spTree>
    <p:extLst>
      <p:ext uri="{BB962C8B-B14F-4D97-AF65-F5344CB8AC3E}">
        <p14:creationId xmlns:p14="http://schemas.microsoft.com/office/powerpoint/2010/main" val="332223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05EA6-BC43-23C0-9024-29C1E92B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A5B6015-B122-8C95-86DC-202737E67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520" y="855979"/>
            <a:ext cx="3775710" cy="1797957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52B2EAE-C4D2-D842-9A24-CA82D10BCA77}"/>
              </a:ext>
            </a:extLst>
          </p:cNvPr>
          <p:cNvSpPr txBox="1"/>
          <p:nvPr/>
        </p:nvSpPr>
        <p:spPr>
          <a:xfrm>
            <a:off x="762000" y="635000"/>
            <a:ext cx="685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81852D3-3AFC-B64D-96D1-9A34455BB8B6}"/>
              </a:ext>
            </a:extLst>
          </p:cNvPr>
          <p:cNvSpPr txBox="1"/>
          <p:nvPr/>
        </p:nvSpPr>
        <p:spPr>
          <a:xfrm>
            <a:off x="762000" y="1016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Traitements SQL avec DuckDB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6A7849-8F61-B443-86DE-8A7DF13DF3A6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40BCCC6-4458-AE4D-8717-093F29DAEE35}"/>
              </a:ext>
            </a:extLst>
          </p:cNvPr>
          <p:cNvSpPr txBox="1"/>
          <p:nvPr/>
        </p:nvSpPr>
        <p:spPr>
          <a:xfrm>
            <a:off x="762000" y="2159000"/>
            <a:ext cx="685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B547"/>
                </a:solidFill>
                <a:latin typeface="Inter"/>
              </a:rPr>
              <a:t>Automatisation des transformations de données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7CB8D6-B349-B244-B99A-1FDA751B0575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5B83B95-5CC8-E34F-903F-A93B87968711}"/>
              </a:ext>
            </a:extLst>
          </p:cNvPr>
          <p:cNvSpPr txBox="1"/>
          <p:nvPr/>
        </p:nvSpPr>
        <p:spPr>
          <a:xfrm>
            <a:off x="1066800" y="2692400"/>
            <a:ext cx="655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Nettoyage des données ERP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0E27B1-FABF-0341-B5B5-683712C98369}"/>
              </a:ext>
            </a:extLst>
          </p:cNvPr>
          <p:cNvSpPr/>
          <p:nvPr/>
        </p:nvSpPr>
        <p:spPr>
          <a:xfrm>
            <a:off x="762000" y="34290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7EC6B86-80F9-8141-94C0-8909638D882E}"/>
              </a:ext>
            </a:extLst>
          </p:cNvPr>
          <p:cNvSpPr txBox="1"/>
          <p:nvPr/>
        </p:nvSpPr>
        <p:spPr>
          <a:xfrm>
            <a:off x="1066800" y="3302000"/>
            <a:ext cx="655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Nettoyage des données WEB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CF7A48-FFB5-5346-B70F-395950353936}"/>
              </a:ext>
            </a:extLst>
          </p:cNvPr>
          <p:cNvSpPr/>
          <p:nvPr/>
        </p:nvSpPr>
        <p:spPr>
          <a:xfrm>
            <a:off x="762000" y="40386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4C9866D-FAA9-1941-98BB-73AFDC531B45}"/>
              </a:ext>
            </a:extLst>
          </p:cNvPr>
          <p:cNvSpPr txBox="1"/>
          <p:nvPr/>
        </p:nvSpPr>
        <p:spPr>
          <a:xfrm>
            <a:off x="1066800" y="3911600"/>
            <a:ext cx="655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Nettoyage du fichier LIAISON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C0272-FE61-B94B-AC4B-8F9E8E9BE1AD}"/>
              </a:ext>
            </a:extLst>
          </p:cNvPr>
          <p:cNvSpPr/>
          <p:nvPr/>
        </p:nvSpPr>
        <p:spPr>
          <a:xfrm>
            <a:off x="762000" y="46482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769FD82-7241-3949-8E7B-2D388E2E0E5E}"/>
              </a:ext>
            </a:extLst>
          </p:cNvPr>
          <p:cNvSpPr txBox="1"/>
          <p:nvPr/>
        </p:nvSpPr>
        <p:spPr>
          <a:xfrm>
            <a:off x="1066800" y="4521200"/>
            <a:ext cx="655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Fusion des différentes sources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93C1FD-B5C0-E34B-8BAF-33F289D8B95A}"/>
              </a:ext>
            </a:extLst>
          </p:cNvPr>
          <p:cNvSpPr/>
          <p:nvPr/>
        </p:nvSpPr>
        <p:spPr>
          <a:xfrm>
            <a:off x="762000" y="52578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2730C49-34DA-384B-B4D4-1E602480DA29}"/>
              </a:ext>
            </a:extLst>
          </p:cNvPr>
          <p:cNvSpPr txBox="1"/>
          <p:nvPr/>
        </p:nvSpPr>
        <p:spPr>
          <a:xfrm>
            <a:off x="1066800" y="5130800"/>
            <a:ext cx="655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Calcul du chiffre d'affaires</a:t>
            </a:r>
          </a:p>
        </p:txBody>
      </p:sp>
    </p:spTree>
    <p:extLst>
      <p:ext uri="{BB962C8B-B14F-4D97-AF65-F5344CB8AC3E}">
        <p14:creationId xmlns:p14="http://schemas.microsoft.com/office/powerpoint/2010/main" val="3468544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8532B-5D80-9208-E474-C65E0A50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5BC15CE-3B28-94E2-02F0-203B4CAC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736" y="985520"/>
            <a:ext cx="3882724" cy="107696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75FDDA5C-DD71-174D-8EBD-8E89B1D69C46}"/>
              </a:ext>
            </a:extLst>
          </p:cNvPr>
          <p:cNvSpPr txBox="1"/>
          <p:nvPr/>
        </p:nvSpPr>
        <p:spPr>
          <a:xfrm>
            <a:off x="762000" y="635000"/>
            <a:ext cx="685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D7F5D68-50AB-074E-B0D4-29F4ABC7A7A1}"/>
              </a:ext>
            </a:extLst>
          </p:cNvPr>
          <p:cNvSpPr txBox="1"/>
          <p:nvPr/>
        </p:nvSpPr>
        <p:spPr>
          <a:xfrm>
            <a:off x="762000" y="1016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Scripts Python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428D7B-D2B4-1E40-A18A-3196DD0465FC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F6AA4C7-0CFA-9840-B089-E8DBDF51840B}"/>
              </a:ext>
            </a:extLst>
          </p:cNvPr>
          <p:cNvSpPr txBox="1"/>
          <p:nvPr/>
        </p:nvSpPr>
        <p:spPr>
          <a:xfrm>
            <a:off x="762000" y="2159000"/>
            <a:ext cx="685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B547"/>
                </a:solidFill>
                <a:latin typeface="Inter"/>
              </a:rPr>
              <a:t>Calculs statistiques et exports automatisés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FD33A6-E970-F74C-BEBC-44EC299F76CF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AF652A2-E743-2849-9C4A-748A40663F31}"/>
              </a:ext>
            </a:extLst>
          </p:cNvPr>
          <p:cNvSpPr txBox="1"/>
          <p:nvPr/>
        </p:nvSpPr>
        <p:spPr>
          <a:xfrm>
            <a:off x="1066800" y="2692400"/>
            <a:ext cx="6553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Calcul du Z-score des prix des vins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353045-8A9F-034C-9EDC-15EC877C9DBD}"/>
              </a:ext>
            </a:extLst>
          </p:cNvPr>
          <p:cNvSpPr/>
          <p:nvPr/>
        </p:nvSpPr>
        <p:spPr>
          <a:xfrm>
            <a:off x="762000" y="3517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AE822B0-0F86-C54E-949C-90C2556DEF04}"/>
              </a:ext>
            </a:extLst>
          </p:cNvPr>
          <p:cNvSpPr txBox="1"/>
          <p:nvPr/>
        </p:nvSpPr>
        <p:spPr>
          <a:xfrm>
            <a:off x="1066800" y="3390900"/>
            <a:ext cx="6553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Identification des vins premium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86E155-20EA-7E4B-A00F-9F440F4E9C85}"/>
              </a:ext>
            </a:extLst>
          </p:cNvPr>
          <p:cNvSpPr/>
          <p:nvPr/>
        </p:nvSpPr>
        <p:spPr>
          <a:xfrm>
            <a:off x="762000" y="4216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6C30A0A-3183-1745-A51A-28E79DE8C32E}"/>
              </a:ext>
            </a:extLst>
          </p:cNvPr>
          <p:cNvSpPr txBox="1"/>
          <p:nvPr/>
        </p:nvSpPr>
        <p:spPr>
          <a:xfrm>
            <a:off x="1066800" y="4089400"/>
            <a:ext cx="6553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Séparation vins premium / ordinaires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566822-AE4D-B249-BFF9-59F236393C6E}"/>
              </a:ext>
            </a:extLst>
          </p:cNvPr>
          <p:cNvSpPr/>
          <p:nvPr/>
        </p:nvSpPr>
        <p:spPr>
          <a:xfrm>
            <a:off x="762000" y="4914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B2D0061-A568-214D-B085-5EF173322C2B}"/>
              </a:ext>
            </a:extLst>
          </p:cNvPr>
          <p:cNvSpPr txBox="1"/>
          <p:nvPr/>
        </p:nvSpPr>
        <p:spPr>
          <a:xfrm>
            <a:off x="1066800" y="4787900"/>
            <a:ext cx="6553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Génération automatique des exports CSV</a:t>
            </a:r>
          </a:p>
        </p:txBody>
      </p:sp>
    </p:spTree>
    <p:extLst>
      <p:ext uri="{BB962C8B-B14F-4D97-AF65-F5344CB8AC3E}">
        <p14:creationId xmlns:p14="http://schemas.microsoft.com/office/powerpoint/2010/main" val="1176315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D9BBB-6795-301B-44AC-A519BE46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94FD8D1-BEC2-C4BE-1972-35C22AC2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437" y="772160"/>
            <a:ext cx="3392523" cy="592328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EE8A2383-FD79-2F42-B7B5-01BF43E4843E}"/>
              </a:ext>
            </a:extLst>
          </p:cNvPr>
          <p:cNvSpPr txBox="1"/>
          <p:nvPr/>
        </p:nvSpPr>
        <p:spPr>
          <a:xfrm>
            <a:off x="762000" y="635000"/>
            <a:ext cx="736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C6F6B15-5680-9245-8BBE-B76DF3564F41}"/>
              </a:ext>
            </a:extLst>
          </p:cNvPr>
          <p:cNvSpPr txBox="1"/>
          <p:nvPr/>
        </p:nvSpPr>
        <p:spPr>
          <a:xfrm>
            <a:off x="762000" y="1016000"/>
            <a:ext cx="736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Organisation du projet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6F36D-8BA5-5147-B336-9E8488B10D16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23ECF8-D0AE-2D4A-8FE3-66414ABC856B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0087910-CBFD-C04F-B16B-36864C72F1FB}"/>
              </a:ext>
            </a:extLst>
          </p:cNvPr>
          <p:cNvSpPr txBox="1"/>
          <p:nvPr/>
        </p:nvSpPr>
        <p:spPr>
          <a:xfrm>
            <a:off x="1066800" y="2374900"/>
            <a:ext cx="7061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Structure des dossiers claire et modulaire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8DD232-E25B-654A-AE61-B76CE7DD4245}"/>
              </a:ext>
            </a:extLst>
          </p:cNvPr>
          <p:cNvSpPr/>
          <p:nvPr/>
        </p:nvSpPr>
        <p:spPr>
          <a:xfrm>
            <a:off x="762000" y="3200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34E0277-FC04-1047-AF4A-A8EADCF8EB55}"/>
              </a:ext>
            </a:extLst>
          </p:cNvPr>
          <p:cNvSpPr txBox="1"/>
          <p:nvPr/>
        </p:nvSpPr>
        <p:spPr>
          <a:xfrm>
            <a:off x="1066800" y="3073400"/>
            <a:ext cx="7061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Séparation des scripts SQL et Python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17D848-E433-8D46-8ED9-765B03DF7175}"/>
              </a:ext>
            </a:extLst>
          </p:cNvPr>
          <p:cNvSpPr/>
          <p:nvPr/>
        </p:nvSpPr>
        <p:spPr>
          <a:xfrm>
            <a:off x="762000" y="3898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70F97C5-5BE1-7247-B616-DDF84DA531B4}"/>
              </a:ext>
            </a:extLst>
          </p:cNvPr>
          <p:cNvSpPr txBox="1"/>
          <p:nvPr/>
        </p:nvSpPr>
        <p:spPr>
          <a:xfrm>
            <a:off x="1066800" y="3771900"/>
            <a:ext cx="7061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Gestion centralisée des fichiers sources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7146C9-4170-2E49-A6C9-0F8A2F776796}"/>
              </a:ext>
            </a:extLst>
          </p:cNvPr>
          <p:cNvSpPr/>
          <p:nvPr/>
        </p:nvSpPr>
        <p:spPr>
          <a:xfrm>
            <a:off x="762000" y="4597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FDB247B-9493-DA40-A22B-216BC36A7B33}"/>
              </a:ext>
            </a:extLst>
          </p:cNvPr>
          <p:cNvSpPr txBox="1"/>
          <p:nvPr/>
        </p:nvSpPr>
        <p:spPr>
          <a:xfrm>
            <a:off x="1066800" y="4470400"/>
            <a:ext cx="7061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Stockage organisé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23357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6A6D-2C6D-96A6-7BD9-F14937C1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55EFA36-EF72-2F1A-B63A-C21FFEB24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760" y="98213"/>
            <a:ext cx="1737801" cy="666157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C7CCA7E-F570-0347-9A5B-62ECAD92F70D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22C5EDE-4869-F145-B75C-29281A87F9F6}"/>
              </a:ext>
            </a:extLst>
          </p:cNvPr>
          <p:cNvSpPr txBox="1"/>
          <p:nvPr/>
        </p:nvSpPr>
        <p:spPr>
          <a:xfrm>
            <a:off x="762000" y="1016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Implémentation du workflow YAML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C1EA6-1CC9-6244-B139-5365CC26CAE8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5AD34B-227D-6443-A508-768DBADA2811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732CDE2-8D84-724C-A811-845C88EB2B97}"/>
              </a:ext>
            </a:extLst>
          </p:cNvPr>
          <p:cNvSpPr txBox="1"/>
          <p:nvPr/>
        </p:nvSpPr>
        <p:spPr>
          <a:xfrm>
            <a:off x="1066800" y="2374900"/>
            <a:ext cx="8585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Intégration des traitements SQL dans Kestra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6A7092-EC2B-0B4F-97B7-4B187A4BE833}"/>
              </a:ext>
            </a:extLst>
          </p:cNvPr>
          <p:cNvSpPr/>
          <p:nvPr/>
        </p:nvSpPr>
        <p:spPr>
          <a:xfrm>
            <a:off x="762000" y="3200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BB8950B-8D21-B14D-82EA-2AC390B57FA9}"/>
              </a:ext>
            </a:extLst>
          </p:cNvPr>
          <p:cNvSpPr txBox="1"/>
          <p:nvPr/>
        </p:nvSpPr>
        <p:spPr>
          <a:xfrm>
            <a:off x="1066800" y="3073400"/>
            <a:ext cx="8585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Intégration des scripts Python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5DD300-8D3A-9946-9648-1BE2EE211913}"/>
              </a:ext>
            </a:extLst>
          </p:cNvPr>
          <p:cNvSpPr/>
          <p:nvPr/>
        </p:nvSpPr>
        <p:spPr>
          <a:xfrm>
            <a:off x="762000" y="3898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4E8CD7C-4A73-FE4D-994F-04BECB8A6D42}"/>
              </a:ext>
            </a:extLst>
          </p:cNvPr>
          <p:cNvSpPr txBox="1"/>
          <p:nvPr/>
        </p:nvSpPr>
        <p:spPr>
          <a:xfrm>
            <a:off x="1066800" y="3771900"/>
            <a:ext cx="8585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Définition de l'ordre d'exécution des tâches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0B432E-395C-BE4C-AC18-D4AF80220763}"/>
              </a:ext>
            </a:extLst>
          </p:cNvPr>
          <p:cNvSpPr/>
          <p:nvPr/>
        </p:nvSpPr>
        <p:spPr>
          <a:xfrm>
            <a:off x="762000" y="4597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5210590-4C79-AA41-9F17-436E6143F8D2}"/>
              </a:ext>
            </a:extLst>
          </p:cNvPr>
          <p:cNvSpPr txBox="1"/>
          <p:nvPr/>
        </p:nvSpPr>
        <p:spPr>
          <a:xfrm>
            <a:off x="1066800" y="4470400"/>
            <a:ext cx="8585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Construction du pipeline automatisé complet</a:t>
            </a:r>
          </a:p>
        </p:txBody>
      </p:sp>
    </p:spTree>
    <p:extLst>
      <p:ext uri="{BB962C8B-B14F-4D97-AF65-F5344CB8AC3E}">
        <p14:creationId xmlns:p14="http://schemas.microsoft.com/office/powerpoint/2010/main" val="327550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5516D-3206-6DB6-CDE9-4EBCBE0C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A93C24E-99E6-2394-007F-C3AE7FDC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076" y="660400"/>
            <a:ext cx="3056013" cy="24015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7DD76EE-1F95-A86C-2ED9-25EF8C2C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076" y="3506828"/>
            <a:ext cx="3056013" cy="3036211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6AF975E-5E1C-6946-9E0E-677801567393}"/>
              </a:ext>
            </a:extLst>
          </p:cNvPr>
          <p:cNvSpPr txBox="1"/>
          <p:nvPr/>
        </p:nvSpPr>
        <p:spPr>
          <a:xfrm>
            <a:off x="762000" y="6350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5846808-0413-594D-9E6D-6CEF0EBBCB07}"/>
              </a:ext>
            </a:extLst>
          </p:cNvPr>
          <p:cNvSpPr txBox="1"/>
          <p:nvPr/>
        </p:nvSpPr>
        <p:spPr>
          <a:xfrm>
            <a:off x="762000" y="1016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Déclenchement automatique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00ED65-2E7E-FE48-A5EF-99360C1F7CD6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F4962D9-C13C-8345-923B-A10B84987E58}"/>
              </a:ext>
            </a:extLst>
          </p:cNvPr>
          <p:cNvSpPr txBox="1"/>
          <p:nvPr/>
        </p:nvSpPr>
        <p:spPr>
          <a:xfrm>
            <a:off x="762000" y="21590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B547"/>
                </a:solidFill>
                <a:latin typeface="Inter"/>
              </a:rPr>
              <a:t>Trigger Cron : exécution chaque 15 du mois à 9h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048031-3F8F-EB40-9059-CDC5D874A36B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EDF06E6-6B67-6642-A85B-CA8E18FAFD39}"/>
              </a:ext>
            </a:extLst>
          </p:cNvPr>
          <p:cNvSpPr txBox="1"/>
          <p:nvPr/>
        </p:nvSpPr>
        <p:spPr>
          <a:xfrm>
            <a:off x="1066800" y="2692400"/>
            <a:ext cx="756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Trigger Cron dédié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06A2D9-3283-B646-A8EB-CB1DF8603756}"/>
              </a:ext>
            </a:extLst>
          </p:cNvPr>
          <p:cNvSpPr/>
          <p:nvPr/>
        </p:nvSpPr>
        <p:spPr>
          <a:xfrm>
            <a:off x="762000" y="3517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FAD42-5FA2-2643-98CF-75B5E72F258A}"/>
              </a:ext>
            </a:extLst>
          </p:cNvPr>
          <p:cNvSpPr txBox="1"/>
          <p:nvPr/>
        </p:nvSpPr>
        <p:spPr>
          <a:xfrm>
            <a:off x="1066800" y="3390900"/>
            <a:ext cx="756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Exécution sans intervention manuelle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2A10A7-6BAE-8F4B-A3B0-611E8FFD4591}"/>
              </a:ext>
            </a:extLst>
          </p:cNvPr>
          <p:cNvSpPr/>
          <p:nvPr/>
        </p:nvSpPr>
        <p:spPr>
          <a:xfrm>
            <a:off x="762000" y="4216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25714C4-23B0-8C4C-8633-1C0CCA9C963A}"/>
              </a:ext>
            </a:extLst>
          </p:cNvPr>
          <p:cNvSpPr txBox="1"/>
          <p:nvPr/>
        </p:nvSpPr>
        <p:spPr>
          <a:xfrm>
            <a:off x="1066800" y="4089400"/>
            <a:ext cx="756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Génération automatique des rapports mensuels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7B4B07-C9E0-D94F-AE93-5D91CE83A520}"/>
              </a:ext>
            </a:extLst>
          </p:cNvPr>
          <p:cNvSpPr/>
          <p:nvPr/>
        </p:nvSpPr>
        <p:spPr>
          <a:xfrm>
            <a:off x="762000" y="4914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E31845F-59F6-B644-A070-7C28D5329E2F}"/>
              </a:ext>
            </a:extLst>
          </p:cNvPr>
          <p:cNvSpPr txBox="1"/>
          <p:nvPr/>
        </p:nvSpPr>
        <p:spPr>
          <a:xfrm>
            <a:off x="1066800" y="4787900"/>
            <a:ext cx="756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Réduction des tâches récurrentes</a:t>
            </a:r>
          </a:p>
        </p:txBody>
      </p:sp>
    </p:spTree>
    <p:extLst>
      <p:ext uri="{BB962C8B-B14F-4D97-AF65-F5344CB8AC3E}">
        <p14:creationId xmlns:p14="http://schemas.microsoft.com/office/powerpoint/2010/main" val="199726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8BD3B-5169-17C1-B778-7910227B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9AA5C794-021A-A7A6-33EC-CECCAAD60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386" y="3004343"/>
            <a:ext cx="7555413" cy="3744741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05717F5A-5641-D740-96B5-FDA4F83DD422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B547"/>
                </a:solidFill>
                <a:latin typeface="Montserrat"/>
              </a:rPr>
              <a:t>03 · WORKFLOW KESTRA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5E0CFDB-9DAF-4945-B320-48B558C71CC0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Exécution du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73BD3F-6AA4-D14A-A305-FD7744A6F83B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48357D-C706-B94F-9982-914868C08B06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EF11378-49D7-2241-8186-39C43444C7B8}"/>
              </a:ext>
            </a:extLst>
          </p:cNvPr>
          <p:cNvSpPr txBox="1"/>
          <p:nvPr/>
        </p:nvSpPr>
        <p:spPr>
          <a:xfrm>
            <a:off x="1066800" y="2374900"/>
            <a:ext cx="312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Ordonnancement visualisé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8F0169-B088-9140-A254-FA62B4CA1F73}"/>
              </a:ext>
            </a:extLst>
          </p:cNvPr>
          <p:cNvSpPr/>
          <p:nvPr/>
        </p:nvSpPr>
        <p:spPr>
          <a:xfrm>
            <a:off x="762000" y="3200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25902C4-BC56-DC46-97A2-4A25C73604AE}"/>
              </a:ext>
            </a:extLst>
          </p:cNvPr>
          <p:cNvSpPr txBox="1"/>
          <p:nvPr/>
        </p:nvSpPr>
        <p:spPr>
          <a:xfrm>
            <a:off x="1066800" y="3073400"/>
            <a:ext cx="312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Suivi en temps réel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6379AF-5DA3-0E43-8D00-14403DB9C479}"/>
              </a:ext>
            </a:extLst>
          </p:cNvPr>
          <p:cNvSpPr/>
          <p:nvPr/>
        </p:nvSpPr>
        <p:spPr>
          <a:xfrm>
            <a:off x="762000" y="38989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7CDEBAE-A736-0A45-9FDD-2FFE1950B151}"/>
              </a:ext>
            </a:extLst>
          </p:cNvPr>
          <p:cNvSpPr txBox="1"/>
          <p:nvPr/>
        </p:nvSpPr>
        <p:spPr>
          <a:xfrm>
            <a:off x="1066800" y="3771900"/>
            <a:ext cx="312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Vérification du pipeline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0A608-1776-074A-84CD-32428450B382}"/>
              </a:ext>
            </a:extLst>
          </p:cNvPr>
          <p:cNvSpPr/>
          <p:nvPr/>
        </p:nvSpPr>
        <p:spPr>
          <a:xfrm>
            <a:off x="762000" y="4597400"/>
            <a:ext cx="127000" cy="1270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235EC08-6751-6242-A330-8BBEB36531C3}"/>
              </a:ext>
            </a:extLst>
          </p:cNvPr>
          <p:cNvSpPr txBox="1"/>
          <p:nvPr/>
        </p:nvSpPr>
        <p:spPr>
          <a:xfrm>
            <a:off x="1066800" y="4470400"/>
            <a:ext cx="312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Validation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2184827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2F0DA-A82B-5185-DEC1-2459958C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30457479-E739-3489-F995-6D8BAECE4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00" y="446040"/>
            <a:ext cx="4251960" cy="421159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FD92E853-512F-8043-AF87-E3357D537ADD}"/>
              </a:ext>
            </a:extLst>
          </p:cNvPr>
          <p:cNvSpPr txBox="1"/>
          <p:nvPr/>
        </p:nvSpPr>
        <p:spPr>
          <a:xfrm>
            <a:off x="762000" y="6350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6B9D"/>
                </a:solidFill>
                <a:latin typeface="Montserrat"/>
              </a:rPr>
              <a:t>04 · RÉSULTATS OBTENUS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2C8E0A0-44DB-904A-BD76-1F9F29F7ADF6}"/>
              </a:ext>
            </a:extLst>
          </p:cNvPr>
          <p:cNvSpPr txBox="1"/>
          <p:nvPr/>
        </p:nvSpPr>
        <p:spPr>
          <a:xfrm>
            <a:off x="762000" y="1016000"/>
            <a:ext cx="6477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Résultats après nettoyage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E6D63-7AB4-9D42-B33F-437A2E47EE6A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8E08818-6661-754C-9C24-20EB8872BC32}"/>
              </a:ext>
            </a:extLst>
          </p:cNvPr>
          <p:cNvSpPr txBox="1"/>
          <p:nvPr/>
        </p:nvSpPr>
        <p:spPr>
          <a:xfrm>
            <a:off x="762000" y="2159000"/>
            <a:ext cx="647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6B9D"/>
                </a:solidFill>
                <a:latin typeface="Inter"/>
              </a:rPr>
              <a:t>Volumétrie obtenue après traitement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572D7-9B11-1945-B39C-12EFB0A24234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2F80136-2488-DC46-822C-3F5614AFE8DF}"/>
              </a:ext>
            </a:extLst>
          </p:cNvPr>
          <p:cNvSpPr txBox="1"/>
          <p:nvPr/>
        </p:nvSpPr>
        <p:spPr>
          <a:xfrm>
            <a:off x="1066800" y="2692400"/>
            <a:ext cx="6172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ERP après dédoublonnage : 825 lignes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692EB2-9A09-5744-BB42-22602861A4B0}"/>
              </a:ext>
            </a:extLst>
          </p:cNvPr>
          <p:cNvSpPr/>
          <p:nvPr/>
        </p:nvSpPr>
        <p:spPr>
          <a:xfrm>
            <a:off x="762000" y="35179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1098203-7742-484D-B275-D331276949FB}"/>
              </a:ext>
            </a:extLst>
          </p:cNvPr>
          <p:cNvSpPr txBox="1"/>
          <p:nvPr/>
        </p:nvSpPr>
        <p:spPr>
          <a:xfrm>
            <a:off x="1066800" y="3390900"/>
            <a:ext cx="6172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LIAISON après dédoublonnage : 714 lignes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05193C-F870-C948-94D4-B1FCC265A04E}"/>
              </a:ext>
            </a:extLst>
          </p:cNvPr>
          <p:cNvSpPr/>
          <p:nvPr/>
        </p:nvSpPr>
        <p:spPr>
          <a:xfrm>
            <a:off x="762000" y="42164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7EEC637-3FF7-1C4C-A762-246E5690C84D}"/>
              </a:ext>
            </a:extLst>
          </p:cNvPr>
          <p:cNvSpPr txBox="1"/>
          <p:nvPr/>
        </p:nvSpPr>
        <p:spPr>
          <a:xfrm>
            <a:off x="1066800" y="4089400"/>
            <a:ext cx="6172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WEB après nettoyage : 714 lignes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010746-F535-B24B-A7C0-B2524FC2280E}"/>
              </a:ext>
            </a:extLst>
          </p:cNvPr>
          <p:cNvSpPr/>
          <p:nvPr/>
        </p:nvSpPr>
        <p:spPr>
          <a:xfrm>
            <a:off x="762000" y="49149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80635DA-A472-9148-9256-B36D7D90AB49}"/>
              </a:ext>
            </a:extLst>
          </p:cNvPr>
          <p:cNvSpPr txBox="1"/>
          <p:nvPr/>
        </p:nvSpPr>
        <p:spPr>
          <a:xfrm>
            <a:off x="1066800" y="4787900"/>
            <a:ext cx="6172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Données fusionnées : 714 lignes</a:t>
            </a:r>
          </a:p>
        </p:txBody>
      </p:sp>
    </p:spTree>
    <p:extLst>
      <p:ext uri="{BB962C8B-B14F-4D97-AF65-F5344CB8AC3E}">
        <p14:creationId xmlns:p14="http://schemas.microsoft.com/office/powerpoint/2010/main" val="391207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7795-070A-E75B-CA8E-85E40117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2836270-6C85-D6BF-5A86-18F9DDD20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356" y="571500"/>
            <a:ext cx="4097924" cy="2308324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366B6E33-BF85-564B-A8F6-6A25257F3DA8}"/>
              </a:ext>
            </a:extLst>
          </p:cNvPr>
          <p:cNvSpPr txBox="1"/>
          <p:nvPr/>
        </p:nvSpPr>
        <p:spPr>
          <a:xfrm>
            <a:off x="762000" y="635000"/>
            <a:ext cx="685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6B9D"/>
                </a:solidFill>
                <a:latin typeface="Montserrat"/>
              </a:rPr>
              <a:t>04 · RÉSULTATS OBTENUS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39FE2FB-68E9-F941-9462-050A981FCA56}"/>
              </a:ext>
            </a:extLst>
          </p:cNvPr>
          <p:cNvSpPr txBox="1"/>
          <p:nvPr/>
        </p:nvSpPr>
        <p:spPr>
          <a:xfrm>
            <a:off x="762000" y="1016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Résultats métier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A1CDE2-7213-6743-AC51-8453D2E15B87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5B28380-FC70-6941-937A-F98B1B960508}"/>
              </a:ext>
            </a:extLst>
          </p:cNvPr>
          <p:cNvSpPr txBox="1"/>
          <p:nvPr/>
        </p:nvSpPr>
        <p:spPr>
          <a:xfrm>
            <a:off x="762000" y="21590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6B9D"/>
                </a:solidFill>
                <a:latin typeface="Inter"/>
              </a:rPr>
              <a:t>Indicateurs calculés automatiquement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18D79A-1D79-DF4C-87CC-100D2497703B}"/>
              </a:ext>
            </a:extLst>
          </p:cNvPr>
          <p:cNvSpPr/>
          <p:nvPr/>
        </p:nvSpPr>
        <p:spPr>
          <a:xfrm>
            <a:off x="762000" y="3302000"/>
            <a:ext cx="5207000" cy="1905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F81B01-97AC-F740-A27C-966D9FA21814}"/>
              </a:ext>
            </a:extLst>
          </p:cNvPr>
          <p:cNvSpPr/>
          <p:nvPr/>
        </p:nvSpPr>
        <p:spPr>
          <a:xfrm>
            <a:off x="762000" y="3302000"/>
            <a:ext cx="5207000" cy="635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0A92C1D-E380-D343-9E09-3A64DFE5F6CD}"/>
              </a:ext>
            </a:extLst>
          </p:cNvPr>
          <p:cNvSpPr txBox="1"/>
          <p:nvPr/>
        </p:nvSpPr>
        <p:spPr>
          <a:xfrm>
            <a:off x="1117600" y="3657600"/>
            <a:ext cx="4495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600" b="1">
                <a:solidFill>
                  <a:srgbClr val="00D4FF"/>
                </a:solidFill>
                <a:latin typeface="Montserrat"/>
              </a:rPr>
              <a:t>70 568,60 €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2BEFDBB-0B5A-6746-902E-CBA54AC60F62}"/>
              </a:ext>
            </a:extLst>
          </p:cNvPr>
          <p:cNvSpPr txBox="1"/>
          <p:nvPr/>
        </p:nvSpPr>
        <p:spPr>
          <a:xfrm>
            <a:off x="1117600" y="46355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Chiffre d'affaires total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D9D30D-46F2-5A41-8128-34AFEC32D8AB}"/>
              </a:ext>
            </a:extLst>
          </p:cNvPr>
          <p:cNvSpPr/>
          <p:nvPr/>
        </p:nvSpPr>
        <p:spPr>
          <a:xfrm>
            <a:off x="6223000" y="3302000"/>
            <a:ext cx="5207000" cy="1905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A016C6-AC57-4445-BE48-592D5E84D34C}"/>
              </a:ext>
            </a:extLst>
          </p:cNvPr>
          <p:cNvSpPr/>
          <p:nvPr/>
        </p:nvSpPr>
        <p:spPr>
          <a:xfrm>
            <a:off x="6223000" y="3302000"/>
            <a:ext cx="5207000" cy="635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2CD6ABA-1D86-AB4C-8614-AFAF7265F6FA}"/>
              </a:ext>
            </a:extLst>
          </p:cNvPr>
          <p:cNvSpPr txBox="1"/>
          <p:nvPr/>
        </p:nvSpPr>
        <p:spPr>
          <a:xfrm>
            <a:off x="6578600" y="3657600"/>
            <a:ext cx="4495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4600" b="1">
                <a:solidFill>
                  <a:srgbClr val="84FF6E"/>
                </a:solidFill>
                <a:latin typeface="Montserrat"/>
              </a:rPr>
              <a:t>30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59D9E98-CD6E-BB49-894F-F0E7B5063E55}"/>
              </a:ext>
            </a:extLst>
          </p:cNvPr>
          <p:cNvSpPr txBox="1"/>
          <p:nvPr/>
        </p:nvSpPr>
        <p:spPr>
          <a:xfrm>
            <a:off x="6578600" y="4635500"/>
            <a:ext cx="4495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 b="1">
                <a:solidFill>
                  <a:srgbClr val="FFFFFF"/>
                </a:solidFill>
                <a:latin typeface="Montserrat"/>
              </a:rPr>
              <a:t>Vins premium détectés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AE7F9F-F770-9A41-B860-7F8E41CBA5F3}"/>
              </a:ext>
            </a:extLst>
          </p:cNvPr>
          <p:cNvSpPr/>
          <p:nvPr/>
        </p:nvSpPr>
        <p:spPr>
          <a:xfrm>
            <a:off x="762000" y="55626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8544EDE-7916-F543-8F24-FD7AD71B8374}"/>
              </a:ext>
            </a:extLst>
          </p:cNvPr>
          <p:cNvSpPr txBox="1"/>
          <p:nvPr/>
        </p:nvSpPr>
        <p:spPr>
          <a:xfrm>
            <a:off x="1066800" y="54610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>
                <a:solidFill>
                  <a:srgbClr val="E5EAF2"/>
                </a:solidFill>
                <a:latin typeface="Inter"/>
              </a:rPr>
              <a:t>Génération automatique du rapport de chiffre d'affaires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0E4ACF-66AA-8146-A9BD-50A64B9BB9B5}"/>
              </a:ext>
            </a:extLst>
          </p:cNvPr>
          <p:cNvSpPr/>
          <p:nvPr/>
        </p:nvSpPr>
        <p:spPr>
          <a:xfrm>
            <a:off x="762000" y="59690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E6A716B-9FE7-F445-A303-376FBE06EEAA}"/>
              </a:ext>
            </a:extLst>
          </p:cNvPr>
          <p:cNvSpPr txBox="1"/>
          <p:nvPr/>
        </p:nvSpPr>
        <p:spPr>
          <a:xfrm>
            <a:off x="1066800" y="5867400"/>
            <a:ext cx="1041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>
                <a:solidFill>
                  <a:srgbClr val="E5EAF2"/>
                </a:solidFill>
                <a:latin typeface="Inter"/>
              </a:rPr>
              <a:t>Segmentation automatique des vins premium / ordinaires</a:t>
            </a:r>
          </a:p>
        </p:txBody>
      </p:sp>
    </p:spTree>
    <p:extLst>
      <p:ext uri="{BB962C8B-B14F-4D97-AF65-F5344CB8AC3E}">
        <p14:creationId xmlns:p14="http://schemas.microsoft.com/office/powerpoint/2010/main" val="197154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AE033-9328-5752-E4E5-E68EF816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0A17061-B31D-460F-D06B-3867BAA02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05" y="600710"/>
            <a:ext cx="3618945" cy="146177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4DD1616-E019-A243-B375-229FA10A84DE}"/>
              </a:ext>
            </a:extLst>
          </p:cNvPr>
          <p:cNvSpPr txBox="1"/>
          <p:nvPr/>
        </p:nvSpPr>
        <p:spPr>
          <a:xfrm>
            <a:off x="762000" y="635000"/>
            <a:ext cx="723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6B9D"/>
                </a:solidFill>
                <a:latin typeface="Montserrat"/>
              </a:rPr>
              <a:t>04 · RÉSULTATS OBTENUS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911AD6-ED79-494B-86E7-E84962DD38CF}"/>
              </a:ext>
            </a:extLst>
          </p:cNvPr>
          <p:cNvSpPr txBox="1"/>
          <p:nvPr/>
        </p:nvSpPr>
        <p:spPr>
          <a:xfrm>
            <a:off x="762000" y="850900"/>
            <a:ext cx="723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 dirty="0">
                <a:solidFill>
                  <a:srgbClr val="FFFFFF"/>
                </a:solidFill>
                <a:latin typeface="Montserrat"/>
              </a:rPr>
              <a:t>Exports générés automatiquement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CED97A-D5BB-BA49-89FC-A6FF439FEEAF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E31586A-FFA9-B54C-9E8D-DBD70D4DD7C4}"/>
              </a:ext>
            </a:extLst>
          </p:cNvPr>
          <p:cNvSpPr txBox="1"/>
          <p:nvPr/>
        </p:nvSpPr>
        <p:spPr>
          <a:xfrm>
            <a:off x="762000" y="2159000"/>
            <a:ext cx="723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6B9D"/>
                </a:solidFill>
                <a:latin typeface="Inter"/>
              </a:rPr>
              <a:t>Fichiers produits par le pipeline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7F98F2-8D48-0A4D-A240-145357E5AB3A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D6B951B-005D-7E4B-AB87-CD0F93B6984E}"/>
              </a:ext>
            </a:extLst>
          </p:cNvPr>
          <p:cNvSpPr txBox="1"/>
          <p:nvPr/>
        </p:nvSpPr>
        <p:spPr>
          <a:xfrm>
            <a:off x="1066800" y="2692400"/>
            <a:ext cx="693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rapport_chiffre_affaires.csv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03DDE8-0F7F-6843-952D-52B4B136E43F}"/>
              </a:ext>
            </a:extLst>
          </p:cNvPr>
          <p:cNvSpPr/>
          <p:nvPr/>
        </p:nvSpPr>
        <p:spPr>
          <a:xfrm>
            <a:off x="762000" y="35179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162E487-EB4C-D94E-AF81-5347FDAE8377}"/>
              </a:ext>
            </a:extLst>
          </p:cNvPr>
          <p:cNvSpPr txBox="1"/>
          <p:nvPr/>
        </p:nvSpPr>
        <p:spPr>
          <a:xfrm>
            <a:off x="1066800" y="3390900"/>
            <a:ext cx="693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vins_premium.csv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CC87E2-14FB-C243-A95D-29979E6123AE}"/>
              </a:ext>
            </a:extLst>
          </p:cNvPr>
          <p:cNvSpPr/>
          <p:nvPr/>
        </p:nvSpPr>
        <p:spPr>
          <a:xfrm>
            <a:off x="762000" y="42164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F810466-9603-ED49-A2FB-DD789D57C697}"/>
              </a:ext>
            </a:extLst>
          </p:cNvPr>
          <p:cNvSpPr txBox="1"/>
          <p:nvPr/>
        </p:nvSpPr>
        <p:spPr>
          <a:xfrm>
            <a:off x="1066800" y="4089400"/>
            <a:ext cx="693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vins_ordinaires.csv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5F77BF-2716-5641-8A55-5C1DEA679479}"/>
              </a:ext>
            </a:extLst>
          </p:cNvPr>
          <p:cNvSpPr/>
          <p:nvPr/>
        </p:nvSpPr>
        <p:spPr>
          <a:xfrm>
            <a:off x="762000" y="49149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63102AE-EA1D-7C4C-B770-F255B1FD6D83}"/>
              </a:ext>
            </a:extLst>
          </p:cNvPr>
          <p:cNvSpPr txBox="1"/>
          <p:nvPr/>
        </p:nvSpPr>
        <p:spPr>
          <a:xfrm>
            <a:off x="1066800" y="4787900"/>
            <a:ext cx="6934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Objectif atteint : automatisation complète des livrables</a:t>
            </a:r>
          </a:p>
        </p:txBody>
      </p:sp>
    </p:spTree>
    <p:extLst>
      <p:ext uri="{BB962C8B-B14F-4D97-AF65-F5344CB8AC3E}">
        <p14:creationId xmlns:p14="http://schemas.microsoft.com/office/powerpoint/2010/main" val="2754641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82BF8-6E17-7B19-B86C-21B53B0E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81ADD1C-5FB8-8E41-91BD-F51E9FD6C86A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6B9D"/>
                </a:solidFill>
                <a:latin typeface="Montserrat"/>
              </a:rPr>
              <a:t>04 · RÉSULTATS OBTENUS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841653-786F-F549-8C4E-89E2CBA7E40B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Validation des résultats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FD36A1-0E0A-7F4B-A7A7-8B8841CC8B15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30DBC91-4AE3-8242-A99F-C27FF4063136}"/>
              </a:ext>
            </a:extLst>
          </p:cNvPr>
          <p:cNvSpPr txBox="1"/>
          <p:nvPr/>
        </p:nvSpPr>
        <p:spPr>
          <a:xfrm>
            <a:off x="762000" y="21590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i="1">
                <a:solidFill>
                  <a:srgbClr val="FF6B9D"/>
                </a:solidFill>
                <a:latin typeface="Inter"/>
              </a:rPr>
              <a:t>Comparaison avec les résultats attendus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00E0B-D09B-DE40-A404-5F1967C2E35D}"/>
              </a:ext>
            </a:extLst>
          </p:cNvPr>
          <p:cNvSpPr/>
          <p:nvPr/>
        </p:nvSpPr>
        <p:spPr>
          <a:xfrm>
            <a:off x="762000" y="28194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DD49BEE-81B6-024F-8439-979E381BEC8E}"/>
              </a:ext>
            </a:extLst>
          </p:cNvPr>
          <p:cNvSpPr txBox="1"/>
          <p:nvPr/>
        </p:nvSpPr>
        <p:spPr>
          <a:xfrm>
            <a:off x="1066800" y="26924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ERP → 825 lignes 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75D853-C862-1C4E-8288-491DC3F9826F}"/>
              </a:ext>
            </a:extLst>
          </p:cNvPr>
          <p:cNvSpPr/>
          <p:nvPr/>
        </p:nvSpPr>
        <p:spPr>
          <a:xfrm>
            <a:off x="762000" y="34290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EB79D7B-A191-0E4F-A324-DBA56B153681}"/>
              </a:ext>
            </a:extLst>
          </p:cNvPr>
          <p:cNvSpPr txBox="1"/>
          <p:nvPr/>
        </p:nvSpPr>
        <p:spPr>
          <a:xfrm>
            <a:off x="1066800" y="33020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WEB → 714 lignes après dédoublonnage 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D56B1-4A49-1840-ABDB-A8C149282FFF}"/>
              </a:ext>
            </a:extLst>
          </p:cNvPr>
          <p:cNvSpPr/>
          <p:nvPr/>
        </p:nvSpPr>
        <p:spPr>
          <a:xfrm>
            <a:off x="762000" y="40386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ED55F0D-B87B-5E4B-A27D-692E4B773615}"/>
              </a:ext>
            </a:extLst>
          </p:cNvPr>
          <p:cNvSpPr txBox="1"/>
          <p:nvPr/>
        </p:nvSpPr>
        <p:spPr>
          <a:xfrm>
            <a:off x="1066800" y="39116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Fusion → 714 lignes ✓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4F02B-F16E-4348-B6F7-A3684672721A}"/>
              </a:ext>
            </a:extLst>
          </p:cNvPr>
          <p:cNvSpPr/>
          <p:nvPr/>
        </p:nvSpPr>
        <p:spPr>
          <a:xfrm>
            <a:off x="762000" y="46482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A98D366-8D8F-FD47-B140-B34D524DA688}"/>
              </a:ext>
            </a:extLst>
          </p:cNvPr>
          <p:cNvSpPr txBox="1"/>
          <p:nvPr/>
        </p:nvSpPr>
        <p:spPr>
          <a:xfrm>
            <a:off x="1066800" y="45212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Chiffre d'affaires total → 70 568,60 € 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8B8756-AF5D-0649-B6A6-6F2E70F6DF89}"/>
              </a:ext>
            </a:extLst>
          </p:cNvPr>
          <p:cNvSpPr/>
          <p:nvPr/>
        </p:nvSpPr>
        <p:spPr>
          <a:xfrm>
            <a:off x="762000" y="5257800"/>
            <a:ext cx="127000" cy="1270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CCC21DE-5A06-0945-8FE0-86F7507E3FC4}"/>
              </a:ext>
            </a:extLst>
          </p:cNvPr>
          <p:cNvSpPr txBox="1"/>
          <p:nvPr/>
        </p:nvSpPr>
        <p:spPr>
          <a:xfrm>
            <a:off x="1066800" y="51308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Vins premium identifiés → 30 ✓</a:t>
            </a:r>
          </a:p>
        </p:txBody>
      </p:sp>
    </p:spTree>
    <p:extLst>
      <p:ext uri="{BB962C8B-B14F-4D97-AF65-F5344CB8AC3E}">
        <p14:creationId xmlns:p14="http://schemas.microsoft.com/office/powerpoint/2010/main" val="1682859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DD860-A0F9-B60F-A74C-4D6A56EA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7B28D9E-57DA-7B47-8697-BC31833EE638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B5CF6"/>
                </a:solidFill>
                <a:latin typeface="Montserrat"/>
              </a:rPr>
              <a:t>05 · CONCLUSION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9763531-980C-ED48-BA4A-E42C01139816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Difficultés rencontrées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210D48-0B43-DF47-8F71-CA7CC1D0CD12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B888FE-C1FB-054B-B790-3C4026B9F7A9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A8256A5-2A49-B943-8722-DCAA5377418B}"/>
              </a:ext>
            </a:extLst>
          </p:cNvPr>
          <p:cNvSpPr txBox="1"/>
          <p:nvPr/>
        </p:nvSpPr>
        <p:spPr>
          <a:xfrm>
            <a:off x="1066800" y="23749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Prise en main de Kestra et de son orchestration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54305-B7A1-9041-A267-5FC157F65D25}"/>
              </a:ext>
            </a:extLst>
          </p:cNvPr>
          <p:cNvSpPr/>
          <p:nvPr/>
        </p:nvSpPr>
        <p:spPr>
          <a:xfrm>
            <a:off x="762000" y="32004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0C636E0-0A36-A64E-ADC1-E8F549D1CB44}"/>
              </a:ext>
            </a:extLst>
          </p:cNvPr>
          <p:cNvSpPr txBox="1"/>
          <p:nvPr/>
        </p:nvSpPr>
        <p:spPr>
          <a:xfrm>
            <a:off x="1066800" y="30734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Intégration des scripts SQL/Python dans le workflow YAML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7E87F-623B-F046-8C51-20E9DEC7CD5F}"/>
              </a:ext>
            </a:extLst>
          </p:cNvPr>
          <p:cNvSpPr/>
          <p:nvPr/>
        </p:nvSpPr>
        <p:spPr>
          <a:xfrm>
            <a:off x="762000" y="38989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E1AA17-D12D-774E-9AEE-AEC2DEBD34B2}"/>
              </a:ext>
            </a:extLst>
          </p:cNvPr>
          <p:cNvSpPr txBox="1"/>
          <p:nvPr/>
        </p:nvSpPr>
        <p:spPr>
          <a:xfrm>
            <a:off x="1066800" y="37719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Validation de la cohérence des données après fusion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D81BA6-BAA5-F049-82D0-36314DB7DF9F}"/>
              </a:ext>
            </a:extLst>
          </p:cNvPr>
          <p:cNvSpPr/>
          <p:nvPr/>
        </p:nvSpPr>
        <p:spPr>
          <a:xfrm>
            <a:off x="762000" y="45974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B82638A-4145-2547-B1D3-F67A699E0495}"/>
              </a:ext>
            </a:extLst>
          </p:cNvPr>
          <p:cNvSpPr txBox="1"/>
          <p:nvPr/>
        </p:nvSpPr>
        <p:spPr>
          <a:xfrm>
            <a:off x="1066800" y="44704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Mise en place des tests qualité automatisés</a:t>
            </a:r>
          </a:p>
        </p:txBody>
      </p:sp>
    </p:spTree>
    <p:extLst>
      <p:ext uri="{BB962C8B-B14F-4D97-AF65-F5344CB8AC3E}">
        <p14:creationId xmlns:p14="http://schemas.microsoft.com/office/powerpoint/2010/main" val="1670022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D2A60-7B05-4464-8215-C5B44F47B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5AACFF86-C694-A149-AD08-2FCBD1F7F7E6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B5CF6"/>
                </a:solidFill>
                <a:latin typeface="Montserrat"/>
              </a:rPr>
              <a:t>05 · CONCLUSION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D44C0A0-600A-8B44-BBA8-13FF51A2659E}"/>
              </a:ext>
            </a:extLst>
          </p:cNvPr>
          <p:cNvSpPr txBox="1"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200" b="1">
                <a:solidFill>
                  <a:srgbClr val="FFFFFF"/>
                </a:solidFill>
                <a:latin typeface="Montserrat"/>
              </a:rPr>
              <a:t>Améliorations possibles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3A8A02-9968-474E-B910-8E80A53CC3D3}"/>
              </a:ext>
            </a:extLst>
          </p:cNvPr>
          <p:cNvSpPr/>
          <p:nvPr/>
        </p:nvSpPr>
        <p:spPr>
          <a:xfrm>
            <a:off x="762000" y="1879600"/>
            <a:ext cx="762000" cy="381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12FE6-7D12-4B4D-9B76-C95D1BE30FF6}"/>
              </a:ext>
            </a:extLst>
          </p:cNvPr>
          <p:cNvSpPr/>
          <p:nvPr/>
        </p:nvSpPr>
        <p:spPr>
          <a:xfrm>
            <a:off x="762000" y="25019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40CF13A-560F-4044-9F0B-42F00BF77231}"/>
              </a:ext>
            </a:extLst>
          </p:cNvPr>
          <p:cNvSpPr txBox="1"/>
          <p:nvPr/>
        </p:nvSpPr>
        <p:spPr>
          <a:xfrm>
            <a:off x="1066800" y="23749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Ajouter des alertes automatiques en cas d'échec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04BE1-C53E-F04A-BF98-C59C80090C81}"/>
              </a:ext>
            </a:extLst>
          </p:cNvPr>
          <p:cNvSpPr/>
          <p:nvPr/>
        </p:nvSpPr>
        <p:spPr>
          <a:xfrm>
            <a:off x="762000" y="32004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63081C5-574C-754A-9D6B-7548E4342E30}"/>
              </a:ext>
            </a:extLst>
          </p:cNvPr>
          <p:cNvSpPr txBox="1"/>
          <p:nvPr/>
        </p:nvSpPr>
        <p:spPr>
          <a:xfrm>
            <a:off x="1066800" y="30734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Mettre en place des mécanismes de reprise après erreur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18FA0-FFB3-3843-B3FE-785AEE1AA25D}"/>
              </a:ext>
            </a:extLst>
          </p:cNvPr>
          <p:cNvSpPr/>
          <p:nvPr/>
        </p:nvSpPr>
        <p:spPr>
          <a:xfrm>
            <a:off x="762000" y="38989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437827A-CEA2-AA4C-8471-107D2B782BB0}"/>
              </a:ext>
            </a:extLst>
          </p:cNvPr>
          <p:cNvSpPr txBox="1"/>
          <p:nvPr/>
        </p:nvSpPr>
        <p:spPr>
          <a:xfrm>
            <a:off x="1066800" y="37719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Connecter directement les données à une base externe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110753-35AC-C146-B09D-9D853DD5FC2B}"/>
              </a:ext>
            </a:extLst>
          </p:cNvPr>
          <p:cNvSpPr/>
          <p:nvPr/>
        </p:nvSpPr>
        <p:spPr>
          <a:xfrm>
            <a:off x="762000" y="4597400"/>
            <a:ext cx="127000" cy="127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6D9AF8A-2854-9844-B1F8-B6F89F9157EA}"/>
              </a:ext>
            </a:extLst>
          </p:cNvPr>
          <p:cNvSpPr txBox="1"/>
          <p:nvPr/>
        </p:nvSpPr>
        <p:spPr>
          <a:xfrm>
            <a:off x="1066800" y="4470400"/>
            <a:ext cx="10109200" cy="622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>
                <a:solidFill>
                  <a:srgbClr val="E5EAF2"/>
                </a:solidFill>
                <a:latin typeface="Inter"/>
              </a:rPr>
              <a:t>Ajouter des dashboards de monitoring</a:t>
            </a:r>
          </a:p>
        </p:txBody>
      </p:sp>
    </p:spTree>
    <p:extLst>
      <p:ext uri="{BB962C8B-B14F-4D97-AF65-F5344CB8AC3E}">
        <p14:creationId xmlns:p14="http://schemas.microsoft.com/office/powerpoint/2010/main" val="2115448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8A8B1-8672-FD87-48C3-57C0BC1E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E6454754-83B7-2945-B9DD-6125B1FA2AE2}"/>
              </a:ext>
            </a:extLst>
          </p:cNvPr>
          <p:cNvSpPr txBox="1"/>
          <p:nvPr/>
        </p:nvSpPr>
        <p:spPr>
          <a:xfrm>
            <a:off x="762000" y="635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8B5CF6"/>
                </a:solidFill>
                <a:latin typeface="Montserrat"/>
              </a:rPr>
              <a:t>05 · CONCLUSION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AC5748F-5291-6645-9B08-BAC67AA61049}"/>
              </a:ext>
            </a:extLst>
          </p:cNvPr>
          <p:cNvSpPr txBox="1"/>
          <p:nvPr/>
        </p:nvSpPr>
        <p:spPr>
          <a:xfrm>
            <a:off x="762000" y="12065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3800" b="1">
                <a:solidFill>
                  <a:srgbClr val="FFFFFF"/>
                </a:solidFill>
                <a:latin typeface="Montserrat"/>
              </a:rPr>
              <a:t>Pipeline complet automatisé avec Kestra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3442E-5B25-D44F-BB89-444C8917EDC1}"/>
              </a:ext>
            </a:extLst>
          </p:cNvPr>
          <p:cNvSpPr/>
          <p:nvPr/>
        </p:nvSpPr>
        <p:spPr>
          <a:xfrm>
            <a:off x="762000" y="2222500"/>
            <a:ext cx="762000" cy="381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2D980C6-E065-CD4D-8B00-E6E8E8423A0D}"/>
              </a:ext>
            </a:extLst>
          </p:cNvPr>
          <p:cNvSpPr txBox="1"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700">
                <a:solidFill>
                  <a:srgbClr val="A8B3C4"/>
                </a:solidFill>
                <a:latin typeface="Inter"/>
              </a:rPr>
              <a:t>Ce projet a permis d'automatiser un pipeline complet de transformation de données avec Kestra : nettoyage, fusion, calculs métier, contrôles qualité et génération automatique des exports.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395749-E81C-2748-BC0D-DE21D70591E3}"/>
              </a:ext>
            </a:extLst>
          </p:cNvPr>
          <p:cNvSpPr/>
          <p:nvPr/>
        </p:nvSpPr>
        <p:spPr>
          <a:xfrm>
            <a:off x="762000" y="3873500"/>
            <a:ext cx="24765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9C0C7-4FB3-E544-8317-E575BE260E7E}"/>
              </a:ext>
            </a:extLst>
          </p:cNvPr>
          <p:cNvSpPr/>
          <p:nvPr/>
        </p:nvSpPr>
        <p:spPr>
          <a:xfrm>
            <a:off x="762000" y="3873500"/>
            <a:ext cx="2476500" cy="50800"/>
          </a:xfrm>
          <a:prstGeom prst="rect">
            <a:avLst/>
          </a:prstGeom>
          <a:solidFill>
            <a:srgbClr val="00D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74F7963-6840-5F41-9CE0-C7EE36E97452}"/>
              </a:ext>
            </a:extLst>
          </p:cNvPr>
          <p:cNvSpPr txBox="1"/>
          <p:nvPr/>
        </p:nvSpPr>
        <p:spPr>
          <a:xfrm>
            <a:off x="939800" y="41021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00D4FF"/>
                </a:solidFill>
                <a:latin typeface="Montserrat"/>
              </a:rPr>
              <a:t>AUTOMATISATION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E789DC1-276C-F640-B07E-C138E20F9BE2}"/>
              </a:ext>
            </a:extLst>
          </p:cNvPr>
          <p:cNvSpPr txBox="1"/>
          <p:nvPr/>
        </p:nvSpPr>
        <p:spPr>
          <a:xfrm>
            <a:off x="939800" y="4508500"/>
            <a:ext cx="21209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Inter"/>
              </a:rPr>
              <a:t>Workflow complet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09EB73-6D11-1F42-A390-C69FA3079FCF}"/>
              </a:ext>
            </a:extLst>
          </p:cNvPr>
          <p:cNvSpPr/>
          <p:nvPr/>
        </p:nvSpPr>
        <p:spPr>
          <a:xfrm>
            <a:off x="3429000" y="3873500"/>
            <a:ext cx="24765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7E9A6A-755E-E642-A4EE-3EC868589334}"/>
              </a:ext>
            </a:extLst>
          </p:cNvPr>
          <p:cNvSpPr/>
          <p:nvPr/>
        </p:nvSpPr>
        <p:spPr>
          <a:xfrm>
            <a:off x="3429000" y="3873500"/>
            <a:ext cx="2476500" cy="50800"/>
          </a:xfrm>
          <a:prstGeom prst="rect">
            <a:avLst/>
          </a:prstGeom>
          <a:solidFill>
            <a:srgbClr val="84FF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22C89BC-A6DC-A14D-A0A7-81173E24EC48}"/>
              </a:ext>
            </a:extLst>
          </p:cNvPr>
          <p:cNvSpPr txBox="1"/>
          <p:nvPr/>
        </p:nvSpPr>
        <p:spPr>
          <a:xfrm>
            <a:off x="3606800" y="41021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84FF6E"/>
                </a:solidFill>
                <a:latin typeface="Montserrat"/>
              </a:rPr>
              <a:t>FIABILITÉ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E59E631-6109-AA4D-BACB-1C97B974B227}"/>
              </a:ext>
            </a:extLst>
          </p:cNvPr>
          <p:cNvSpPr txBox="1"/>
          <p:nvPr/>
        </p:nvSpPr>
        <p:spPr>
          <a:xfrm>
            <a:off x="3606800" y="4508500"/>
            <a:ext cx="21209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Inter"/>
              </a:rPr>
              <a:t>Tests qualité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051A89-D697-3344-9A57-F5F6C25A098D}"/>
              </a:ext>
            </a:extLst>
          </p:cNvPr>
          <p:cNvSpPr/>
          <p:nvPr/>
        </p:nvSpPr>
        <p:spPr>
          <a:xfrm>
            <a:off x="6096000" y="3873500"/>
            <a:ext cx="24765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38AE58-0197-E647-BB4D-1CD2D698BCA9}"/>
              </a:ext>
            </a:extLst>
          </p:cNvPr>
          <p:cNvSpPr/>
          <p:nvPr/>
        </p:nvSpPr>
        <p:spPr>
          <a:xfrm>
            <a:off x="6096000" y="3873500"/>
            <a:ext cx="2476500" cy="50800"/>
          </a:xfrm>
          <a:prstGeom prst="rect">
            <a:avLst/>
          </a:prstGeom>
          <a:solidFill>
            <a:srgbClr val="FFB5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E69DA53-0F80-D148-BCF1-5011E85B5716}"/>
              </a:ext>
            </a:extLst>
          </p:cNvPr>
          <p:cNvSpPr txBox="1"/>
          <p:nvPr/>
        </p:nvSpPr>
        <p:spPr>
          <a:xfrm>
            <a:off x="6273800" y="41021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B547"/>
                </a:solidFill>
                <a:latin typeface="Montserrat"/>
              </a:rPr>
              <a:t>MÉTIER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7F84679-2503-5545-97E3-8D649386DCEA}"/>
              </a:ext>
            </a:extLst>
          </p:cNvPr>
          <p:cNvSpPr txBox="1"/>
          <p:nvPr/>
        </p:nvSpPr>
        <p:spPr>
          <a:xfrm>
            <a:off x="6273800" y="4508500"/>
            <a:ext cx="21209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Inter"/>
              </a:rPr>
              <a:t>70 568,60 €
30 vins premium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FC6D24-0615-244D-99E9-CF54D9827D21}"/>
              </a:ext>
            </a:extLst>
          </p:cNvPr>
          <p:cNvSpPr/>
          <p:nvPr/>
        </p:nvSpPr>
        <p:spPr>
          <a:xfrm>
            <a:off x="8763000" y="3873500"/>
            <a:ext cx="2476500" cy="1651000"/>
          </a:xfrm>
          <a:prstGeom prst="rect">
            <a:avLst/>
          </a:prstGeom>
          <a:solidFill>
            <a:srgbClr val="1A23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05B23E-0998-F046-8D4F-CD2D9772FB94}"/>
              </a:ext>
            </a:extLst>
          </p:cNvPr>
          <p:cNvSpPr/>
          <p:nvPr/>
        </p:nvSpPr>
        <p:spPr>
          <a:xfrm>
            <a:off x="8763000" y="3873500"/>
            <a:ext cx="2476500" cy="50800"/>
          </a:xfrm>
          <a:prstGeom prst="rect">
            <a:avLst/>
          </a:prstGeom>
          <a:solidFill>
            <a:srgbClr val="FF6B9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B308802-E46F-3647-86B7-8AD3DD76440A}"/>
              </a:ext>
            </a:extLst>
          </p:cNvPr>
          <p:cNvSpPr txBox="1"/>
          <p:nvPr/>
        </p:nvSpPr>
        <p:spPr>
          <a:xfrm>
            <a:off x="8940800" y="4102100"/>
            <a:ext cx="21209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6B9D"/>
                </a:solidFill>
                <a:latin typeface="Montserrat"/>
              </a:rPr>
              <a:t>DÉPLOIEMENT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A148FA7-1B17-AF43-8429-CC5844739320}"/>
              </a:ext>
            </a:extLst>
          </p:cNvPr>
          <p:cNvSpPr txBox="1"/>
          <p:nvPr/>
        </p:nvSpPr>
        <p:spPr>
          <a:xfrm>
            <a:off x="8940800" y="4508500"/>
            <a:ext cx="21209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Inter"/>
              </a:rPr>
              <a:t>Cron mensuel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BCC5C4F-1C25-B94F-AC0A-DC94B284F223}"/>
              </a:ext>
            </a:extLst>
          </p:cNvPr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84FF6E"/>
                </a:solidFill>
                <a:latin typeface="Montserrat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304093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79199793091]">
  <a:themeElements>
    <a:clrScheme name="Office">
      <a:dk1>
        <a:srgbClr val="F5F7FA"/>
      </a:dk1>
      <a:lt1>
        <a:srgbClr val="0F1419"/>
      </a:lt1>
      <a:dk2>
        <a:srgbClr val="1A2332"/>
      </a:dk2>
      <a:lt2>
        <a:srgbClr val="E7E6E6"/>
      </a:lt2>
      <a:accent1>
        <a:srgbClr val="00D4FF"/>
      </a:accent1>
      <a:accent2>
        <a:srgbClr val="84FF6E"/>
      </a:accent2>
      <a:accent3>
        <a:srgbClr val="FF6B9D"/>
      </a:accent3>
      <a:accent4>
        <a:srgbClr val="FFB547"/>
      </a:accent4>
      <a:accent5>
        <a:srgbClr val="8B5CF6"/>
      </a:accent5>
      <a:accent6>
        <a:srgbClr val="06B6D4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04B234-4649-884B-BC39-A1DF6C7E9047}">
  <we:reference id="wa200010001" version="1.0.0.1" store="fr-FR" storeType="OMEX"/>
  <we:alternateReferences>
    <we:reference id="WA200010001" version="1.0.0.1" store="WA200010001" storeType="OMEX"/>
  </we:alternateReferences>
  <we:properties>
    <we:property name="claude.fileId" value="&quot;3d53dd8a-a35e-4912-a058-b92d5f67155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914</Words>
  <Application>Microsoft Macintosh PowerPoint</Application>
  <PresentationFormat>Grand écran</PresentationFormat>
  <Paragraphs>207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Inter</vt:lpstr>
      <vt:lpstr>Montserrat</vt:lpstr>
      <vt:lpstr>Thème Office [1779199793091]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endaye</dc:creator>
  <cp:lastModifiedBy>ENDAYE MAZINA Aime</cp:lastModifiedBy>
  <cp:revision>6</cp:revision>
  <dcterms:created xsi:type="dcterms:W3CDTF">2026-05-18T15:16:50Z</dcterms:created>
  <dcterms:modified xsi:type="dcterms:W3CDTF">2026-05-19T14:44:09Z</dcterms:modified>
</cp:coreProperties>
</file>